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8" r:id="rId4"/>
    <p:sldId id="269" r:id="rId5"/>
    <p:sldId id="270"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12ED5B1-63B2-4A88-97BF-53D27C527F91}">
          <p14:sldIdLst>
            <p14:sldId id="256"/>
            <p14:sldId id="257"/>
          </p14:sldIdLst>
        </p14:section>
        <p14:section name="Untitled Section" id="{9F87159F-A858-4122-82B7-469DFF7CB393}">
          <p14:sldIdLst>
            <p14:sldId id="268"/>
            <p14:sldId id="269"/>
            <p14:sldId id="270"/>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95A7C9-8555-4EBC-8DC0-E51D703CB506}" v="10" dt="2026-05-11T16:11:28.4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726D3E-1484-4D2F-AA6F-32F88EABD7E4}"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80DC1050-AE04-458E-830A-E22FEBBE3581}">
      <dgm:prSet/>
      <dgm:spPr/>
      <dgm:t>
        <a:bodyPr/>
        <a:lstStyle/>
        <a:p>
          <a:r>
            <a:rPr lang="en-US"/>
            <a:t>Vulnerabilities</a:t>
          </a:r>
        </a:p>
      </dgm:t>
    </dgm:pt>
    <dgm:pt modelId="{3A90C9A6-C02E-4D41-9D43-BE8C19EA93CC}" type="parTrans" cxnId="{CE906EC8-A11F-4A43-9D8E-33FCD818F2CB}">
      <dgm:prSet/>
      <dgm:spPr/>
      <dgm:t>
        <a:bodyPr/>
        <a:lstStyle/>
        <a:p>
          <a:endParaRPr lang="en-US"/>
        </a:p>
      </dgm:t>
    </dgm:pt>
    <dgm:pt modelId="{9D307CEB-5DBE-469B-928D-3FDB4DB8786C}" type="sibTrans" cxnId="{CE906EC8-A11F-4A43-9D8E-33FCD818F2CB}">
      <dgm:prSet/>
      <dgm:spPr/>
      <dgm:t>
        <a:bodyPr/>
        <a:lstStyle/>
        <a:p>
          <a:endParaRPr lang="en-US"/>
        </a:p>
      </dgm:t>
    </dgm:pt>
    <dgm:pt modelId="{8262E1B9-995A-445E-A9E8-5A3665959B65}">
      <dgm:prSet/>
      <dgm:spPr/>
      <dgm:t>
        <a:bodyPr/>
        <a:lstStyle/>
        <a:p>
          <a:r>
            <a:rPr lang="en-US"/>
            <a:t>Color</a:t>
          </a:r>
        </a:p>
      </dgm:t>
    </dgm:pt>
    <dgm:pt modelId="{8F0CB4F2-ED6F-48CC-ABB4-D78D93063C02}" type="parTrans" cxnId="{D3C6839B-5F83-4B62-9B81-8C68BC33A9C3}">
      <dgm:prSet/>
      <dgm:spPr/>
      <dgm:t>
        <a:bodyPr/>
        <a:lstStyle/>
        <a:p>
          <a:endParaRPr lang="en-US"/>
        </a:p>
      </dgm:t>
    </dgm:pt>
    <dgm:pt modelId="{B3AE4FBF-5BB2-411A-AFB3-F0C3A2F93863}" type="sibTrans" cxnId="{D3C6839B-5F83-4B62-9B81-8C68BC33A9C3}">
      <dgm:prSet/>
      <dgm:spPr/>
      <dgm:t>
        <a:bodyPr/>
        <a:lstStyle/>
        <a:p>
          <a:endParaRPr lang="en-US"/>
        </a:p>
      </dgm:t>
    </dgm:pt>
    <dgm:pt modelId="{3E42A483-A162-4F61-B172-EC3FA138E276}">
      <dgm:prSet/>
      <dgm:spPr/>
      <dgm:t>
        <a:bodyPr/>
        <a:lstStyle/>
        <a:p>
          <a:r>
            <a:rPr lang="en-US"/>
            <a:t>“Many immigrants, having not experienced color-based prejudice in their native lands, but by virtue of moving to a new social environment, marked by different values and prejudices, find that physical features become redefined as a handicap.” (Portes &amp; Zhou, 1993)</a:t>
          </a:r>
        </a:p>
      </dgm:t>
    </dgm:pt>
    <dgm:pt modelId="{6BDF1CB9-30EE-4FAE-8F32-AAE0ECA0C372}" type="parTrans" cxnId="{E1FB4653-F0B4-49EE-A180-A5DE83D49DAD}">
      <dgm:prSet/>
      <dgm:spPr/>
      <dgm:t>
        <a:bodyPr/>
        <a:lstStyle/>
        <a:p>
          <a:endParaRPr lang="en-US"/>
        </a:p>
      </dgm:t>
    </dgm:pt>
    <dgm:pt modelId="{4BFD8F3C-F035-4613-8CBD-10CEF7554B55}" type="sibTrans" cxnId="{E1FB4653-F0B4-49EE-A180-A5DE83D49DAD}">
      <dgm:prSet/>
      <dgm:spPr/>
      <dgm:t>
        <a:bodyPr/>
        <a:lstStyle/>
        <a:p>
          <a:endParaRPr lang="en-US"/>
        </a:p>
      </dgm:t>
    </dgm:pt>
    <dgm:pt modelId="{181CC2FD-AF43-4AA9-875D-5366302A88B5}">
      <dgm:prSet/>
      <dgm:spPr/>
      <dgm:t>
        <a:bodyPr/>
        <a:lstStyle/>
        <a:p>
          <a:r>
            <a:rPr lang="en-US"/>
            <a:t>Location</a:t>
          </a:r>
        </a:p>
      </dgm:t>
    </dgm:pt>
    <dgm:pt modelId="{BCE86ECF-CCAC-4D45-B952-248BB1B2FE82}" type="parTrans" cxnId="{E9E73C74-E1F2-4415-ADD9-7011D2A97EBB}">
      <dgm:prSet/>
      <dgm:spPr/>
      <dgm:t>
        <a:bodyPr/>
        <a:lstStyle/>
        <a:p>
          <a:endParaRPr lang="en-US"/>
        </a:p>
      </dgm:t>
    </dgm:pt>
    <dgm:pt modelId="{5BAB6981-6B8E-4E8A-8316-F603204997E4}" type="sibTrans" cxnId="{E9E73C74-E1F2-4415-ADD9-7011D2A97EBB}">
      <dgm:prSet/>
      <dgm:spPr/>
      <dgm:t>
        <a:bodyPr/>
        <a:lstStyle/>
        <a:p>
          <a:endParaRPr lang="en-US"/>
        </a:p>
      </dgm:t>
    </dgm:pt>
    <dgm:pt modelId="{8D4EA54D-7762-4BEA-A1E8-FC8EA8D79707}">
      <dgm:prSet/>
      <dgm:spPr/>
      <dgm:t>
        <a:bodyPr/>
        <a:lstStyle/>
        <a:p>
          <a:r>
            <a:rPr lang="en-US"/>
            <a:t>The concentration of immigrant households in central cities. New arrivals come in close contact with concentrations of native-born minorities. </a:t>
          </a:r>
        </a:p>
      </dgm:t>
    </dgm:pt>
    <dgm:pt modelId="{3241DE0B-EB6B-4269-9362-377C994FEA72}" type="parTrans" cxnId="{591131D0-CDB9-4FAF-B4B3-FF0E72E7D460}">
      <dgm:prSet/>
      <dgm:spPr/>
      <dgm:t>
        <a:bodyPr/>
        <a:lstStyle/>
        <a:p>
          <a:endParaRPr lang="en-US"/>
        </a:p>
      </dgm:t>
    </dgm:pt>
    <dgm:pt modelId="{69F160A9-CF9F-4201-8817-ACCBF1FA8082}" type="sibTrans" cxnId="{591131D0-CDB9-4FAF-B4B3-FF0E72E7D460}">
      <dgm:prSet/>
      <dgm:spPr/>
      <dgm:t>
        <a:bodyPr/>
        <a:lstStyle/>
        <a:p>
          <a:endParaRPr lang="en-US"/>
        </a:p>
      </dgm:t>
    </dgm:pt>
    <dgm:pt modelId="{C9E8E466-615A-48B0-9032-938E92E0B602}">
      <dgm:prSet/>
      <dgm:spPr/>
      <dgm:t>
        <a:bodyPr/>
        <a:lstStyle/>
        <a:p>
          <a:r>
            <a:rPr lang="en-US"/>
            <a:t>The majority group then identifies both groups, immigrants and the native poor, as the same.</a:t>
          </a:r>
        </a:p>
      </dgm:t>
    </dgm:pt>
    <dgm:pt modelId="{B9D7EE6E-C92A-4644-AFBA-8FD0D83C78B6}" type="parTrans" cxnId="{8DB05F35-99E2-4720-A9C4-74A9783FD91D}">
      <dgm:prSet/>
      <dgm:spPr/>
      <dgm:t>
        <a:bodyPr/>
        <a:lstStyle/>
        <a:p>
          <a:endParaRPr lang="en-US"/>
        </a:p>
      </dgm:t>
    </dgm:pt>
    <dgm:pt modelId="{4D63D6CB-AF80-48B8-8F98-6DBE7BEF488E}" type="sibTrans" cxnId="{8DB05F35-99E2-4720-A9C4-74A9783FD91D}">
      <dgm:prSet/>
      <dgm:spPr/>
      <dgm:t>
        <a:bodyPr/>
        <a:lstStyle/>
        <a:p>
          <a:endParaRPr lang="en-US"/>
        </a:p>
      </dgm:t>
    </dgm:pt>
    <dgm:pt modelId="{C6C4B55D-9F35-4D63-A84A-AF8A567CC90A}" type="pres">
      <dgm:prSet presAssocID="{8F726D3E-1484-4D2F-AA6F-32F88EABD7E4}" presName="hierChild1" presStyleCnt="0">
        <dgm:presLayoutVars>
          <dgm:chPref val="1"/>
          <dgm:dir/>
          <dgm:animOne val="branch"/>
          <dgm:animLvl val="lvl"/>
          <dgm:resizeHandles/>
        </dgm:presLayoutVars>
      </dgm:prSet>
      <dgm:spPr/>
    </dgm:pt>
    <dgm:pt modelId="{48EF755A-D58A-4061-8DDC-4BBABDC6C23D}" type="pres">
      <dgm:prSet presAssocID="{80DC1050-AE04-458E-830A-E22FEBBE3581}" presName="hierRoot1" presStyleCnt="0"/>
      <dgm:spPr/>
    </dgm:pt>
    <dgm:pt modelId="{C9EB3FC0-1C02-4EE1-8547-1B428F0CA74C}" type="pres">
      <dgm:prSet presAssocID="{80DC1050-AE04-458E-830A-E22FEBBE3581}" presName="composite" presStyleCnt="0"/>
      <dgm:spPr/>
    </dgm:pt>
    <dgm:pt modelId="{F0697CEC-26AD-4461-80CD-6B25C02ABA71}" type="pres">
      <dgm:prSet presAssocID="{80DC1050-AE04-458E-830A-E22FEBBE3581}" presName="background" presStyleLbl="node0" presStyleIdx="0" presStyleCnt="3"/>
      <dgm:spPr/>
    </dgm:pt>
    <dgm:pt modelId="{464912C5-B4BF-4B19-B4EB-EF7C0BB48DEF}" type="pres">
      <dgm:prSet presAssocID="{80DC1050-AE04-458E-830A-E22FEBBE3581}" presName="text" presStyleLbl="fgAcc0" presStyleIdx="0" presStyleCnt="3">
        <dgm:presLayoutVars>
          <dgm:chPref val="3"/>
        </dgm:presLayoutVars>
      </dgm:prSet>
      <dgm:spPr/>
    </dgm:pt>
    <dgm:pt modelId="{9ED74DE5-7305-433C-8123-0BE0543E2773}" type="pres">
      <dgm:prSet presAssocID="{80DC1050-AE04-458E-830A-E22FEBBE3581}" presName="hierChild2" presStyleCnt="0"/>
      <dgm:spPr/>
    </dgm:pt>
    <dgm:pt modelId="{632B7DD1-6D62-4AD2-ADFC-C0A7F8088D3A}" type="pres">
      <dgm:prSet presAssocID="{8262E1B9-995A-445E-A9E8-5A3665959B65}" presName="hierRoot1" presStyleCnt="0"/>
      <dgm:spPr/>
    </dgm:pt>
    <dgm:pt modelId="{324BB6BD-5E9B-4F93-A8F5-AE75604F74C4}" type="pres">
      <dgm:prSet presAssocID="{8262E1B9-995A-445E-A9E8-5A3665959B65}" presName="composite" presStyleCnt="0"/>
      <dgm:spPr/>
    </dgm:pt>
    <dgm:pt modelId="{26AC2F00-33BE-4004-AE7D-61E65729A343}" type="pres">
      <dgm:prSet presAssocID="{8262E1B9-995A-445E-A9E8-5A3665959B65}" presName="background" presStyleLbl="node0" presStyleIdx="1" presStyleCnt="3"/>
      <dgm:spPr/>
    </dgm:pt>
    <dgm:pt modelId="{4A0F5B72-1BE0-42B5-9CF5-895876237A7E}" type="pres">
      <dgm:prSet presAssocID="{8262E1B9-995A-445E-A9E8-5A3665959B65}" presName="text" presStyleLbl="fgAcc0" presStyleIdx="1" presStyleCnt="3">
        <dgm:presLayoutVars>
          <dgm:chPref val="3"/>
        </dgm:presLayoutVars>
      </dgm:prSet>
      <dgm:spPr/>
    </dgm:pt>
    <dgm:pt modelId="{80978298-9294-40E5-91DD-030632150E5D}" type="pres">
      <dgm:prSet presAssocID="{8262E1B9-995A-445E-A9E8-5A3665959B65}" presName="hierChild2" presStyleCnt="0"/>
      <dgm:spPr/>
    </dgm:pt>
    <dgm:pt modelId="{5279EB47-5DAB-4F46-B98A-E047F2A23C01}" type="pres">
      <dgm:prSet presAssocID="{6BDF1CB9-30EE-4FAE-8F32-AAE0ECA0C372}" presName="Name10" presStyleLbl="parChTrans1D2" presStyleIdx="0" presStyleCnt="3"/>
      <dgm:spPr/>
    </dgm:pt>
    <dgm:pt modelId="{18D7F387-2A99-4D4B-B33B-0926C6EF7CAE}" type="pres">
      <dgm:prSet presAssocID="{3E42A483-A162-4F61-B172-EC3FA138E276}" presName="hierRoot2" presStyleCnt="0"/>
      <dgm:spPr/>
    </dgm:pt>
    <dgm:pt modelId="{60B56EA9-755F-4C39-9E43-FACF5E0CBB57}" type="pres">
      <dgm:prSet presAssocID="{3E42A483-A162-4F61-B172-EC3FA138E276}" presName="composite2" presStyleCnt="0"/>
      <dgm:spPr/>
    </dgm:pt>
    <dgm:pt modelId="{3453782C-A363-4002-BB0D-B15DE0C3CA85}" type="pres">
      <dgm:prSet presAssocID="{3E42A483-A162-4F61-B172-EC3FA138E276}" presName="background2" presStyleLbl="node2" presStyleIdx="0" presStyleCnt="3"/>
      <dgm:spPr/>
    </dgm:pt>
    <dgm:pt modelId="{C4D7AB69-0231-4B9D-8D7E-6EC0C5646A86}" type="pres">
      <dgm:prSet presAssocID="{3E42A483-A162-4F61-B172-EC3FA138E276}" presName="text2" presStyleLbl="fgAcc2" presStyleIdx="0" presStyleCnt="3">
        <dgm:presLayoutVars>
          <dgm:chPref val="3"/>
        </dgm:presLayoutVars>
      </dgm:prSet>
      <dgm:spPr/>
    </dgm:pt>
    <dgm:pt modelId="{0B2AC0C7-0611-4B90-91AF-BF14449BB40F}" type="pres">
      <dgm:prSet presAssocID="{3E42A483-A162-4F61-B172-EC3FA138E276}" presName="hierChild3" presStyleCnt="0"/>
      <dgm:spPr/>
    </dgm:pt>
    <dgm:pt modelId="{16595BAC-9D3E-4725-9AEF-E8036E426F42}" type="pres">
      <dgm:prSet presAssocID="{181CC2FD-AF43-4AA9-875D-5366302A88B5}" presName="hierRoot1" presStyleCnt="0"/>
      <dgm:spPr/>
    </dgm:pt>
    <dgm:pt modelId="{C39D5CE0-C942-4358-96CD-31B54317431A}" type="pres">
      <dgm:prSet presAssocID="{181CC2FD-AF43-4AA9-875D-5366302A88B5}" presName="composite" presStyleCnt="0"/>
      <dgm:spPr/>
    </dgm:pt>
    <dgm:pt modelId="{BB08223C-E8D1-44B3-B73E-8C6C07C8736F}" type="pres">
      <dgm:prSet presAssocID="{181CC2FD-AF43-4AA9-875D-5366302A88B5}" presName="background" presStyleLbl="node0" presStyleIdx="2" presStyleCnt="3"/>
      <dgm:spPr/>
    </dgm:pt>
    <dgm:pt modelId="{E23B242F-6894-458C-8BF4-54FA3550B220}" type="pres">
      <dgm:prSet presAssocID="{181CC2FD-AF43-4AA9-875D-5366302A88B5}" presName="text" presStyleLbl="fgAcc0" presStyleIdx="2" presStyleCnt="3">
        <dgm:presLayoutVars>
          <dgm:chPref val="3"/>
        </dgm:presLayoutVars>
      </dgm:prSet>
      <dgm:spPr/>
    </dgm:pt>
    <dgm:pt modelId="{845DB5F2-6C7A-4BF4-AF50-D19DA710D29C}" type="pres">
      <dgm:prSet presAssocID="{181CC2FD-AF43-4AA9-875D-5366302A88B5}" presName="hierChild2" presStyleCnt="0"/>
      <dgm:spPr/>
    </dgm:pt>
    <dgm:pt modelId="{91C5D4EB-0E24-47A4-AEAF-065C22B2CD8C}" type="pres">
      <dgm:prSet presAssocID="{3241DE0B-EB6B-4269-9362-377C994FEA72}" presName="Name10" presStyleLbl="parChTrans1D2" presStyleIdx="1" presStyleCnt="3"/>
      <dgm:spPr/>
    </dgm:pt>
    <dgm:pt modelId="{ADA2A0CF-A736-4F49-B875-E6E78C11245D}" type="pres">
      <dgm:prSet presAssocID="{8D4EA54D-7762-4BEA-A1E8-FC8EA8D79707}" presName="hierRoot2" presStyleCnt="0"/>
      <dgm:spPr/>
    </dgm:pt>
    <dgm:pt modelId="{DACE8C07-822A-445A-91C9-A236B0F867E9}" type="pres">
      <dgm:prSet presAssocID="{8D4EA54D-7762-4BEA-A1E8-FC8EA8D79707}" presName="composite2" presStyleCnt="0"/>
      <dgm:spPr/>
    </dgm:pt>
    <dgm:pt modelId="{F6CD23C7-377E-47D7-A84F-3812CF3AAE02}" type="pres">
      <dgm:prSet presAssocID="{8D4EA54D-7762-4BEA-A1E8-FC8EA8D79707}" presName="background2" presStyleLbl="node2" presStyleIdx="1" presStyleCnt="3"/>
      <dgm:spPr/>
    </dgm:pt>
    <dgm:pt modelId="{78BBB168-EF06-4E4C-B30F-90CD9C9A3482}" type="pres">
      <dgm:prSet presAssocID="{8D4EA54D-7762-4BEA-A1E8-FC8EA8D79707}" presName="text2" presStyleLbl="fgAcc2" presStyleIdx="1" presStyleCnt="3">
        <dgm:presLayoutVars>
          <dgm:chPref val="3"/>
        </dgm:presLayoutVars>
      </dgm:prSet>
      <dgm:spPr/>
    </dgm:pt>
    <dgm:pt modelId="{63C839CE-421D-42B9-A490-C89FF1C4B221}" type="pres">
      <dgm:prSet presAssocID="{8D4EA54D-7762-4BEA-A1E8-FC8EA8D79707}" presName="hierChild3" presStyleCnt="0"/>
      <dgm:spPr/>
    </dgm:pt>
    <dgm:pt modelId="{B0524D2F-4DCB-4495-B009-A5B39C3A36AC}" type="pres">
      <dgm:prSet presAssocID="{B9D7EE6E-C92A-4644-AFBA-8FD0D83C78B6}" presName="Name10" presStyleLbl="parChTrans1D2" presStyleIdx="2" presStyleCnt="3"/>
      <dgm:spPr/>
    </dgm:pt>
    <dgm:pt modelId="{12098AB6-C2CA-473F-9CDD-F27A755DA8D9}" type="pres">
      <dgm:prSet presAssocID="{C9E8E466-615A-48B0-9032-938E92E0B602}" presName="hierRoot2" presStyleCnt="0"/>
      <dgm:spPr/>
    </dgm:pt>
    <dgm:pt modelId="{4CFCE6D0-EFAB-44BD-8D8F-6B0D13A593E9}" type="pres">
      <dgm:prSet presAssocID="{C9E8E466-615A-48B0-9032-938E92E0B602}" presName="composite2" presStyleCnt="0"/>
      <dgm:spPr/>
    </dgm:pt>
    <dgm:pt modelId="{68425EF5-6071-4049-86B1-D0E42660BDBC}" type="pres">
      <dgm:prSet presAssocID="{C9E8E466-615A-48B0-9032-938E92E0B602}" presName="background2" presStyleLbl="node2" presStyleIdx="2" presStyleCnt="3"/>
      <dgm:spPr/>
    </dgm:pt>
    <dgm:pt modelId="{5B0ADD43-BA53-4006-8826-60A9B59C9BAF}" type="pres">
      <dgm:prSet presAssocID="{C9E8E466-615A-48B0-9032-938E92E0B602}" presName="text2" presStyleLbl="fgAcc2" presStyleIdx="2" presStyleCnt="3">
        <dgm:presLayoutVars>
          <dgm:chPref val="3"/>
        </dgm:presLayoutVars>
      </dgm:prSet>
      <dgm:spPr/>
    </dgm:pt>
    <dgm:pt modelId="{782F75A0-E189-4EFC-AEF8-F58A43D04162}" type="pres">
      <dgm:prSet presAssocID="{C9E8E466-615A-48B0-9032-938E92E0B602}" presName="hierChild3" presStyleCnt="0"/>
      <dgm:spPr/>
    </dgm:pt>
  </dgm:ptLst>
  <dgm:cxnLst>
    <dgm:cxn modelId="{4CA04A08-66E3-4CA1-A471-C3A519ACC205}" type="presOf" srcId="{3241DE0B-EB6B-4269-9362-377C994FEA72}" destId="{91C5D4EB-0E24-47A4-AEAF-065C22B2CD8C}" srcOrd="0" destOrd="0" presId="urn:microsoft.com/office/officeart/2005/8/layout/hierarchy1"/>
    <dgm:cxn modelId="{3963D409-7262-4FAD-A02C-917928A55016}" type="presOf" srcId="{C9E8E466-615A-48B0-9032-938E92E0B602}" destId="{5B0ADD43-BA53-4006-8826-60A9B59C9BAF}" srcOrd="0" destOrd="0" presId="urn:microsoft.com/office/officeart/2005/8/layout/hierarchy1"/>
    <dgm:cxn modelId="{8DB05F35-99E2-4720-A9C4-74A9783FD91D}" srcId="{181CC2FD-AF43-4AA9-875D-5366302A88B5}" destId="{C9E8E466-615A-48B0-9032-938E92E0B602}" srcOrd="1" destOrd="0" parTransId="{B9D7EE6E-C92A-4644-AFBA-8FD0D83C78B6}" sibTransId="{4D63D6CB-AF80-48B8-8F98-6DBE7BEF488E}"/>
    <dgm:cxn modelId="{75519068-E790-4E3D-B84C-141F13ADE08A}" type="presOf" srcId="{3E42A483-A162-4F61-B172-EC3FA138E276}" destId="{C4D7AB69-0231-4B9D-8D7E-6EC0C5646A86}" srcOrd="0" destOrd="0" presId="urn:microsoft.com/office/officeart/2005/8/layout/hierarchy1"/>
    <dgm:cxn modelId="{B58D896D-BFEE-40C3-80A8-81C5240BE653}" type="presOf" srcId="{6BDF1CB9-30EE-4FAE-8F32-AAE0ECA0C372}" destId="{5279EB47-5DAB-4F46-B98A-E047F2A23C01}" srcOrd="0" destOrd="0" presId="urn:microsoft.com/office/officeart/2005/8/layout/hierarchy1"/>
    <dgm:cxn modelId="{E1FB4653-F0B4-49EE-A180-A5DE83D49DAD}" srcId="{8262E1B9-995A-445E-A9E8-5A3665959B65}" destId="{3E42A483-A162-4F61-B172-EC3FA138E276}" srcOrd="0" destOrd="0" parTransId="{6BDF1CB9-30EE-4FAE-8F32-AAE0ECA0C372}" sibTransId="{4BFD8F3C-F035-4613-8CBD-10CEF7554B55}"/>
    <dgm:cxn modelId="{E9E73C74-E1F2-4415-ADD9-7011D2A97EBB}" srcId="{8F726D3E-1484-4D2F-AA6F-32F88EABD7E4}" destId="{181CC2FD-AF43-4AA9-875D-5366302A88B5}" srcOrd="2" destOrd="0" parTransId="{BCE86ECF-CCAC-4D45-B952-248BB1B2FE82}" sibTransId="{5BAB6981-6B8E-4E8A-8316-F603204997E4}"/>
    <dgm:cxn modelId="{B260D17D-7D11-422C-A70B-ADEEE73B6407}" type="presOf" srcId="{B9D7EE6E-C92A-4644-AFBA-8FD0D83C78B6}" destId="{B0524D2F-4DCB-4495-B009-A5B39C3A36AC}" srcOrd="0" destOrd="0" presId="urn:microsoft.com/office/officeart/2005/8/layout/hierarchy1"/>
    <dgm:cxn modelId="{D3C6839B-5F83-4B62-9B81-8C68BC33A9C3}" srcId="{8F726D3E-1484-4D2F-AA6F-32F88EABD7E4}" destId="{8262E1B9-995A-445E-A9E8-5A3665959B65}" srcOrd="1" destOrd="0" parTransId="{8F0CB4F2-ED6F-48CC-ABB4-D78D93063C02}" sibTransId="{B3AE4FBF-5BB2-411A-AFB3-F0C3A2F93863}"/>
    <dgm:cxn modelId="{B101CDAA-4091-4971-A542-4E2673800210}" type="presOf" srcId="{8F726D3E-1484-4D2F-AA6F-32F88EABD7E4}" destId="{C6C4B55D-9F35-4D63-A84A-AF8A567CC90A}" srcOrd="0" destOrd="0" presId="urn:microsoft.com/office/officeart/2005/8/layout/hierarchy1"/>
    <dgm:cxn modelId="{C9FFC6AF-462E-4DBE-83EA-878EBDCD7A0D}" type="presOf" srcId="{80DC1050-AE04-458E-830A-E22FEBBE3581}" destId="{464912C5-B4BF-4B19-B4EB-EF7C0BB48DEF}" srcOrd="0" destOrd="0" presId="urn:microsoft.com/office/officeart/2005/8/layout/hierarchy1"/>
    <dgm:cxn modelId="{0E4A70B3-68D6-4915-8F35-481A62FD6B72}" type="presOf" srcId="{8D4EA54D-7762-4BEA-A1E8-FC8EA8D79707}" destId="{78BBB168-EF06-4E4C-B30F-90CD9C9A3482}" srcOrd="0" destOrd="0" presId="urn:microsoft.com/office/officeart/2005/8/layout/hierarchy1"/>
    <dgm:cxn modelId="{6251E5C7-935E-45F7-8467-B4A03309BA12}" type="presOf" srcId="{181CC2FD-AF43-4AA9-875D-5366302A88B5}" destId="{E23B242F-6894-458C-8BF4-54FA3550B220}" srcOrd="0" destOrd="0" presId="urn:microsoft.com/office/officeart/2005/8/layout/hierarchy1"/>
    <dgm:cxn modelId="{CE906EC8-A11F-4A43-9D8E-33FCD818F2CB}" srcId="{8F726D3E-1484-4D2F-AA6F-32F88EABD7E4}" destId="{80DC1050-AE04-458E-830A-E22FEBBE3581}" srcOrd="0" destOrd="0" parTransId="{3A90C9A6-C02E-4D41-9D43-BE8C19EA93CC}" sibTransId="{9D307CEB-5DBE-469B-928D-3FDB4DB8786C}"/>
    <dgm:cxn modelId="{591131D0-CDB9-4FAF-B4B3-FF0E72E7D460}" srcId="{181CC2FD-AF43-4AA9-875D-5366302A88B5}" destId="{8D4EA54D-7762-4BEA-A1E8-FC8EA8D79707}" srcOrd="0" destOrd="0" parTransId="{3241DE0B-EB6B-4269-9362-377C994FEA72}" sibTransId="{69F160A9-CF9F-4201-8817-ACCBF1FA8082}"/>
    <dgm:cxn modelId="{69703BE4-B99E-458B-948F-C23D2C421F5A}" type="presOf" srcId="{8262E1B9-995A-445E-A9E8-5A3665959B65}" destId="{4A0F5B72-1BE0-42B5-9CF5-895876237A7E}" srcOrd="0" destOrd="0" presId="urn:microsoft.com/office/officeart/2005/8/layout/hierarchy1"/>
    <dgm:cxn modelId="{F0A4027E-95AB-495A-B22C-F080F0AF9801}" type="presParOf" srcId="{C6C4B55D-9F35-4D63-A84A-AF8A567CC90A}" destId="{48EF755A-D58A-4061-8DDC-4BBABDC6C23D}" srcOrd="0" destOrd="0" presId="urn:microsoft.com/office/officeart/2005/8/layout/hierarchy1"/>
    <dgm:cxn modelId="{677BC410-2AB9-41F3-9BB6-2570714E1951}" type="presParOf" srcId="{48EF755A-D58A-4061-8DDC-4BBABDC6C23D}" destId="{C9EB3FC0-1C02-4EE1-8547-1B428F0CA74C}" srcOrd="0" destOrd="0" presId="urn:microsoft.com/office/officeart/2005/8/layout/hierarchy1"/>
    <dgm:cxn modelId="{C0196873-E9B3-43DE-B309-F143F796BE4F}" type="presParOf" srcId="{C9EB3FC0-1C02-4EE1-8547-1B428F0CA74C}" destId="{F0697CEC-26AD-4461-80CD-6B25C02ABA71}" srcOrd="0" destOrd="0" presId="urn:microsoft.com/office/officeart/2005/8/layout/hierarchy1"/>
    <dgm:cxn modelId="{F84F0E70-4936-435C-8988-6F8B589F7937}" type="presParOf" srcId="{C9EB3FC0-1C02-4EE1-8547-1B428F0CA74C}" destId="{464912C5-B4BF-4B19-B4EB-EF7C0BB48DEF}" srcOrd="1" destOrd="0" presId="urn:microsoft.com/office/officeart/2005/8/layout/hierarchy1"/>
    <dgm:cxn modelId="{BE86ACA9-D164-45B7-B2DC-6D3269C17936}" type="presParOf" srcId="{48EF755A-D58A-4061-8DDC-4BBABDC6C23D}" destId="{9ED74DE5-7305-433C-8123-0BE0543E2773}" srcOrd="1" destOrd="0" presId="urn:microsoft.com/office/officeart/2005/8/layout/hierarchy1"/>
    <dgm:cxn modelId="{CF70451D-E083-44D9-9C0F-5C2CCD8405CD}" type="presParOf" srcId="{C6C4B55D-9F35-4D63-A84A-AF8A567CC90A}" destId="{632B7DD1-6D62-4AD2-ADFC-C0A7F8088D3A}" srcOrd="1" destOrd="0" presId="urn:microsoft.com/office/officeart/2005/8/layout/hierarchy1"/>
    <dgm:cxn modelId="{D7BDFEE4-E899-4C8D-BAC9-7B3222225683}" type="presParOf" srcId="{632B7DD1-6D62-4AD2-ADFC-C0A7F8088D3A}" destId="{324BB6BD-5E9B-4F93-A8F5-AE75604F74C4}" srcOrd="0" destOrd="0" presId="urn:microsoft.com/office/officeart/2005/8/layout/hierarchy1"/>
    <dgm:cxn modelId="{3B7C0ACF-F751-4FCB-BF21-3687C0F4B90C}" type="presParOf" srcId="{324BB6BD-5E9B-4F93-A8F5-AE75604F74C4}" destId="{26AC2F00-33BE-4004-AE7D-61E65729A343}" srcOrd="0" destOrd="0" presId="urn:microsoft.com/office/officeart/2005/8/layout/hierarchy1"/>
    <dgm:cxn modelId="{7857A3D9-3CB2-4CE3-95BE-FC3D72FE1ECB}" type="presParOf" srcId="{324BB6BD-5E9B-4F93-A8F5-AE75604F74C4}" destId="{4A0F5B72-1BE0-42B5-9CF5-895876237A7E}" srcOrd="1" destOrd="0" presId="urn:microsoft.com/office/officeart/2005/8/layout/hierarchy1"/>
    <dgm:cxn modelId="{59EACC32-47A5-468D-B25C-966EC6A0E276}" type="presParOf" srcId="{632B7DD1-6D62-4AD2-ADFC-C0A7F8088D3A}" destId="{80978298-9294-40E5-91DD-030632150E5D}" srcOrd="1" destOrd="0" presId="urn:microsoft.com/office/officeart/2005/8/layout/hierarchy1"/>
    <dgm:cxn modelId="{38C9F821-9E1B-4FD5-A006-09784D9C6AF6}" type="presParOf" srcId="{80978298-9294-40E5-91DD-030632150E5D}" destId="{5279EB47-5DAB-4F46-B98A-E047F2A23C01}" srcOrd="0" destOrd="0" presId="urn:microsoft.com/office/officeart/2005/8/layout/hierarchy1"/>
    <dgm:cxn modelId="{6E65BE5F-5EA5-4BB0-9196-B950801F11EB}" type="presParOf" srcId="{80978298-9294-40E5-91DD-030632150E5D}" destId="{18D7F387-2A99-4D4B-B33B-0926C6EF7CAE}" srcOrd="1" destOrd="0" presId="urn:microsoft.com/office/officeart/2005/8/layout/hierarchy1"/>
    <dgm:cxn modelId="{BC55E507-875E-42D1-AB8C-1DE48C58B8DD}" type="presParOf" srcId="{18D7F387-2A99-4D4B-B33B-0926C6EF7CAE}" destId="{60B56EA9-755F-4C39-9E43-FACF5E0CBB57}" srcOrd="0" destOrd="0" presId="urn:microsoft.com/office/officeart/2005/8/layout/hierarchy1"/>
    <dgm:cxn modelId="{25DB6437-C2D1-430D-A085-1B3122EB7C71}" type="presParOf" srcId="{60B56EA9-755F-4C39-9E43-FACF5E0CBB57}" destId="{3453782C-A363-4002-BB0D-B15DE0C3CA85}" srcOrd="0" destOrd="0" presId="urn:microsoft.com/office/officeart/2005/8/layout/hierarchy1"/>
    <dgm:cxn modelId="{676065A8-5005-4E9A-B131-8995D34816ED}" type="presParOf" srcId="{60B56EA9-755F-4C39-9E43-FACF5E0CBB57}" destId="{C4D7AB69-0231-4B9D-8D7E-6EC0C5646A86}" srcOrd="1" destOrd="0" presId="urn:microsoft.com/office/officeart/2005/8/layout/hierarchy1"/>
    <dgm:cxn modelId="{4DDF14F0-2A5E-4DFE-BBF5-10ACCD8673DF}" type="presParOf" srcId="{18D7F387-2A99-4D4B-B33B-0926C6EF7CAE}" destId="{0B2AC0C7-0611-4B90-91AF-BF14449BB40F}" srcOrd="1" destOrd="0" presId="urn:microsoft.com/office/officeart/2005/8/layout/hierarchy1"/>
    <dgm:cxn modelId="{D5BC8282-7A1F-4D27-9638-F44BDA0E4EBB}" type="presParOf" srcId="{C6C4B55D-9F35-4D63-A84A-AF8A567CC90A}" destId="{16595BAC-9D3E-4725-9AEF-E8036E426F42}" srcOrd="2" destOrd="0" presId="urn:microsoft.com/office/officeart/2005/8/layout/hierarchy1"/>
    <dgm:cxn modelId="{3F4A2273-D929-4B21-B74A-82F362244B1D}" type="presParOf" srcId="{16595BAC-9D3E-4725-9AEF-E8036E426F42}" destId="{C39D5CE0-C942-4358-96CD-31B54317431A}" srcOrd="0" destOrd="0" presId="urn:microsoft.com/office/officeart/2005/8/layout/hierarchy1"/>
    <dgm:cxn modelId="{2A325582-59CA-4B97-9159-8EB71483CC15}" type="presParOf" srcId="{C39D5CE0-C942-4358-96CD-31B54317431A}" destId="{BB08223C-E8D1-44B3-B73E-8C6C07C8736F}" srcOrd="0" destOrd="0" presId="urn:microsoft.com/office/officeart/2005/8/layout/hierarchy1"/>
    <dgm:cxn modelId="{07C3842C-D5DC-4A22-A3A4-C0CE1860D7BF}" type="presParOf" srcId="{C39D5CE0-C942-4358-96CD-31B54317431A}" destId="{E23B242F-6894-458C-8BF4-54FA3550B220}" srcOrd="1" destOrd="0" presId="urn:microsoft.com/office/officeart/2005/8/layout/hierarchy1"/>
    <dgm:cxn modelId="{447D08F9-4897-4516-939E-2C7328BDD61D}" type="presParOf" srcId="{16595BAC-9D3E-4725-9AEF-E8036E426F42}" destId="{845DB5F2-6C7A-4BF4-AF50-D19DA710D29C}" srcOrd="1" destOrd="0" presId="urn:microsoft.com/office/officeart/2005/8/layout/hierarchy1"/>
    <dgm:cxn modelId="{E7C5A359-5BC8-4EE9-9726-76576286A8BC}" type="presParOf" srcId="{845DB5F2-6C7A-4BF4-AF50-D19DA710D29C}" destId="{91C5D4EB-0E24-47A4-AEAF-065C22B2CD8C}" srcOrd="0" destOrd="0" presId="urn:microsoft.com/office/officeart/2005/8/layout/hierarchy1"/>
    <dgm:cxn modelId="{56246767-248D-46FC-AEE2-FE9C7A2F10BB}" type="presParOf" srcId="{845DB5F2-6C7A-4BF4-AF50-D19DA710D29C}" destId="{ADA2A0CF-A736-4F49-B875-E6E78C11245D}" srcOrd="1" destOrd="0" presId="urn:microsoft.com/office/officeart/2005/8/layout/hierarchy1"/>
    <dgm:cxn modelId="{77407CD0-358E-406D-8AAE-AC6170C79BE4}" type="presParOf" srcId="{ADA2A0CF-A736-4F49-B875-E6E78C11245D}" destId="{DACE8C07-822A-445A-91C9-A236B0F867E9}" srcOrd="0" destOrd="0" presId="urn:microsoft.com/office/officeart/2005/8/layout/hierarchy1"/>
    <dgm:cxn modelId="{13763A95-C071-4230-AACE-60CBD60B13D8}" type="presParOf" srcId="{DACE8C07-822A-445A-91C9-A236B0F867E9}" destId="{F6CD23C7-377E-47D7-A84F-3812CF3AAE02}" srcOrd="0" destOrd="0" presId="urn:microsoft.com/office/officeart/2005/8/layout/hierarchy1"/>
    <dgm:cxn modelId="{0216E10D-E384-4CE1-8511-3597C2140E82}" type="presParOf" srcId="{DACE8C07-822A-445A-91C9-A236B0F867E9}" destId="{78BBB168-EF06-4E4C-B30F-90CD9C9A3482}" srcOrd="1" destOrd="0" presId="urn:microsoft.com/office/officeart/2005/8/layout/hierarchy1"/>
    <dgm:cxn modelId="{FCC61A0D-B7D6-4BDF-BA21-63B5BB956F83}" type="presParOf" srcId="{ADA2A0CF-A736-4F49-B875-E6E78C11245D}" destId="{63C839CE-421D-42B9-A490-C89FF1C4B221}" srcOrd="1" destOrd="0" presId="urn:microsoft.com/office/officeart/2005/8/layout/hierarchy1"/>
    <dgm:cxn modelId="{F70B5917-DA37-4C3E-8C2E-A79E3AF81AB8}" type="presParOf" srcId="{845DB5F2-6C7A-4BF4-AF50-D19DA710D29C}" destId="{B0524D2F-4DCB-4495-B009-A5B39C3A36AC}" srcOrd="2" destOrd="0" presId="urn:microsoft.com/office/officeart/2005/8/layout/hierarchy1"/>
    <dgm:cxn modelId="{F7DF217A-2012-4AF5-B54B-E000CABBCB54}" type="presParOf" srcId="{845DB5F2-6C7A-4BF4-AF50-D19DA710D29C}" destId="{12098AB6-C2CA-473F-9CDD-F27A755DA8D9}" srcOrd="3" destOrd="0" presId="urn:microsoft.com/office/officeart/2005/8/layout/hierarchy1"/>
    <dgm:cxn modelId="{5AD6D091-4E4C-4655-964C-07F93C774B29}" type="presParOf" srcId="{12098AB6-C2CA-473F-9CDD-F27A755DA8D9}" destId="{4CFCE6D0-EFAB-44BD-8D8F-6B0D13A593E9}" srcOrd="0" destOrd="0" presId="urn:microsoft.com/office/officeart/2005/8/layout/hierarchy1"/>
    <dgm:cxn modelId="{9A299AD5-426B-44D7-9300-67B91601D9D5}" type="presParOf" srcId="{4CFCE6D0-EFAB-44BD-8D8F-6B0D13A593E9}" destId="{68425EF5-6071-4049-86B1-D0E42660BDBC}" srcOrd="0" destOrd="0" presId="urn:microsoft.com/office/officeart/2005/8/layout/hierarchy1"/>
    <dgm:cxn modelId="{7F552B5A-2C39-483A-A57E-9E5359FCC6DF}" type="presParOf" srcId="{4CFCE6D0-EFAB-44BD-8D8F-6B0D13A593E9}" destId="{5B0ADD43-BA53-4006-8826-60A9B59C9BAF}" srcOrd="1" destOrd="0" presId="urn:microsoft.com/office/officeart/2005/8/layout/hierarchy1"/>
    <dgm:cxn modelId="{B9703293-EE78-4B6B-B79F-AC0E77DC7157}" type="presParOf" srcId="{12098AB6-C2CA-473F-9CDD-F27A755DA8D9}" destId="{782F75A0-E189-4EFC-AEF8-F58A43D0416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24D2F-4DCB-4495-B009-A5B39C3A36AC}">
      <dsp:nvSpPr>
        <dsp:cNvPr id="0" name=""/>
        <dsp:cNvSpPr/>
      </dsp:nvSpPr>
      <dsp:spPr>
        <a:xfrm>
          <a:off x="8046734" y="1405930"/>
          <a:ext cx="1352905" cy="643860"/>
        </a:xfrm>
        <a:custGeom>
          <a:avLst/>
          <a:gdLst/>
          <a:ahLst/>
          <a:cxnLst/>
          <a:rect l="0" t="0" r="0" b="0"/>
          <a:pathLst>
            <a:path>
              <a:moveTo>
                <a:pt x="0" y="0"/>
              </a:moveTo>
              <a:lnTo>
                <a:pt x="0" y="438771"/>
              </a:lnTo>
              <a:lnTo>
                <a:pt x="1352905" y="438771"/>
              </a:lnTo>
              <a:lnTo>
                <a:pt x="1352905" y="64386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C5D4EB-0E24-47A4-AEAF-065C22B2CD8C}">
      <dsp:nvSpPr>
        <dsp:cNvPr id="0" name=""/>
        <dsp:cNvSpPr/>
      </dsp:nvSpPr>
      <dsp:spPr>
        <a:xfrm>
          <a:off x="6693828" y="1405930"/>
          <a:ext cx="1352905" cy="643860"/>
        </a:xfrm>
        <a:custGeom>
          <a:avLst/>
          <a:gdLst/>
          <a:ahLst/>
          <a:cxnLst/>
          <a:rect l="0" t="0" r="0" b="0"/>
          <a:pathLst>
            <a:path>
              <a:moveTo>
                <a:pt x="1352905" y="0"/>
              </a:moveTo>
              <a:lnTo>
                <a:pt x="1352905" y="438771"/>
              </a:lnTo>
              <a:lnTo>
                <a:pt x="0" y="438771"/>
              </a:lnTo>
              <a:lnTo>
                <a:pt x="0" y="64386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79EB47-5DAB-4F46-B98A-E047F2A23C01}">
      <dsp:nvSpPr>
        <dsp:cNvPr id="0" name=""/>
        <dsp:cNvSpPr/>
      </dsp:nvSpPr>
      <dsp:spPr>
        <a:xfrm>
          <a:off x="3942297" y="1405930"/>
          <a:ext cx="91440" cy="643860"/>
        </a:xfrm>
        <a:custGeom>
          <a:avLst/>
          <a:gdLst/>
          <a:ahLst/>
          <a:cxnLst/>
          <a:rect l="0" t="0" r="0" b="0"/>
          <a:pathLst>
            <a:path>
              <a:moveTo>
                <a:pt x="45720" y="0"/>
              </a:moveTo>
              <a:lnTo>
                <a:pt x="45720" y="64386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697CEC-26AD-4461-80CD-6B25C02ABA71}">
      <dsp:nvSpPr>
        <dsp:cNvPr id="0" name=""/>
        <dsp:cNvSpPr/>
      </dsp:nvSpPr>
      <dsp:spPr>
        <a:xfrm>
          <a:off x="175282" y="138"/>
          <a:ext cx="2213845" cy="14057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4912C5-B4BF-4B19-B4EB-EF7C0BB48DEF}">
      <dsp:nvSpPr>
        <dsp:cNvPr id="0" name=""/>
        <dsp:cNvSpPr/>
      </dsp:nvSpPr>
      <dsp:spPr>
        <a:xfrm>
          <a:off x="421265" y="233822"/>
          <a:ext cx="2213845" cy="14057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Vulnerabilities</a:t>
          </a:r>
        </a:p>
      </dsp:txBody>
      <dsp:txXfrm>
        <a:off x="462439" y="274996"/>
        <a:ext cx="2131497" cy="1323444"/>
      </dsp:txXfrm>
    </dsp:sp>
    <dsp:sp modelId="{26AC2F00-33BE-4004-AE7D-61E65729A343}">
      <dsp:nvSpPr>
        <dsp:cNvPr id="0" name=""/>
        <dsp:cNvSpPr/>
      </dsp:nvSpPr>
      <dsp:spPr>
        <a:xfrm>
          <a:off x="2881094" y="138"/>
          <a:ext cx="2213845" cy="14057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0F5B72-1BE0-42B5-9CF5-895876237A7E}">
      <dsp:nvSpPr>
        <dsp:cNvPr id="0" name=""/>
        <dsp:cNvSpPr/>
      </dsp:nvSpPr>
      <dsp:spPr>
        <a:xfrm>
          <a:off x="3127077" y="233822"/>
          <a:ext cx="2213845" cy="14057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Color</a:t>
          </a:r>
        </a:p>
      </dsp:txBody>
      <dsp:txXfrm>
        <a:off x="3168251" y="274996"/>
        <a:ext cx="2131497" cy="1323444"/>
      </dsp:txXfrm>
    </dsp:sp>
    <dsp:sp modelId="{3453782C-A363-4002-BB0D-B15DE0C3CA85}">
      <dsp:nvSpPr>
        <dsp:cNvPr id="0" name=""/>
        <dsp:cNvSpPr/>
      </dsp:nvSpPr>
      <dsp:spPr>
        <a:xfrm>
          <a:off x="2881094" y="2049790"/>
          <a:ext cx="2213845" cy="14057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D7AB69-0231-4B9D-8D7E-6EC0C5646A86}">
      <dsp:nvSpPr>
        <dsp:cNvPr id="0" name=""/>
        <dsp:cNvSpPr/>
      </dsp:nvSpPr>
      <dsp:spPr>
        <a:xfrm>
          <a:off x="3127077" y="2283474"/>
          <a:ext cx="2213845" cy="14057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“Many immigrants, having not experienced color-based prejudice in their native lands, but by virtue of moving to a new social environment, marked by different values and prejudices, find that physical features become redefined as a handicap.” (Portes &amp; Zhou, 1993)</a:t>
          </a:r>
        </a:p>
      </dsp:txBody>
      <dsp:txXfrm>
        <a:off x="3168251" y="2324648"/>
        <a:ext cx="2131497" cy="1323444"/>
      </dsp:txXfrm>
    </dsp:sp>
    <dsp:sp modelId="{BB08223C-E8D1-44B3-B73E-8C6C07C8736F}">
      <dsp:nvSpPr>
        <dsp:cNvPr id="0" name=""/>
        <dsp:cNvSpPr/>
      </dsp:nvSpPr>
      <dsp:spPr>
        <a:xfrm>
          <a:off x="6939811" y="138"/>
          <a:ext cx="2213845" cy="14057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3B242F-6894-458C-8BF4-54FA3550B220}">
      <dsp:nvSpPr>
        <dsp:cNvPr id="0" name=""/>
        <dsp:cNvSpPr/>
      </dsp:nvSpPr>
      <dsp:spPr>
        <a:xfrm>
          <a:off x="7185794" y="233822"/>
          <a:ext cx="2213845" cy="14057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Location</a:t>
          </a:r>
        </a:p>
      </dsp:txBody>
      <dsp:txXfrm>
        <a:off x="7226968" y="274996"/>
        <a:ext cx="2131497" cy="1323444"/>
      </dsp:txXfrm>
    </dsp:sp>
    <dsp:sp modelId="{F6CD23C7-377E-47D7-A84F-3812CF3AAE02}">
      <dsp:nvSpPr>
        <dsp:cNvPr id="0" name=""/>
        <dsp:cNvSpPr/>
      </dsp:nvSpPr>
      <dsp:spPr>
        <a:xfrm>
          <a:off x="5586905" y="2049790"/>
          <a:ext cx="2213845" cy="14057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BBB168-EF06-4E4C-B30F-90CD9C9A3482}">
      <dsp:nvSpPr>
        <dsp:cNvPr id="0" name=""/>
        <dsp:cNvSpPr/>
      </dsp:nvSpPr>
      <dsp:spPr>
        <a:xfrm>
          <a:off x="5832888" y="2283474"/>
          <a:ext cx="2213845" cy="14057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The concentration of immigrant households in central cities. New arrivals come in close contact with concentrations of native-born minorities. </a:t>
          </a:r>
        </a:p>
      </dsp:txBody>
      <dsp:txXfrm>
        <a:off x="5874062" y="2324648"/>
        <a:ext cx="2131497" cy="1323444"/>
      </dsp:txXfrm>
    </dsp:sp>
    <dsp:sp modelId="{68425EF5-6071-4049-86B1-D0E42660BDBC}">
      <dsp:nvSpPr>
        <dsp:cNvPr id="0" name=""/>
        <dsp:cNvSpPr/>
      </dsp:nvSpPr>
      <dsp:spPr>
        <a:xfrm>
          <a:off x="8292717" y="2049790"/>
          <a:ext cx="2213845" cy="140579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0ADD43-BA53-4006-8826-60A9B59C9BAF}">
      <dsp:nvSpPr>
        <dsp:cNvPr id="0" name=""/>
        <dsp:cNvSpPr/>
      </dsp:nvSpPr>
      <dsp:spPr>
        <a:xfrm>
          <a:off x="8538700" y="2283474"/>
          <a:ext cx="2213845" cy="140579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The majority group then identifies both groups, immigrants and the native poor, as the same.</a:t>
          </a:r>
        </a:p>
      </dsp:txBody>
      <dsp:txXfrm>
        <a:off x="8579874" y="2324648"/>
        <a:ext cx="2131497" cy="132344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8746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6454F"/>
        </a:solidFill>
        <a:effectLst/>
      </p:bgPr>
    </p:bg>
    <p:spTree>
      <p:nvGrpSpPr>
        <p:cNvPr id="1" name=""/>
        <p:cNvGrpSpPr/>
        <p:nvPr/>
      </p:nvGrpSpPr>
      <p:grpSpPr>
        <a:xfrm>
          <a:off x="0" y="0"/>
          <a:ext cx="0" cy="0"/>
          <a:chOff x="0" y="0"/>
          <a:chExt cx="0" cy="0"/>
        </a:xfrm>
      </p:grpSpPr>
      <p:sp>
        <p:nvSpPr>
          <p:cNvPr id="2" name="Text 0"/>
          <p:cNvSpPr/>
          <p:nvPr/>
        </p:nvSpPr>
        <p:spPr>
          <a:xfrm>
            <a:off x="914400" y="1463040"/>
            <a:ext cx="10058400" cy="457200"/>
          </a:xfrm>
          <a:prstGeom prst="rect">
            <a:avLst/>
          </a:prstGeom>
          <a:noFill/>
          <a:ln/>
        </p:spPr>
        <p:txBody>
          <a:bodyPr wrap="square" lIns="0" tIns="0" rIns="0" bIns="0" rtlCol="0" anchor="ctr"/>
          <a:lstStyle/>
          <a:p>
            <a:pPr marL="0" indent="0" algn="l">
              <a:buNone/>
            </a:pPr>
            <a:r>
              <a:rPr lang="en-US" sz="1400" b="1" kern="0" spc="800" dirty="0">
                <a:solidFill>
                  <a:srgbClr val="B8DEE2"/>
                </a:solidFill>
                <a:latin typeface="Calibri" pitchFamily="34" charset="0"/>
                <a:ea typeface="Calibri" pitchFamily="34" charset="-122"/>
                <a:cs typeface="Calibri" pitchFamily="34" charset="-120"/>
              </a:rPr>
              <a:t>EVIDENCE FROM THE 2022 SCF</a:t>
            </a:r>
            <a:endParaRPr lang="en-US" sz="1400" dirty="0"/>
          </a:p>
        </p:txBody>
      </p:sp>
      <p:sp>
        <p:nvSpPr>
          <p:cNvPr id="3" name="Text 1"/>
          <p:cNvSpPr/>
          <p:nvPr/>
        </p:nvSpPr>
        <p:spPr>
          <a:xfrm>
            <a:off x="914400" y="2011680"/>
            <a:ext cx="10058400" cy="1371600"/>
          </a:xfrm>
          <a:prstGeom prst="rect">
            <a:avLst/>
          </a:prstGeom>
          <a:noFill/>
          <a:ln/>
        </p:spPr>
        <p:txBody>
          <a:bodyPr wrap="square" lIns="0" tIns="0" rIns="0" bIns="0" rtlCol="0" anchor="ctr"/>
          <a:lstStyle/>
          <a:p>
            <a:pPr marL="0" indent="0" algn="l">
              <a:buNone/>
            </a:pPr>
            <a:r>
              <a:rPr lang="en-US" sz="6400" b="1" i="1" dirty="0">
                <a:solidFill>
                  <a:srgbClr val="FFFFFF"/>
                </a:solidFill>
                <a:latin typeface="Georgia" pitchFamily="34" charset="0"/>
                <a:ea typeface="Georgia" pitchFamily="34" charset="-122"/>
                <a:cs typeface="Georgia" pitchFamily="34" charset="-120"/>
              </a:rPr>
              <a:t>The Great Equalizer</a:t>
            </a:r>
            <a:endParaRPr lang="en-US" sz="6400" dirty="0"/>
          </a:p>
        </p:txBody>
      </p:sp>
      <p:sp>
        <p:nvSpPr>
          <p:cNvPr id="4" name="Text 2"/>
          <p:cNvSpPr/>
          <p:nvPr/>
        </p:nvSpPr>
        <p:spPr>
          <a:xfrm>
            <a:off x="914400" y="3383280"/>
            <a:ext cx="10058400" cy="640080"/>
          </a:xfrm>
          <a:prstGeom prst="rect">
            <a:avLst/>
          </a:prstGeom>
          <a:noFill/>
          <a:ln/>
        </p:spPr>
        <p:txBody>
          <a:bodyPr wrap="square" lIns="0" tIns="0" rIns="0" bIns="0" rtlCol="0" anchor="ctr"/>
          <a:lstStyle/>
          <a:p>
            <a:pPr marL="0" indent="0" algn="l">
              <a:buNone/>
            </a:pPr>
            <a:r>
              <a:rPr lang="en-US" sz="2800" dirty="0">
                <a:solidFill>
                  <a:srgbClr val="B8DEE2"/>
                </a:solidFill>
                <a:latin typeface="Georgia" pitchFamily="34" charset="0"/>
                <a:ea typeface="Georgia" pitchFamily="34" charset="-122"/>
                <a:cs typeface="Georgia" pitchFamily="34" charset="-120"/>
              </a:rPr>
              <a:t>Human Capital vs. Origin in Immigrant Wealth</a:t>
            </a:r>
            <a:endParaRPr lang="en-US" sz="2800" dirty="0"/>
          </a:p>
        </p:txBody>
      </p:sp>
      <p:sp>
        <p:nvSpPr>
          <p:cNvPr id="5" name="Shape 3"/>
          <p:cNvSpPr/>
          <p:nvPr/>
        </p:nvSpPr>
        <p:spPr>
          <a:xfrm>
            <a:off x="914400" y="4480560"/>
            <a:ext cx="1097280" cy="45720"/>
          </a:xfrm>
          <a:prstGeom prst="rect">
            <a:avLst/>
          </a:prstGeom>
          <a:solidFill>
            <a:srgbClr val="028090"/>
          </a:solidFill>
          <a:ln/>
        </p:spPr>
        <p:txBody>
          <a:bodyPr/>
          <a:lstStyle/>
          <a:p>
            <a:endParaRPr lang="en-US"/>
          </a:p>
        </p:txBody>
      </p:sp>
      <p:sp>
        <p:nvSpPr>
          <p:cNvPr id="6" name="Text 4"/>
          <p:cNvSpPr/>
          <p:nvPr/>
        </p:nvSpPr>
        <p:spPr>
          <a:xfrm>
            <a:off x="914400" y="4663440"/>
            <a:ext cx="1005840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Delroy Nichols</a:t>
            </a:r>
            <a:endParaRPr lang="en-US" sz="1800" dirty="0"/>
          </a:p>
        </p:txBody>
      </p:sp>
      <p:sp>
        <p:nvSpPr>
          <p:cNvPr id="7" name="Text 5"/>
          <p:cNvSpPr/>
          <p:nvPr/>
        </p:nvSpPr>
        <p:spPr>
          <a:xfrm>
            <a:off x="914400" y="5074920"/>
            <a:ext cx="10058400" cy="320040"/>
          </a:xfrm>
          <a:prstGeom prst="rect">
            <a:avLst/>
          </a:prstGeom>
          <a:noFill/>
          <a:ln/>
        </p:spPr>
        <p:txBody>
          <a:bodyPr wrap="square" lIns="0" tIns="0" rIns="0" bIns="0" rtlCol="0" anchor="ctr"/>
          <a:lstStyle/>
          <a:p>
            <a:pPr marL="0" indent="0" algn="l">
              <a:buNone/>
            </a:pPr>
            <a:r>
              <a:rPr lang="en-US" sz="1400" i="1" dirty="0">
                <a:solidFill>
                  <a:srgbClr val="C9CFD3"/>
                </a:solidFill>
                <a:latin typeface="Calibri" pitchFamily="34" charset="0"/>
                <a:ea typeface="Calibri" pitchFamily="34" charset="-122"/>
                <a:cs typeface="Calibri" pitchFamily="34" charset="-120"/>
              </a:rPr>
              <a:t>Masters Thesis  ·  Paper 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The Great Debate</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Two theories, opposite predictions</a:t>
            </a:r>
            <a:endParaRPr lang="en-US" sz="1400" dirty="0"/>
          </a:p>
        </p:txBody>
      </p:sp>
      <p:sp>
        <p:nvSpPr>
          <p:cNvPr id="5" name="Shape 3"/>
          <p:cNvSpPr/>
          <p:nvPr/>
        </p:nvSpPr>
        <p:spPr>
          <a:xfrm>
            <a:off x="539496" y="1737360"/>
            <a:ext cx="5074920" cy="4206240"/>
          </a:xfrm>
          <a:prstGeom prst="rect">
            <a:avLst/>
          </a:prstGeom>
          <a:solidFill>
            <a:srgbClr val="F5F5F5"/>
          </a:solidFill>
          <a:ln w="9525">
            <a:solidFill>
              <a:srgbClr val="C9CFD3"/>
            </a:solidFill>
            <a:prstDash val="solid"/>
          </a:ln>
        </p:spPr>
        <p:txBody>
          <a:bodyPr/>
          <a:lstStyle/>
          <a:p>
            <a:endParaRPr lang="en-US"/>
          </a:p>
        </p:txBody>
      </p:sp>
      <p:sp>
        <p:nvSpPr>
          <p:cNvPr id="6" name="Shape 4"/>
          <p:cNvSpPr/>
          <p:nvPr/>
        </p:nvSpPr>
        <p:spPr>
          <a:xfrm>
            <a:off x="943882" y="2011680"/>
            <a:ext cx="640080" cy="640080"/>
          </a:xfrm>
          <a:prstGeom prst="ellipse">
            <a:avLst/>
          </a:prstGeom>
          <a:solidFill>
            <a:srgbClr val="028090"/>
          </a:solidFill>
          <a:ln/>
        </p:spPr>
        <p:txBody>
          <a:bodyPr/>
          <a:lstStyle/>
          <a:p>
            <a:endParaRPr lang="en-US"/>
          </a:p>
        </p:txBody>
      </p:sp>
      <p:sp>
        <p:nvSpPr>
          <p:cNvPr id="7" name="Text 5"/>
          <p:cNvSpPr/>
          <p:nvPr/>
        </p:nvSpPr>
        <p:spPr>
          <a:xfrm>
            <a:off x="914400" y="201168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1</a:t>
            </a:r>
            <a:endParaRPr lang="en-US" sz="2800" dirty="0"/>
          </a:p>
        </p:txBody>
      </p:sp>
      <p:sp>
        <p:nvSpPr>
          <p:cNvPr id="8" name="Text 6"/>
          <p:cNvSpPr/>
          <p:nvPr/>
        </p:nvSpPr>
        <p:spPr>
          <a:xfrm>
            <a:off x="2129920" y="2011680"/>
            <a:ext cx="3703320" cy="640080"/>
          </a:xfrm>
          <a:prstGeom prst="rect">
            <a:avLst/>
          </a:prstGeom>
          <a:noFill/>
          <a:ln/>
        </p:spPr>
        <p:txBody>
          <a:bodyPr wrap="square" lIns="0" tIns="0" rIns="0" bIns="0" rtlCol="0" anchor="ctr"/>
          <a:lstStyle/>
          <a:p>
            <a:pPr marL="0" indent="0" algn="l">
              <a:buNone/>
            </a:pPr>
            <a:r>
              <a:rPr lang="en-US" sz="2200" b="1" dirty="0">
                <a:solidFill>
                  <a:srgbClr val="36454F"/>
                </a:solidFill>
                <a:latin typeface="Georgia" pitchFamily="34" charset="0"/>
                <a:ea typeface="Georgia" pitchFamily="34" charset="-122"/>
                <a:cs typeface="Georgia" pitchFamily="34" charset="-120"/>
              </a:rPr>
              <a:t>Human-Capital Convergence</a:t>
            </a:r>
            <a:endParaRPr lang="en-US" sz="2200" dirty="0"/>
          </a:p>
        </p:txBody>
      </p:sp>
      <p:sp>
        <p:nvSpPr>
          <p:cNvPr id="9" name="Text 7"/>
          <p:cNvSpPr/>
          <p:nvPr/>
        </p:nvSpPr>
        <p:spPr>
          <a:xfrm>
            <a:off x="824064" y="2811780"/>
            <a:ext cx="4628755" cy="3108960"/>
          </a:xfrm>
          <a:prstGeom prst="rect">
            <a:avLst/>
          </a:prstGeom>
          <a:noFill/>
          <a:ln/>
        </p:spPr>
        <p:txBody>
          <a:bodyPr wrap="square" rtlCol="0" anchor="t"/>
          <a:lstStyle/>
          <a:p>
            <a:pPr marL="0" indent="0" algn="l">
              <a:spcAft>
                <a:spcPts val="600"/>
              </a:spcAft>
              <a:buNone/>
            </a:pPr>
            <a:r>
              <a:rPr lang="en-US" sz="1600" dirty="0">
                <a:solidFill>
                  <a:srgbClr val="36454F"/>
                </a:solidFill>
                <a:latin typeface="Calibri" pitchFamily="34" charset="0"/>
                <a:ea typeface="Calibri" pitchFamily="34" charset="-122"/>
                <a:cs typeface="Calibri" pitchFamily="34" charset="-120"/>
              </a:rPr>
              <a:t>Alternative Hypothesis: Education, English proficiency, and time in the U.S. act as </a:t>
            </a:r>
            <a:r>
              <a:rPr lang="en-US" sz="1600" b="1" dirty="0">
                <a:solidFill>
                  <a:srgbClr val="028090"/>
                </a:solidFill>
                <a:latin typeface="Calibri" pitchFamily="34" charset="0"/>
                <a:ea typeface="Calibri" pitchFamily="34" charset="-122"/>
                <a:cs typeface="Calibri" pitchFamily="34" charset="-120"/>
              </a:rPr>
              <a:t>great equalizers</a:t>
            </a:r>
            <a:r>
              <a:rPr lang="en-US" sz="1600" dirty="0">
                <a:solidFill>
                  <a:srgbClr val="36454F"/>
                </a:solidFill>
                <a:latin typeface="Calibri" pitchFamily="34" charset="0"/>
                <a:ea typeface="Calibri" pitchFamily="34" charset="-122"/>
                <a:cs typeface="Calibri" pitchFamily="34" charset="-120"/>
              </a:rPr>
              <a:t>.</a:t>
            </a:r>
          </a:p>
          <a:p>
            <a:pPr marL="285750" indent="-285750" algn="l">
              <a:spcAft>
                <a:spcPts val="600"/>
              </a:spcAft>
              <a:buFont typeface="Arial" panose="020B0604020202020204" pitchFamily="34" charset="0"/>
              <a:buChar char="•"/>
            </a:pPr>
            <a:r>
              <a:rPr lang="en-US" sz="1400" b="1" dirty="0">
                <a:solidFill>
                  <a:srgbClr val="36454F"/>
                </a:solidFill>
                <a:latin typeface="Calibri" pitchFamily="34" charset="0"/>
                <a:ea typeface="Calibri" pitchFamily="34" charset="-122"/>
                <a:cs typeface="Calibri" pitchFamily="34" charset="-120"/>
              </a:rPr>
              <a:t>Individuals </a:t>
            </a:r>
            <a:r>
              <a:rPr lang="en-US" sz="1400" dirty="0">
                <a:solidFill>
                  <a:srgbClr val="36454F"/>
                </a:solidFill>
                <a:latin typeface="Calibri" pitchFamily="34" charset="0"/>
                <a:ea typeface="Calibri" pitchFamily="34" charset="-122"/>
                <a:cs typeface="Calibri" pitchFamily="34" charset="-120"/>
              </a:rPr>
              <a:t>benefit by investing in their own education. With higher skills and qualifications, they are more likely to gain well-paid, secure jobs.
</a:t>
            </a:r>
            <a:r>
              <a:rPr lang="en-US" sz="1400" b="1" dirty="0">
                <a:solidFill>
                  <a:srgbClr val="36454F"/>
                </a:solidFill>
                <a:latin typeface="Calibri" pitchFamily="34" charset="0"/>
                <a:ea typeface="Calibri" pitchFamily="34" charset="-122"/>
                <a:cs typeface="Calibri" pitchFamily="34" charset="-120"/>
              </a:rPr>
              <a:t>Society </a:t>
            </a:r>
            <a:r>
              <a:rPr lang="en-US" sz="1400" dirty="0">
                <a:solidFill>
                  <a:srgbClr val="36454F"/>
                </a:solidFill>
                <a:latin typeface="Calibri" pitchFamily="34" charset="0"/>
                <a:ea typeface="Calibri" pitchFamily="34" charset="-122"/>
                <a:cs typeface="Calibri" pitchFamily="34" charset="-120"/>
              </a:rPr>
              <a:t>benefits because a better-educated workforce leads to greater productivity, innovation, and economic growth.</a:t>
            </a:r>
            <a:endParaRPr lang="en-US" sz="1400" dirty="0"/>
          </a:p>
          <a:p>
            <a:pPr marL="0" indent="0" algn="l">
              <a:spcAft>
                <a:spcPts val="600"/>
              </a:spcAft>
              <a:buNone/>
            </a:pPr>
            <a:endParaRPr lang="en-US" sz="1400" dirty="0">
              <a:solidFill>
                <a:srgbClr val="36454F"/>
              </a:solidFill>
              <a:latin typeface="Calibri" pitchFamily="34" charset="0"/>
              <a:ea typeface="Calibri" pitchFamily="34" charset="-122"/>
              <a:cs typeface="Calibri" pitchFamily="34" charset="-120"/>
            </a:endParaRPr>
          </a:p>
          <a:p>
            <a:pPr marL="0" indent="0" algn="l">
              <a:spcAft>
                <a:spcPts val="600"/>
              </a:spcAft>
              <a:buNone/>
            </a:pPr>
            <a:r>
              <a:rPr lang="en-US" sz="1400" dirty="0">
                <a:solidFill>
                  <a:srgbClr val="36454F"/>
                </a:solidFill>
                <a:latin typeface="Calibri" pitchFamily="34" charset="0"/>
                <a:ea typeface="Calibri" pitchFamily="34" charset="-122"/>
                <a:cs typeface="Calibri" pitchFamily="34" charset="-120"/>
              </a:rPr>
              <a:t>Origin-region differences fade once human-capital traits are accounted for.</a:t>
            </a:r>
          </a:p>
          <a:p>
            <a:pPr marL="0" indent="0" algn="l">
              <a:spcAft>
                <a:spcPts val="600"/>
              </a:spcAft>
              <a:buNone/>
            </a:pPr>
            <a:endParaRPr lang="en-US" sz="1600" dirty="0"/>
          </a:p>
          <a:p>
            <a:pPr marL="0" indent="0" algn="l">
              <a:spcAft>
                <a:spcPts val="600"/>
              </a:spcAft>
              <a:buNone/>
            </a:pPr>
            <a:r>
              <a:rPr lang="en-US" sz="1200" b="1" i="1" dirty="0">
                <a:latin typeface="Calibri" pitchFamily="34" charset="0"/>
                <a:ea typeface="Calibri" pitchFamily="34" charset="-122"/>
                <a:cs typeface="Calibri" pitchFamily="34" charset="-120"/>
              </a:rPr>
              <a:t>Borjas · Chiswick · Blau &amp; Graham</a:t>
            </a:r>
            <a:endParaRPr lang="en-US" sz="1600" b="1" dirty="0"/>
          </a:p>
        </p:txBody>
      </p:sp>
      <p:sp>
        <p:nvSpPr>
          <p:cNvPr id="10" name="Shape 8"/>
          <p:cNvSpPr/>
          <p:nvPr/>
        </p:nvSpPr>
        <p:spPr>
          <a:xfrm>
            <a:off x="6537960" y="1737360"/>
            <a:ext cx="5074920" cy="4206240"/>
          </a:xfrm>
          <a:prstGeom prst="rect">
            <a:avLst/>
          </a:prstGeom>
          <a:solidFill>
            <a:srgbClr val="F5F5F5"/>
          </a:solidFill>
          <a:ln w="9525">
            <a:solidFill>
              <a:srgbClr val="C9CFD3"/>
            </a:solidFill>
            <a:prstDash val="solid"/>
          </a:ln>
        </p:spPr>
        <p:txBody>
          <a:bodyPr/>
          <a:lstStyle/>
          <a:p>
            <a:endParaRPr lang="en-US"/>
          </a:p>
        </p:txBody>
      </p:sp>
      <p:sp>
        <p:nvSpPr>
          <p:cNvPr id="11" name="Shape 9"/>
          <p:cNvSpPr/>
          <p:nvPr/>
        </p:nvSpPr>
        <p:spPr>
          <a:xfrm>
            <a:off x="6903720" y="2011680"/>
            <a:ext cx="640080" cy="640080"/>
          </a:xfrm>
          <a:prstGeom prst="ellipse">
            <a:avLst/>
          </a:prstGeom>
          <a:solidFill>
            <a:srgbClr val="36454F"/>
          </a:solidFill>
          <a:ln/>
        </p:spPr>
        <p:txBody>
          <a:bodyPr/>
          <a:lstStyle/>
          <a:p>
            <a:endParaRPr lang="en-US"/>
          </a:p>
        </p:txBody>
      </p:sp>
      <p:sp>
        <p:nvSpPr>
          <p:cNvPr id="12" name="Text 10"/>
          <p:cNvSpPr/>
          <p:nvPr/>
        </p:nvSpPr>
        <p:spPr>
          <a:xfrm>
            <a:off x="6903720" y="201168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2</a:t>
            </a:r>
            <a:endParaRPr lang="en-US" sz="2800" dirty="0"/>
          </a:p>
        </p:txBody>
      </p:sp>
      <p:sp>
        <p:nvSpPr>
          <p:cNvPr id="13" name="Text 11"/>
          <p:cNvSpPr/>
          <p:nvPr/>
        </p:nvSpPr>
        <p:spPr>
          <a:xfrm>
            <a:off x="7832309" y="2171700"/>
            <a:ext cx="3703320" cy="640080"/>
          </a:xfrm>
          <a:prstGeom prst="rect">
            <a:avLst/>
          </a:prstGeom>
          <a:noFill/>
          <a:ln/>
        </p:spPr>
        <p:txBody>
          <a:bodyPr wrap="square" lIns="0" tIns="0" rIns="0" bIns="0" rtlCol="0" anchor="ctr"/>
          <a:lstStyle/>
          <a:p>
            <a:pPr marL="0" indent="0" algn="l">
              <a:buNone/>
            </a:pPr>
            <a:r>
              <a:rPr lang="en-US" sz="2200" b="1" dirty="0">
                <a:solidFill>
                  <a:srgbClr val="36454F"/>
                </a:solidFill>
                <a:latin typeface="Georgia" pitchFamily="34" charset="0"/>
                <a:ea typeface="Georgia" pitchFamily="34" charset="-122"/>
                <a:cs typeface="Georgia" pitchFamily="34" charset="-120"/>
              </a:rPr>
              <a:t>Segmented Assimilation</a:t>
            </a:r>
          </a:p>
          <a:p>
            <a:r>
              <a:rPr lang="en-US" sz="1600" i="1" dirty="0">
                <a:solidFill>
                  <a:srgbClr val="8A9499"/>
                </a:solidFill>
                <a:latin typeface="Calibri" pitchFamily="34" charset="0"/>
                <a:ea typeface="Calibri" pitchFamily="34" charset="-122"/>
                <a:cs typeface="Calibri" pitchFamily="34" charset="-120"/>
              </a:rPr>
              <a:t>Distinct forms of Adaptation</a:t>
            </a:r>
            <a:endParaRPr lang="en-US" sz="1600" dirty="0"/>
          </a:p>
          <a:p>
            <a:pPr marL="0" indent="0" algn="l">
              <a:buNone/>
            </a:pPr>
            <a:endParaRPr lang="en-US" sz="2200" dirty="0"/>
          </a:p>
        </p:txBody>
      </p:sp>
      <p:sp>
        <p:nvSpPr>
          <p:cNvPr id="14" name="Text 12"/>
          <p:cNvSpPr/>
          <p:nvPr/>
        </p:nvSpPr>
        <p:spPr>
          <a:xfrm>
            <a:off x="6995160" y="2926080"/>
            <a:ext cx="4160520" cy="2834640"/>
          </a:xfrm>
          <a:prstGeom prst="rect">
            <a:avLst/>
          </a:prstGeom>
          <a:noFill/>
          <a:ln/>
        </p:spPr>
        <p:txBody>
          <a:bodyPr wrap="square" rtlCol="0" anchor="t"/>
          <a:lstStyle/>
          <a:p>
            <a:pPr marL="0" indent="0" algn="l">
              <a:spcAft>
                <a:spcPts val="600"/>
              </a:spcAft>
              <a:buNone/>
            </a:pPr>
            <a:r>
              <a:rPr lang="en-US" sz="1600" dirty="0">
                <a:solidFill>
                  <a:srgbClr val="36454F"/>
                </a:solidFill>
                <a:latin typeface="Calibri" pitchFamily="34" charset="0"/>
                <a:ea typeface="Calibri" pitchFamily="34" charset="-122"/>
                <a:cs typeface="Calibri" pitchFamily="34" charset="-120"/>
              </a:rPr>
              <a:t>Origin region channels households into </a:t>
            </a:r>
            <a:r>
              <a:rPr lang="en-US" sz="1600" b="1" dirty="0">
                <a:solidFill>
                  <a:srgbClr val="028090"/>
                </a:solidFill>
                <a:latin typeface="Calibri" pitchFamily="34" charset="0"/>
                <a:ea typeface="Calibri" pitchFamily="34" charset="-122"/>
                <a:cs typeface="Calibri" pitchFamily="34" charset="-120"/>
              </a:rPr>
              <a:t>distinct pathways</a:t>
            </a:r>
            <a:r>
              <a:rPr lang="en-US" sz="1600" b="1" dirty="0">
                <a:solidFill>
                  <a:srgbClr val="36454F"/>
                </a:solidFill>
                <a:latin typeface="Calibri" pitchFamily="34" charset="0"/>
                <a:ea typeface="Calibri" pitchFamily="34" charset="-122"/>
                <a:cs typeface="Calibri" pitchFamily="34" charset="-120"/>
              </a:rPr>
              <a:t>. </a:t>
            </a:r>
          </a:p>
          <a:p>
            <a:pPr marL="285750" indent="-285750" algn="l">
              <a:spcAft>
                <a:spcPts val="600"/>
              </a:spcAft>
              <a:buFont typeface="Arial" panose="020B0604020202020204" pitchFamily="34" charset="0"/>
              <a:buChar char="•"/>
            </a:pPr>
            <a:r>
              <a:rPr lang="en-US" sz="1400" b="1" dirty="0">
                <a:solidFill>
                  <a:srgbClr val="36454F"/>
                </a:solidFill>
                <a:latin typeface="Calibri" pitchFamily="34" charset="0"/>
                <a:ea typeface="Calibri" pitchFamily="34" charset="-122"/>
                <a:cs typeface="Calibri" pitchFamily="34" charset="-120"/>
              </a:rPr>
              <a:t>G</a:t>
            </a:r>
            <a:r>
              <a:rPr lang="en-US" sz="1400" dirty="0">
                <a:solidFill>
                  <a:srgbClr val="36454F"/>
                </a:solidFill>
                <a:latin typeface="Calibri" pitchFamily="34" charset="0"/>
                <a:ea typeface="Calibri" pitchFamily="34" charset="-122"/>
                <a:cs typeface="Calibri" pitchFamily="34" charset="-120"/>
              </a:rPr>
              <a:t>rowing acculturation and parallel integration into the white middle-class</a:t>
            </a:r>
          </a:p>
          <a:p>
            <a:pPr marL="285750" indent="-285750" algn="l">
              <a:spcAft>
                <a:spcPts val="600"/>
              </a:spcAft>
              <a:buFont typeface="Arial" panose="020B0604020202020204" pitchFamily="34" charset="0"/>
              <a:buChar char="•"/>
            </a:pPr>
            <a:r>
              <a:rPr lang="en-US" sz="1400" dirty="0">
                <a:solidFill>
                  <a:srgbClr val="36454F"/>
                </a:solidFill>
                <a:latin typeface="Calibri" pitchFamily="34" charset="0"/>
                <a:ea typeface="Calibri" pitchFamily="34" charset="-122"/>
                <a:cs typeface="Calibri" pitchFamily="34" charset="-120"/>
              </a:rPr>
              <a:t>Permanent poverty and assimilation into the underclass</a:t>
            </a:r>
          </a:p>
          <a:p>
            <a:pPr marL="285750" indent="-285750" algn="l">
              <a:spcAft>
                <a:spcPts val="600"/>
              </a:spcAft>
              <a:buFont typeface="Arial" panose="020B0604020202020204" pitchFamily="34" charset="0"/>
              <a:buChar char="•"/>
            </a:pPr>
            <a:r>
              <a:rPr lang="en-US" sz="1400" dirty="0">
                <a:solidFill>
                  <a:srgbClr val="36454F"/>
                </a:solidFill>
                <a:latin typeface="Calibri" pitchFamily="34" charset="0"/>
                <a:ea typeface="Calibri" pitchFamily="34" charset="-122"/>
                <a:cs typeface="Calibri" pitchFamily="34" charset="-120"/>
              </a:rPr>
              <a:t>Selective assimilation, representing rapid economic advancement with deliberate preservation of the immigrant community’s values and tight solidarity.</a:t>
            </a:r>
            <a:endParaRPr lang="en-US" sz="1400" dirty="0"/>
          </a:p>
          <a:p>
            <a:pPr marL="0" indent="0" algn="l">
              <a:spcAft>
                <a:spcPts val="600"/>
              </a:spcAft>
              <a:buNone/>
            </a:pPr>
            <a:r>
              <a:rPr lang="en-US" sz="1400" dirty="0">
                <a:solidFill>
                  <a:srgbClr val="36454F"/>
                </a:solidFill>
                <a:latin typeface="Calibri" pitchFamily="34" charset="0"/>
                <a:ea typeface="Calibri" pitchFamily="34" charset="-122"/>
                <a:cs typeface="Calibri" pitchFamily="34" charset="-120"/>
              </a:rPr>
              <a:t>Effects persist beyond human capital and duration.</a:t>
            </a:r>
            <a:endParaRPr lang="en-US" sz="1400" dirty="0"/>
          </a:p>
          <a:p>
            <a:pPr>
              <a:spcAft>
                <a:spcPts val="600"/>
              </a:spcAft>
            </a:pPr>
            <a:r>
              <a:rPr lang="en-US" sz="1600" dirty="0">
                <a:solidFill>
                  <a:srgbClr val="36454F"/>
                </a:solidFill>
                <a:latin typeface="Calibri" pitchFamily="34" charset="0"/>
                <a:ea typeface="Calibri" pitchFamily="34" charset="-122"/>
                <a:cs typeface="Calibri" pitchFamily="34" charset="-120"/>
              </a:rPr>
              <a:t>
</a:t>
            </a:r>
            <a:r>
              <a:rPr lang="en-US" sz="1200" b="1" i="1" dirty="0">
                <a:latin typeface="Calibri" pitchFamily="34" charset="0"/>
                <a:ea typeface="Calibri" pitchFamily="34" charset="-122"/>
                <a:cs typeface="Calibri" pitchFamily="34" charset="-120"/>
              </a:rPr>
              <a:t>Portes &amp; Rumbaut · Zhou</a:t>
            </a:r>
            <a:endParaRPr lang="en-US" sz="1600" b="1" dirty="0"/>
          </a:p>
        </p:txBody>
      </p:sp>
      <p:sp>
        <p:nvSpPr>
          <p:cNvPr id="15" name="Text 13"/>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2 / 12</a:t>
            </a:r>
            <a:endParaRPr lang="en-US" sz="1000" dirty="0"/>
          </a:p>
        </p:txBody>
      </p:sp>
      <p:sp>
        <p:nvSpPr>
          <p:cNvPr id="16" name="Text 14"/>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0F3C8173-57C4-51BE-2080-426B3E48C150}"/>
              </a:ext>
            </a:extLst>
          </p:cNvPr>
          <p:cNvSpPr txBox="1"/>
          <p:nvPr/>
        </p:nvSpPr>
        <p:spPr>
          <a:xfrm>
            <a:off x="1383564" y="348865"/>
            <a:ext cx="9718111" cy="1576446"/>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000" kern="1200">
              <a:solidFill>
                <a:srgbClr val="FFFFFF"/>
              </a:solidFill>
              <a:latin typeface="+mj-lt"/>
              <a:ea typeface="+mj-ea"/>
              <a:cs typeface="+mj-cs"/>
            </a:endParaRPr>
          </a:p>
          <a:p>
            <a:pPr>
              <a:lnSpc>
                <a:spcPct val="90000"/>
              </a:lnSpc>
              <a:spcBef>
                <a:spcPct val="0"/>
              </a:spcBef>
              <a:spcAft>
                <a:spcPts val="600"/>
              </a:spcAft>
            </a:pPr>
            <a:r>
              <a:rPr lang="en-US" sz="4000" kern="1200">
                <a:solidFill>
                  <a:srgbClr val="FFFFFF"/>
                </a:solidFill>
                <a:latin typeface="+mj-lt"/>
                <a:ea typeface="+mj-ea"/>
                <a:cs typeface="+mj-cs"/>
              </a:rPr>
              <a:t>		Segmented Assimilation Pathways</a:t>
            </a:r>
          </a:p>
          <a:p>
            <a:pPr>
              <a:lnSpc>
                <a:spcPct val="90000"/>
              </a:lnSpc>
              <a:spcBef>
                <a:spcPct val="0"/>
              </a:spcBef>
              <a:spcAft>
                <a:spcPts val="600"/>
              </a:spcAft>
            </a:pPr>
            <a:endParaRPr lang="en-US" sz="4000" kern="1200">
              <a:solidFill>
                <a:srgbClr val="FFFFFF"/>
              </a:solidFill>
              <a:latin typeface="+mj-lt"/>
              <a:ea typeface="+mj-ea"/>
              <a:cs typeface="+mj-cs"/>
            </a:endParaRPr>
          </a:p>
        </p:txBody>
      </p:sp>
      <p:graphicFrame>
        <p:nvGraphicFramePr>
          <p:cNvPr id="14" name="TextBox 1">
            <a:extLst>
              <a:ext uri="{FF2B5EF4-FFF2-40B4-BE49-F238E27FC236}">
                <a16:creationId xmlns:a16="http://schemas.microsoft.com/office/drawing/2014/main" id="{ADF56937-C0B9-70E5-3C56-1C8F2CD58325}"/>
              </a:ext>
            </a:extLst>
          </p:cNvPr>
          <p:cNvGraphicFramePr/>
          <p:nvPr>
            <p:extLst>
              <p:ext uri="{D42A27DB-BD31-4B8C-83A1-F6EECF244321}">
                <p14:modId xmlns:p14="http://schemas.microsoft.com/office/powerpoint/2010/main" val="1405038809"/>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7518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raight Connector 3">
            <a:extLst>
              <a:ext uri="{FF2B5EF4-FFF2-40B4-BE49-F238E27FC236}">
                <a16:creationId xmlns:a16="http://schemas.microsoft.com/office/drawing/2014/main" id="{F124DCCE-4844-94BF-2D5C-31D8C18B2261}"/>
              </a:ext>
            </a:extLst>
          </p:cNvPr>
          <p:cNvSpPr/>
          <p:nvPr/>
        </p:nvSpPr>
        <p:spPr>
          <a:xfrm>
            <a:off x="4030795" y="1707232"/>
            <a:ext cx="1352905" cy="643860"/>
          </a:xfrm>
          <a:custGeom>
            <a:avLst/>
            <a:gdLst/>
            <a:ahLst/>
            <a:cxnLst/>
            <a:rect l="0" t="0" r="0" b="0"/>
            <a:pathLst>
              <a:path>
                <a:moveTo>
                  <a:pt x="0" y="0"/>
                </a:moveTo>
                <a:lnTo>
                  <a:pt x="0" y="438771"/>
                </a:lnTo>
                <a:lnTo>
                  <a:pt x="1352905" y="438771"/>
                </a:lnTo>
                <a:lnTo>
                  <a:pt x="1352905" y="64386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 name="Straight Connector 4">
            <a:extLst>
              <a:ext uri="{FF2B5EF4-FFF2-40B4-BE49-F238E27FC236}">
                <a16:creationId xmlns:a16="http://schemas.microsoft.com/office/drawing/2014/main" id="{05DBB41C-B4BD-0A6F-4759-086A77A74B48}"/>
              </a:ext>
            </a:extLst>
          </p:cNvPr>
          <p:cNvSpPr/>
          <p:nvPr/>
        </p:nvSpPr>
        <p:spPr>
          <a:xfrm>
            <a:off x="2677889" y="1707232"/>
            <a:ext cx="1352905" cy="643860"/>
          </a:xfrm>
          <a:custGeom>
            <a:avLst/>
            <a:gdLst/>
            <a:ahLst/>
            <a:cxnLst/>
            <a:rect l="0" t="0" r="0" b="0"/>
            <a:pathLst>
              <a:path>
                <a:moveTo>
                  <a:pt x="1352905" y="0"/>
                </a:moveTo>
                <a:lnTo>
                  <a:pt x="1352905" y="438771"/>
                </a:lnTo>
                <a:lnTo>
                  <a:pt x="0" y="438771"/>
                </a:lnTo>
                <a:lnTo>
                  <a:pt x="0" y="643860"/>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4" name="Rectangle: Rounded Corners 3">
            <a:extLst>
              <a:ext uri="{FF2B5EF4-FFF2-40B4-BE49-F238E27FC236}">
                <a16:creationId xmlns:a16="http://schemas.microsoft.com/office/drawing/2014/main" id="{772BDB4E-927A-D9B4-3BE8-A8416A515108}"/>
              </a:ext>
            </a:extLst>
          </p:cNvPr>
          <p:cNvSpPr/>
          <p:nvPr/>
        </p:nvSpPr>
        <p:spPr>
          <a:xfrm>
            <a:off x="2923872" y="301440"/>
            <a:ext cx="2213845" cy="140579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grpSp>
        <p:nvGrpSpPr>
          <p:cNvPr id="5" name="Group 4">
            <a:extLst>
              <a:ext uri="{FF2B5EF4-FFF2-40B4-BE49-F238E27FC236}">
                <a16:creationId xmlns:a16="http://schemas.microsoft.com/office/drawing/2014/main" id="{521EBBE4-3E29-EB47-63E2-DCDC1E37362E}"/>
              </a:ext>
            </a:extLst>
          </p:cNvPr>
          <p:cNvGrpSpPr/>
          <p:nvPr/>
        </p:nvGrpSpPr>
        <p:grpSpPr>
          <a:xfrm>
            <a:off x="3169855" y="535124"/>
            <a:ext cx="2213845" cy="1405792"/>
            <a:chOff x="7185794" y="233822"/>
            <a:chExt cx="2213845" cy="1405792"/>
          </a:xfrm>
        </p:grpSpPr>
        <p:sp>
          <p:nvSpPr>
            <p:cNvPr id="14" name="Rectangle: Rounded Corners 13">
              <a:extLst>
                <a:ext uri="{FF2B5EF4-FFF2-40B4-BE49-F238E27FC236}">
                  <a16:creationId xmlns:a16="http://schemas.microsoft.com/office/drawing/2014/main" id="{FD4A8582-439B-D8EB-0026-EAFAF8D28CF2}"/>
                </a:ext>
              </a:extLst>
            </p:cNvPr>
            <p:cNvSpPr/>
            <p:nvPr/>
          </p:nvSpPr>
          <p:spPr>
            <a:xfrm>
              <a:off x="7185794" y="233822"/>
              <a:ext cx="2213845" cy="1405792"/>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5" name="Rectangle: Rounded Corners 7">
              <a:extLst>
                <a:ext uri="{FF2B5EF4-FFF2-40B4-BE49-F238E27FC236}">
                  <a16:creationId xmlns:a16="http://schemas.microsoft.com/office/drawing/2014/main" id="{45D6F3D0-20CD-A558-1AE8-102BFE8A6E84}"/>
                </a:ext>
              </a:extLst>
            </p:cNvPr>
            <p:cNvSpPr txBox="1"/>
            <p:nvPr/>
          </p:nvSpPr>
          <p:spPr>
            <a:xfrm>
              <a:off x="7226968" y="274996"/>
              <a:ext cx="2131497" cy="132344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Location</a:t>
              </a:r>
            </a:p>
          </p:txBody>
        </p:sp>
      </p:grpSp>
      <p:sp>
        <p:nvSpPr>
          <p:cNvPr id="6" name="Rectangle: Rounded Corners 5">
            <a:extLst>
              <a:ext uri="{FF2B5EF4-FFF2-40B4-BE49-F238E27FC236}">
                <a16:creationId xmlns:a16="http://schemas.microsoft.com/office/drawing/2014/main" id="{4F48D78A-6FE9-0BD6-44B9-B57E2BE9E6CD}"/>
              </a:ext>
            </a:extLst>
          </p:cNvPr>
          <p:cNvSpPr/>
          <p:nvPr/>
        </p:nvSpPr>
        <p:spPr>
          <a:xfrm>
            <a:off x="1570966" y="2351092"/>
            <a:ext cx="2213845" cy="140579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grpSp>
        <p:nvGrpSpPr>
          <p:cNvPr id="7" name="Group 6">
            <a:extLst>
              <a:ext uri="{FF2B5EF4-FFF2-40B4-BE49-F238E27FC236}">
                <a16:creationId xmlns:a16="http://schemas.microsoft.com/office/drawing/2014/main" id="{B07B3D5E-349E-196F-B3B3-F17455FC43BA}"/>
              </a:ext>
            </a:extLst>
          </p:cNvPr>
          <p:cNvGrpSpPr/>
          <p:nvPr/>
        </p:nvGrpSpPr>
        <p:grpSpPr>
          <a:xfrm>
            <a:off x="1816949" y="2584776"/>
            <a:ext cx="2213845" cy="1405792"/>
            <a:chOff x="5832888" y="2283474"/>
            <a:chExt cx="2213845" cy="1405792"/>
          </a:xfrm>
        </p:grpSpPr>
        <p:sp>
          <p:nvSpPr>
            <p:cNvPr id="12" name="Rectangle: Rounded Corners 11">
              <a:extLst>
                <a:ext uri="{FF2B5EF4-FFF2-40B4-BE49-F238E27FC236}">
                  <a16:creationId xmlns:a16="http://schemas.microsoft.com/office/drawing/2014/main" id="{94114DB4-D53F-AA57-9998-ECFB5FF7F8E5}"/>
                </a:ext>
              </a:extLst>
            </p:cNvPr>
            <p:cNvSpPr/>
            <p:nvPr/>
          </p:nvSpPr>
          <p:spPr>
            <a:xfrm>
              <a:off x="5832888" y="2283474"/>
              <a:ext cx="2213845" cy="1405792"/>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Rectangle: Rounded Corners 10">
              <a:extLst>
                <a:ext uri="{FF2B5EF4-FFF2-40B4-BE49-F238E27FC236}">
                  <a16:creationId xmlns:a16="http://schemas.microsoft.com/office/drawing/2014/main" id="{BB6414C8-EB5C-54F7-55FF-D10192F711FB}"/>
                </a:ext>
              </a:extLst>
            </p:cNvPr>
            <p:cNvSpPr txBox="1"/>
            <p:nvPr/>
          </p:nvSpPr>
          <p:spPr>
            <a:xfrm>
              <a:off x="5874062" y="2324648"/>
              <a:ext cx="2131497" cy="132344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The concentration of immigrant households in central cities. New arrivals come in close contact with concentrations of native-born minorities. </a:t>
              </a:r>
            </a:p>
          </p:txBody>
        </p:sp>
      </p:grpSp>
      <p:sp>
        <p:nvSpPr>
          <p:cNvPr id="8" name="Rectangle: Rounded Corners 7">
            <a:extLst>
              <a:ext uri="{FF2B5EF4-FFF2-40B4-BE49-F238E27FC236}">
                <a16:creationId xmlns:a16="http://schemas.microsoft.com/office/drawing/2014/main" id="{D3843541-E7F8-5EDF-8CEB-1908554752BA}"/>
              </a:ext>
            </a:extLst>
          </p:cNvPr>
          <p:cNvSpPr/>
          <p:nvPr/>
        </p:nvSpPr>
        <p:spPr>
          <a:xfrm>
            <a:off x="4276778" y="2351092"/>
            <a:ext cx="2213845" cy="140579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grpSp>
        <p:nvGrpSpPr>
          <p:cNvPr id="9" name="Group 8">
            <a:extLst>
              <a:ext uri="{FF2B5EF4-FFF2-40B4-BE49-F238E27FC236}">
                <a16:creationId xmlns:a16="http://schemas.microsoft.com/office/drawing/2014/main" id="{F08C6E36-C3E3-5FDE-C695-8C5407248A44}"/>
              </a:ext>
            </a:extLst>
          </p:cNvPr>
          <p:cNvGrpSpPr/>
          <p:nvPr/>
        </p:nvGrpSpPr>
        <p:grpSpPr>
          <a:xfrm>
            <a:off x="4522761" y="2584776"/>
            <a:ext cx="2213845" cy="1405792"/>
            <a:chOff x="8538700" y="2283474"/>
            <a:chExt cx="2213845" cy="1405792"/>
          </a:xfrm>
        </p:grpSpPr>
        <p:sp>
          <p:nvSpPr>
            <p:cNvPr id="10" name="Rectangle: Rounded Corners 9">
              <a:extLst>
                <a:ext uri="{FF2B5EF4-FFF2-40B4-BE49-F238E27FC236}">
                  <a16:creationId xmlns:a16="http://schemas.microsoft.com/office/drawing/2014/main" id="{BFD42ED7-603E-1DFF-BA95-05687FF65B2E}"/>
                </a:ext>
              </a:extLst>
            </p:cNvPr>
            <p:cNvSpPr/>
            <p:nvPr/>
          </p:nvSpPr>
          <p:spPr>
            <a:xfrm>
              <a:off x="8538700" y="2283474"/>
              <a:ext cx="2213845" cy="1405792"/>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1" name="Rectangle: Rounded Corners 13">
              <a:extLst>
                <a:ext uri="{FF2B5EF4-FFF2-40B4-BE49-F238E27FC236}">
                  <a16:creationId xmlns:a16="http://schemas.microsoft.com/office/drawing/2014/main" id="{ED449980-3D3A-41B5-2DB9-3ABA4771513C}"/>
                </a:ext>
              </a:extLst>
            </p:cNvPr>
            <p:cNvSpPr txBox="1"/>
            <p:nvPr/>
          </p:nvSpPr>
          <p:spPr>
            <a:xfrm>
              <a:off x="8579874" y="2324648"/>
              <a:ext cx="2131497" cy="132344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The majority group then identifies both groups, immigrants and the native poor, as the same.</a:t>
              </a:r>
            </a:p>
          </p:txBody>
        </p:sp>
      </p:grpSp>
      <p:sp>
        <p:nvSpPr>
          <p:cNvPr id="16" name="TextBox 15">
            <a:extLst>
              <a:ext uri="{FF2B5EF4-FFF2-40B4-BE49-F238E27FC236}">
                <a16:creationId xmlns:a16="http://schemas.microsoft.com/office/drawing/2014/main" id="{EF5D7DA2-E56C-6C62-F21F-4AFCAF05C539}"/>
              </a:ext>
            </a:extLst>
          </p:cNvPr>
          <p:cNvSpPr txBox="1"/>
          <p:nvPr/>
        </p:nvSpPr>
        <p:spPr>
          <a:xfrm>
            <a:off x="7364819" y="971107"/>
            <a:ext cx="3884428" cy="4524315"/>
          </a:xfrm>
          <a:prstGeom prst="rect">
            <a:avLst/>
          </a:prstGeom>
          <a:noFill/>
        </p:spPr>
        <p:txBody>
          <a:bodyPr wrap="square" rtlCol="0">
            <a:spAutoFit/>
          </a:bodyPr>
          <a:lstStyle/>
          <a:p>
            <a:r>
              <a:rPr lang="en-US" dirty="0"/>
              <a:t>More important it exposes second-generation children to the adversarial sub-culture developed by </a:t>
            </a:r>
            <a:r>
              <a:rPr lang="en-US" dirty="0" err="1"/>
              <a:t>margianalized</a:t>
            </a:r>
            <a:r>
              <a:rPr lang="en-US" dirty="0"/>
              <a:t> native youth to cope with their own difficult situation.</a:t>
            </a:r>
          </a:p>
          <a:p>
            <a:endParaRPr lang="en-US" dirty="0"/>
          </a:p>
          <a:p>
            <a:r>
              <a:rPr lang="en-US" dirty="0"/>
              <a:t>This process of socialization may take place even when first-generation parents are moving ahead economically, and hence, their children have no objective reasons for embracing a counter-cultural message.</a:t>
            </a:r>
          </a:p>
          <a:p>
            <a:endParaRPr lang="en-US" dirty="0"/>
          </a:p>
          <a:p>
            <a:r>
              <a:rPr lang="en-US" dirty="0"/>
              <a:t>If successful, the process can effectively block parental for intergenerational mobility.</a:t>
            </a:r>
          </a:p>
        </p:txBody>
      </p:sp>
    </p:spTree>
    <p:extLst>
      <p:ext uri="{BB962C8B-B14F-4D97-AF65-F5344CB8AC3E}">
        <p14:creationId xmlns:p14="http://schemas.microsoft.com/office/powerpoint/2010/main" val="362743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004182-BEFE-8756-2BF4-B9969DCA4828}"/>
              </a:ext>
            </a:extLst>
          </p:cNvPr>
          <p:cNvSpPr txBox="1"/>
          <p:nvPr/>
        </p:nvSpPr>
        <p:spPr>
          <a:xfrm>
            <a:off x="1236017" y="2359248"/>
            <a:ext cx="9213368" cy="2031325"/>
          </a:xfrm>
          <a:prstGeom prst="rect">
            <a:avLst/>
          </a:prstGeom>
          <a:noFill/>
        </p:spPr>
        <p:txBody>
          <a:bodyPr wrap="square" rtlCol="0">
            <a:spAutoFit/>
          </a:bodyPr>
          <a:lstStyle/>
          <a:p>
            <a:r>
              <a:rPr lang="en-US" dirty="0"/>
              <a:t>A third vulnerability has to do with changes in the host economy that have led to the evaporation of occupational ladders for intergenerational mobility. As noted previously, new immigrants may form the backbone of what remains of labor-intensive manufacturing in cities, as well as of their growing personal services sector, but these are niches that seldom offer channels for upward mobility. The new hourglass economy, created by economic restructuring, means that children of immigrants must cross a narrow bottleneck to occupations requiring advanced training if their careers are to keep pace with their U.S.-acquired aspirations. </a:t>
            </a:r>
          </a:p>
        </p:txBody>
      </p:sp>
      <p:sp>
        <p:nvSpPr>
          <p:cNvPr id="3" name="TextBox 2">
            <a:extLst>
              <a:ext uri="{FF2B5EF4-FFF2-40B4-BE49-F238E27FC236}">
                <a16:creationId xmlns:a16="http://schemas.microsoft.com/office/drawing/2014/main" id="{A7AC1C4D-32EC-F234-804F-391FBA2C9CED}"/>
              </a:ext>
            </a:extLst>
          </p:cNvPr>
          <p:cNvSpPr txBox="1"/>
          <p:nvPr/>
        </p:nvSpPr>
        <p:spPr>
          <a:xfrm>
            <a:off x="1368447" y="1090974"/>
            <a:ext cx="9780927" cy="461665"/>
          </a:xfrm>
          <a:prstGeom prst="rect">
            <a:avLst/>
          </a:prstGeom>
          <a:noFill/>
        </p:spPr>
        <p:txBody>
          <a:bodyPr wrap="square" rtlCol="0">
            <a:spAutoFit/>
          </a:bodyPr>
          <a:lstStyle/>
          <a:p>
            <a:r>
              <a:rPr lang="en-US" sz="2400" b="1" dirty="0"/>
              <a:t>The race against a narrowing middle class.</a:t>
            </a:r>
          </a:p>
        </p:txBody>
      </p:sp>
      <p:sp>
        <p:nvSpPr>
          <p:cNvPr id="4" name="TextBox 3">
            <a:extLst>
              <a:ext uri="{FF2B5EF4-FFF2-40B4-BE49-F238E27FC236}">
                <a16:creationId xmlns:a16="http://schemas.microsoft.com/office/drawing/2014/main" id="{BCED1375-3F8F-D07F-40C5-ED724872CE0B}"/>
              </a:ext>
            </a:extLst>
          </p:cNvPr>
          <p:cNvSpPr txBox="1"/>
          <p:nvPr/>
        </p:nvSpPr>
        <p:spPr>
          <a:xfrm>
            <a:off x="1368447" y="4653981"/>
            <a:ext cx="9162919" cy="646331"/>
          </a:xfrm>
          <a:prstGeom prst="rect">
            <a:avLst/>
          </a:prstGeom>
          <a:noFill/>
        </p:spPr>
        <p:txBody>
          <a:bodyPr wrap="square" rtlCol="0">
            <a:spAutoFit/>
          </a:bodyPr>
          <a:lstStyle/>
          <a:p>
            <a:r>
              <a:rPr lang="en-US" dirty="0"/>
              <a:t>The trend forces immigrants today to bridge in only one generation the gap between entry-level jobs and professional positions that earlier groups took two to three generations to travel.</a:t>
            </a:r>
          </a:p>
        </p:txBody>
      </p:sp>
    </p:spTree>
    <p:extLst>
      <p:ext uri="{BB962C8B-B14F-4D97-AF65-F5344CB8AC3E}">
        <p14:creationId xmlns:p14="http://schemas.microsoft.com/office/powerpoint/2010/main" val="3083935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What questions can our research answer?</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Besides academic outcomes, what are the stakes having to do with policy design</a:t>
            </a:r>
            <a:endParaRPr lang="en-US" sz="1400" dirty="0"/>
          </a:p>
        </p:txBody>
      </p:sp>
      <p:sp>
        <p:nvSpPr>
          <p:cNvPr id="5" name="Shape 3"/>
          <p:cNvSpPr/>
          <p:nvPr/>
        </p:nvSpPr>
        <p:spPr>
          <a:xfrm>
            <a:off x="548640" y="1828800"/>
            <a:ext cx="11064240" cy="1417320"/>
          </a:xfrm>
          <a:prstGeom prst="rect">
            <a:avLst/>
          </a:prstGeom>
          <a:solidFill>
            <a:srgbClr val="F5F5F5"/>
          </a:solidFill>
          <a:ln w="6350">
            <a:solidFill>
              <a:srgbClr val="C9CFD3"/>
            </a:solidFill>
            <a:prstDash val="solid"/>
          </a:ln>
        </p:spPr>
        <p:txBody>
          <a:bodyPr/>
          <a:lstStyle/>
          <a:p>
            <a:endParaRPr lang="en-US"/>
          </a:p>
        </p:txBody>
      </p:sp>
      <p:sp>
        <p:nvSpPr>
          <p:cNvPr id="6" name="Text 4"/>
          <p:cNvSpPr/>
          <p:nvPr/>
        </p:nvSpPr>
        <p:spPr>
          <a:xfrm>
            <a:off x="548640" y="1828800"/>
            <a:ext cx="1371600" cy="1417320"/>
          </a:xfrm>
          <a:prstGeom prst="rect">
            <a:avLst/>
          </a:prstGeom>
          <a:noFill/>
          <a:ln/>
        </p:spPr>
        <p:txBody>
          <a:bodyPr wrap="square" lIns="0" tIns="0" rIns="0" bIns="0" rtlCol="0" anchor="ctr"/>
          <a:lstStyle/>
          <a:p>
            <a:pPr marL="0" indent="0" algn="ctr">
              <a:buNone/>
            </a:pPr>
            <a:r>
              <a:rPr lang="en-US" sz="3600" b="1" i="1" dirty="0">
                <a:solidFill>
                  <a:srgbClr val="028090"/>
                </a:solidFill>
                <a:latin typeface="Georgia" pitchFamily="34" charset="0"/>
                <a:ea typeface="Georgia" pitchFamily="34" charset="-122"/>
                <a:cs typeface="Georgia" pitchFamily="34" charset="-120"/>
              </a:rPr>
              <a:t>01</a:t>
            </a:r>
            <a:endParaRPr lang="en-US" sz="3600" dirty="0"/>
          </a:p>
        </p:txBody>
      </p:sp>
      <p:sp>
        <p:nvSpPr>
          <p:cNvPr id="7" name="Shape 5"/>
          <p:cNvSpPr/>
          <p:nvPr/>
        </p:nvSpPr>
        <p:spPr>
          <a:xfrm>
            <a:off x="1874520" y="2057400"/>
            <a:ext cx="18288" cy="960120"/>
          </a:xfrm>
          <a:prstGeom prst="rect">
            <a:avLst/>
          </a:prstGeom>
          <a:solidFill>
            <a:srgbClr val="C9CFD3"/>
          </a:solidFill>
          <a:ln/>
        </p:spPr>
        <p:txBody>
          <a:bodyPr/>
          <a:lstStyle/>
          <a:p>
            <a:endParaRPr lang="en-US"/>
          </a:p>
        </p:txBody>
      </p:sp>
      <p:sp>
        <p:nvSpPr>
          <p:cNvPr id="8" name="Text 6"/>
          <p:cNvSpPr/>
          <p:nvPr/>
        </p:nvSpPr>
        <p:spPr>
          <a:xfrm>
            <a:off x="2103120" y="2011680"/>
            <a:ext cx="9326880" cy="502920"/>
          </a:xfrm>
          <a:prstGeom prst="rect">
            <a:avLst/>
          </a:prstGeom>
          <a:noFill/>
          <a:ln/>
        </p:spPr>
        <p:txBody>
          <a:bodyPr wrap="square" lIns="0" tIns="0" rIns="0" bIns="0" rtlCol="0" anchor="ctr"/>
          <a:lstStyle/>
          <a:p>
            <a:pPr marL="0" indent="0" algn="l">
              <a:buNone/>
            </a:pPr>
            <a:r>
              <a:rPr lang="en-US" sz="1800" b="1" dirty="0">
                <a:solidFill>
                  <a:srgbClr val="36454F"/>
                </a:solidFill>
                <a:latin typeface="Georgia" pitchFamily="34" charset="0"/>
                <a:ea typeface="Georgia" pitchFamily="34" charset="-122"/>
                <a:cs typeface="Georgia" pitchFamily="34" charset="-120"/>
              </a:rPr>
              <a:t>Wealth research has leaned on broad race categories</a:t>
            </a:r>
            <a:endParaRPr lang="en-US" sz="1800" dirty="0"/>
          </a:p>
        </p:txBody>
      </p:sp>
      <p:sp>
        <p:nvSpPr>
          <p:cNvPr id="9" name="Text 7"/>
          <p:cNvSpPr/>
          <p:nvPr/>
        </p:nvSpPr>
        <p:spPr>
          <a:xfrm>
            <a:off x="2103120" y="2514600"/>
            <a:ext cx="9326880" cy="640080"/>
          </a:xfrm>
          <a:prstGeom prst="rect">
            <a:avLst/>
          </a:prstGeom>
          <a:noFill/>
          <a:ln/>
        </p:spPr>
        <p:txBody>
          <a:bodyPr wrap="square" lIns="0" tIns="0" rIns="0" bIns="0" rtlCol="0" anchor="t"/>
          <a:lstStyle/>
          <a:p>
            <a:pPr marL="0" indent="0" algn="l">
              <a:buNone/>
            </a:pPr>
            <a:r>
              <a:rPr lang="en-US" sz="1400" dirty="0">
                <a:solidFill>
                  <a:srgbClr val="4A5A66"/>
                </a:solidFill>
                <a:latin typeface="Calibri" pitchFamily="34" charset="0"/>
                <a:ea typeface="Calibri" pitchFamily="34" charset="-122"/>
                <a:cs typeface="Calibri" pitchFamily="34" charset="-120"/>
              </a:rPr>
              <a:t>Black–white and Hispanic–white wealth gaps treat each group as internally homogeneous.</a:t>
            </a:r>
            <a:endParaRPr lang="en-US" sz="1400" dirty="0"/>
          </a:p>
        </p:txBody>
      </p:sp>
      <p:sp>
        <p:nvSpPr>
          <p:cNvPr id="10" name="Shape 8"/>
          <p:cNvSpPr/>
          <p:nvPr/>
        </p:nvSpPr>
        <p:spPr>
          <a:xfrm>
            <a:off x="548640" y="3429000"/>
            <a:ext cx="11064240" cy="1417320"/>
          </a:xfrm>
          <a:prstGeom prst="rect">
            <a:avLst/>
          </a:prstGeom>
          <a:solidFill>
            <a:srgbClr val="F5F5F5"/>
          </a:solidFill>
          <a:ln w="6350">
            <a:solidFill>
              <a:srgbClr val="C9CFD3"/>
            </a:solidFill>
            <a:prstDash val="solid"/>
          </a:ln>
        </p:spPr>
        <p:txBody>
          <a:bodyPr/>
          <a:lstStyle/>
          <a:p>
            <a:endParaRPr lang="en-US"/>
          </a:p>
        </p:txBody>
      </p:sp>
      <p:sp>
        <p:nvSpPr>
          <p:cNvPr id="11" name="Text 9"/>
          <p:cNvSpPr/>
          <p:nvPr/>
        </p:nvSpPr>
        <p:spPr>
          <a:xfrm>
            <a:off x="548640" y="3429000"/>
            <a:ext cx="1371600" cy="1417320"/>
          </a:xfrm>
          <a:prstGeom prst="rect">
            <a:avLst/>
          </a:prstGeom>
          <a:noFill/>
          <a:ln/>
        </p:spPr>
        <p:txBody>
          <a:bodyPr wrap="square" lIns="0" tIns="0" rIns="0" bIns="0" rtlCol="0" anchor="ctr"/>
          <a:lstStyle/>
          <a:p>
            <a:pPr marL="0" indent="0" algn="ctr">
              <a:buNone/>
            </a:pPr>
            <a:r>
              <a:rPr lang="en-US" sz="3600" b="1" i="1" dirty="0">
                <a:solidFill>
                  <a:srgbClr val="028090"/>
                </a:solidFill>
                <a:latin typeface="Georgia" pitchFamily="34" charset="0"/>
                <a:ea typeface="Georgia" pitchFamily="34" charset="-122"/>
                <a:cs typeface="Georgia" pitchFamily="34" charset="-120"/>
              </a:rPr>
              <a:t>02</a:t>
            </a:r>
            <a:endParaRPr lang="en-US" sz="3600" dirty="0"/>
          </a:p>
        </p:txBody>
      </p:sp>
      <p:sp>
        <p:nvSpPr>
          <p:cNvPr id="12" name="Shape 10"/>
          <p:cNvSpPr/>
          <p:nvPr/>
        </p:nvSpPr>
        <p:spPr>
          <a:xfrm>
            <a:off x="1874520" y="3657600"/>
            <a:ext cx="18288" cy="960120"/>
          </a:xfrm>
          <a:prstGeom prst="rect">
            <a:avLst/>
          </a:prstGeom>
          <a:solidFill>
            <a:srgbClr val="C9CFD3"/>
          </a:solidFill>
          <a:ln/>
        </p:spPr>
        <p:txBody>
          <a:bodyPr/>
          <a:lstStyle/>
          <a:p>
            <a:endParaRPr lang="en-US"/>
          </a:p>
        </p:txBody>
      </p:sp>
      <p:sp>
        <p:nvSpPr>
          <p:cNvPr id="13" name="Text 11"/>
          <p:cNvSpPr/>
          <p:nvPr/>
        </p:nvSpPr>
        <p:spPr>
          <a:xfrm>
            <a:off x="2103120" y="3611880"/>
            <a:ext cx="9326880" cy="502920"/>
          </a:xfrm>
          <a:prstGeom prst="rect">
            <a:avLst/>
          </a:prstGeom>
          <a:noFill/>
          <a:ln/>
        </p:spPr>
        <p:txBody>
          <a:bodyPr wrap="square" lIns="0" tIns="0" rIns="0" bIns="0" rtlCol="0" anchor="ctr"/>
          <a:lstStyle/>
          <a:p>
            <a:pPr marL="0" indent="0" algn="l">
              <a:buNone/>
            </a:pPr>
            <a:r>
              <a:rPr lang="en-US" sz="1800" b="1" dirty="0">
                <a:solidFill>
                  <a:srgbClr val="36454F"/>
                </a:solidFill>
                <a:latin typeface="Georgia" pitchFamily="34" charset="0"/>
                <a:ea typeface="Georgia" pitchFamily="34" charset="-122"/>
                <a:cs typeface="Georgia" pitchFamily="34" charset="-120"/>
              </a:rPr>
              <a:t>But "Asian" or "Hispanic" may mask real heterogeneity</a:t>
            </a:r>
            <a:endParaRPr lang="en-US" sz="1800" dirty="0"/>
          </a:p>
        </p:txBody>
      </p:sp>
      <p:sp>
        <p:nvSpPr>
          <p:cNvPr id="14" name="Text 12"/>
          <p:cNvSpPr/>
          <p:nvPr/>
        </p:nvSpPr>
        <p:spPr>
          <a:xfrm>
            <a:off x="2103120" y="4114800"/>
            <a:ext cx="9326880" cy="640080"/>
          </a:xfrm>
          <a:prstGeom prst="rect">
            <a:avLst/>
          </a:prstGeom>
          <a:noFill/>
          <a:ln/>
        </p:spPr>
        <p:txBody>
          <a:bodyPr wrap="square" lIns="0" tIns="0" rIns="0" bIns="0" rtlCol="0" anchor="t"/>
          <a:lstStyle/>
          <a:p>
            <a:pPr marL="0" indent="0" algn="l">
              <a:buNone/>
            </a:pPr>
            <a:r>
              <a:rPr lang="en-US" sz="1400" dirty="0">
                <a:solidFill>
                  <a:srgbClr val="4A5A66"/>
                </a:solidFill>
                <a:latin typeface="Calibri" pitchFamily="34" charset="0"/>
                <a:ea typeface="Calibri" pitchFamily="34" charset="-122"/>
                <a:cs typeface="Calibri" pitchFamily="34" charset="-120"/>
              </a:rPr>
              <a:t>Mexican-origin, Cuban-origin, and Caribbean-origin households have distinct migration histories — does that translate to distinct financial profiles?</a:t>
            </a:r>
            <a:endParaRPr lang="en-US" sz="1400" dirty="0"/>
          </a:p>
        </p:txBody>
      </p:sp>
      <p:sp>
        <p:nvSpPr>
          <p:cNvPr id="15" name="Shape 13"/>
          <p:cNvSpPr/>
          <p:nvPr/>
        </p:nvSpPr>
        <p:spPr>
          <a:xfrm>
            <a:off x="548640" y="5029200"/>
            <a:ext cx="11064240" cy="1417320"/>
          </a:xfrm>
          <a:prstGeom prst="rect">
            <a:avLst/>
          </a:prstGeom>
          <a:solidFill>
            <a:srgbClr val="F5F5F5"/>
          </a:solidFill>
          <a:ln w="6350">
            <a:solidFill>
              <a:srgbClr val="C9CFD3"/>
            </a:solidFill>
            <a:prstDash val="solid"/>
          </a:ln>
        </p:spPr>
        <p:txBody>
          <a:bodyPr/>
          <a:lstStyle/>
          <a:p>
            <a:endParaRPr lang="en-US"/>
          </a:p>
        </p:txBody>
      </p:sp>
      <p:sp>
        <p:nvSpPr>
          <p:cNvPr id="16" name="Text 14"/>
          <p:cNvSpPr/>
          <p:nvPr/>
        </p:nvSpPr>
        <p:spPr>
          <a:xfrm>
            <a:off x="548640" y="5029200"/>
            <a:ext cx="1371600" cy="1417320"/>
          </a:xfrm>
          <a:prstGeom prst="rect">
            <a:avLst/>
          </a:prstGeom>
          <a:noFill/>
          <a:ln/>
        </p:spPr>
        <p:txBody>
          <a:bodyPr wrap="square" lIns="0" tIns="0" rIns="0" bIns="0" rtlCol="0" anchor="ctr"/>
          <a:lstStyle/>
          <a:p>
            <a:pPr marL="0" indent="0" algn="ctr">
              <a:buNone/>
            </a:pPr>
            <a:r>
              <a:rPr lang="en-US" sz="3600" b="1" i="1" dirty="0">
                <a:solidFill>
                  <a:srgbClr val="028090"/>
                </a:solidFill>
                <a:latin typeface="Georgia" pitchFamily="34" charset="0"/>
                <a:ea typeface="Georgia" pitchFamily="34" charset="-122"/>
                <a:cs typeface="Georgia" pitchFamily="34" charset="-120"/>
              </a:rPr>
              <a:t>03</a:t>
            </a:r>
            <a:endParaRPr lang="en-US" sz="3600" dirty="0"/>
          </a:p>
        </p:txBody>
      </p:sp>
      <p:sp>
        <p:nvSpPr>
          <p:cNvPr id="17" name="Shape 15"/>
          <p:cNvSpPr/>
          <p:nvPr/>
        </p:nvSpPr>
        <p:spPr>
          <a:xfrm>
            <a:off x="1874520" y="5257800"/>
            <a:ext cx="18288" cy="960120"/>
          </a:xfrm>
          <a:prstGeom prst="rect">
            <a:avLst/>
          </a:prstGeom>
          <a:solidFill>
            <a:srgbClr val="C9CFD3"/>
          </a:solidFill>
          <a:ln/>
        </p:spPr>
        <p:txBody>
          <a:bodyPr/>
          <a:lstStyle/>
          <a:p>
            <a:endParaRPr lang="en-US"/>
          </a:p>
        </p:txBody>
      </p:sp>
      <p:sp>
        <p:nvSpPr>
          <p:cNvPr id="18" name="Text 16"/>
          <p:cNvSpPr/>
          <p:nvPr/>
        </p:nvSpPr>
        <p:spPr>
          <a:xfrm>
            <a:off x="2103120" y="5212080"/>
            <a:ext cx="9326880" cy="502920"/>
          </a:xfrm>
          <a:prstGeom prst="rect">
            <a:avLst/>
          </a:prstGeom>
          <a:noFill/>
          <a:ln/>
        </p:spPr>
        <p:txBody>
          <a:bodyPr wrap="square" lIns="0" tIns="0" rIns="0" bIns="0" rtlCol="0" anchor="ctr"/>
          <a:lstStyle/>
          <a:p>
            <a:pPr marL="0" indent="0" algn="l">
              <a:buNone/>
            </a:pPr>
            <a:r>
              <a:rPr lang="en-US" sz="1800" b="1" dirty="0">
                <a:solidFill>
                  <a:srgbClr val="36454F"/>
                </a:solidFill>
                <a:latin typeface="Georgia" pitchFamily="34" charset="0"/>
                <a:ea typeface="Georgia" pitchFamily="34" charset="-122"/>
                <a:cs typeface="Georgia" pitchFamily="34" charset="-120"/>
              </a:rPr>
              <a:t>The answer determines how to target intervention</a:t>
            </a:r>
            <a:endParaRPr lang="en-US" sz="1800" dirty="0"/>
          </a:p>
        </p:txBody>
      </p:sp>
      <p:sp>
        <p:nvSpPr>
          <p:cNvPr id="19" name="Text 17"/>
          <p:cNvSpPr/>
          <p:nvPr/>
        </p:nvSpPr>
        <p:spPr>
          <a:xfrm>
            <a:off x="2103120" y="5715000"/>
            <a:ext cx="9326880" cy="640080"/>
          </a:xfrm>
          <a:prstGeom prst="rect">
            <a:avLst/>
          </a:prstGeom>
          <a:noFill/>
          <a:ln/>
        </p:spPr>
        <p:txBody>
          <a:bodyPr wrap="square" lIns="0" tIns="0" rIns="0" bIns="0" rtlCol="0" anchor="t"/>
          <a:lstStyle/>
          <a:p>
            <a:pPr marL="0" indent="0" algn="l">
              <a:buNone/>
            </a:pPr>
            <a:r>
              <a:rPr lang="en-US" sz="1400" dirty="0">
                <a:solidFill>
                  <a:srgbClr val="4A5A66"/>
                </a:solidFill>
                <a:latin typeface="Calibri" pitchFamily="34" charset="0"/>
                <a:ea typeface="Calibri" pitchFamily="34" charset="-122"/>
                <a:cs typeface="Calibri" pitchFamily="34" charset="-120"/>
              </a:rPr>
              <a:t>If origin matters: redesign policy around within-race origin groups. If not: existing race-based frameworks remain the right lens.</a:t>
            </a:r>
            <a:endParaRPr lang="en-US" sz="1400" dirty="0"/>
          </a:p>
        </p:txBody>
      </p:sp>
      <p:sp>
        <p:nvSpPr>
          <p:cNvPr id="20" name="Text 18"/>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3 / 12</a:t>
            </a:r>
            <a:endParaRPr lang="en-US" sz="1000" dirty="0"/>
          </a:p>
        </p:txBody>
      </p:sp>
      <p:sp>
        <p:nvSpPr>
          <p:cNvPr id="21" name="Text 19"/>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The Data Breakthrough</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The 2022 SCF added the missing variable</a:t>
            </a:r>
            <a:endParaRPr lang="en-US" sz="1400" dirty="0"/>
          </a:p>
        </p:txBody>
      </p:sp>
      <p:sp>
        <p:nvSpPr>
          <p:cNvPr id="5" name="Shape 3"/>
          <p:cNvSpPr/>
          <p:nvPr/>
        </p:nvSpPr>
        <p:spPr>
          <a:xfrm>
            <a:off x="548640" y="1828800"/>
            <a:ext cx="5486400" cy="4114800"/>
          </a:xfrm>
          <a:prstGeom prst="rect">
            <a:avLst/>
          </a:prstGeom>
          <a:solidFill>
            <a:srgbClr val="36454F"/>
          </a:solidFill>
          <a:ln/>
        </p:spPr>
        <p:txBody>
          <a:bodyPr/>
          <a:lstStyle/>
          <a:p>
            <a:endParaRPr lang="en-US"/>
          </a:p>
        </p:txBody>
      </p:sp>
      <p:sp>
        <p:nvSpPr>
          <p:cNvPr id="6" name="Text 4"/>
          <p:cNvSpPr/>
          <p:nvPr/>
        </p:nvSpPr>
        <p:spPr>
          <a:xfrm>
            <a:off x="731520" y="2103120"/>
            <a:ext cx="5120640" cy="548640"/>
          </a:xfrm>
          <a:prstGeom prst="rect">
            <a:avLst/>
          </a:prstGeom>
          <a:noFill/>
          <a:ln/>
        </p:spPr>
        <p:txBody>
          <a:bodyPr wrap="square" lIns="0" tIns="0" rIns="0" bIns="0" rtlCol="0" anchor="ctr"/>
          <a:lstStyle/>
          <a:p>
            <a:pPr marL="0" indent="0" algn="l">
              <a:buNone/>
            </a:pPr>
            <a:r>
              <a:rPr lang="en-US" sz="1600" b="1" kern="0" spc="600" dirty="0">
                <a:solidFill>
                  <a:srgbClr val="B8DEE2"/>
                </a:solidFill>
                <a:latin typeface="Calibri" pitchFamily="34" charset="0"/>
                <a:ea typeface="Calibri" pitchFamily="34" charset="-122"/>
                <a:cs typeface="Calibri" pitchFamily="34" charset="-120"/>
              </a:rPr>
              <a:t>First</a:t>
            </a:r>
            <a:endParaRPr lang="en-US" sz="1600" dirty="0"/>
          </a:p>
        </p:txBody>
      </p:sp>
      <p:sp>
        <p:nvSpPr>
          <p:cNvPr id="7" name="Text 5"/>
          <p:cNvSpPr/>
          <p:nvPr/>
        </p:nvSpPr>
        <p:spPr>
          <a:xfrm>
            <a:off x="731520" y="2606040"/>
            <a:ext cx="5120640" cy="1828800"/>
          </a:xfrm>
          <a:prstGeom prst="rect">
            <a:avLst/>
          </a:prstGeom>
          <a:noFill/>
          <a:ln/>
        </p:spPr>
        <p:txBody>
          <a:bodyPr wrap="square" lIns="0" tIns="0" rIns="0" bIns="0" rtlCol="0" anchor="t"/>
          <a:lstStyle/>
          <a:p>
            <a:pPr marL="0" indent="0" algn="l">
              <a:buNone/>
            </a:pPr>
            <a:r>
              <a:rPr lang="en-US" sz="3800" i="1" dirty="0">
                <a:solidFill>
                  <a:srgbClr val="FFFFFF"/>
                </a:solidFill>
                <a:latin typeface="Georgia" pitchFamily="34" charset="0"/>
                <a:ea typeface="Georgia" pitchFamily="34" charset="-122"/>
                <a:cs typeface="Georgia" pitchFamily="34" charset="-120"/>
              </a:rPr>
              <a:t>nationally</a:t>
            </a:r>
            <a:endParaRPr lang="en-US" sz="3800" dirty="0"/>
          </a:p>
          <a:p>
            <a:pPr marL="0" indent="0" algn="l">
              <a:buNone/>
            </a:pPr>
            <a:r>
              <a:rPr lang="en-US" sz="3800" i="1" dirty="0">
                <a:solidFill>
                  <a:srgbClr val="FFFFFF"/>
                </a:solidFill>
                <a:latin typeface="Georgia" pitchFamily="34" charset="0"/>
                <a:ea typeface="Georgia" pitchFamily="34" charset="-122"/>
                <a:cs typeface="Georgia" pitchFamily="34" charset="-120"/>
              </a:rPr>
              <a:t>representative</a:t>
            </a:r>
            <a:endParaRPr lang="en-US" sz="3800" dirty="0"/>
          </a:p>
          <a:p>
            <a:pPr marL="0" indent="0" algn="l">
              <a:buNone/>
            </a:pPr>
            <a:r>
              <a:rPr lang="en-US" sz="3800" i="1" dirty="0">
                <a:solidFill>
                  <a:srgbClr val="FFFFFF"/>
                </a:solidFill>
                <a:latin typeface="Georgia" pitchFamily="34" charset="0"/>
                <a:ea typeface="Georgia" pitchFamily="34" charset="-122"/>
                <a:cs typeface="Georgia" pitchFamily="34" charset="-120"/>
              </a:rPr>
              <a:t>U.S. wealth survey</a:t>
            </a:r>
            <a:endParaRPr lang="en-US" sz="3800" dirty="0"/>
          </a:p>
        </p:txBody>
      </p:sp>
      <p:sp>
        <p:nvSpPr>
          <p:cNvPr id="8" name="Shape 6"/>
          <p:cNvSpPr/>
          <p:nvPr/>
        </p:nvSpPr>
        <p:spPr>
          <a:xfrm>
            <a:off x="731520" y="4663440"/>
            <a:ext cx="822960" cy="36576"/>
          </a:xfrm>
          <a:prstGeom prst="rect">
            <a:avLst/>
          </a:prstGeom>
          <a:solidFill>
            <a:srgbClr val="028090"/>
          </a:solidFill>
          <a:ln/>
        </p:spPr>
        <p:txBody>
          <a:bodyPr/>
          <a:lstStyle/>
          <a:p>
            <a:endParaRPr lang="en-US"/>
          </a:p>
        </p:txBody>
      </p:sp>
      <p:sp>
        <p:nvSpPr>
          <p:cNvPr id="9" name="Text 7"/>
          <p:cNvSpPr/>
          <p:nvPr/>
        </p:nvSpPr>
        <p:spPr>
          <a:xfrm>
            <a:off x="731520" y="4846320"/>
            <a:ext cx="5120640" cy="457200"/>
          </a:xfrm>
          <a:prstGeom prst="rect">
            <a:avLst/>
          </a:prstGeom>
          <a:noFill/>
          <a:ln/>
        </p:spPr>
        <p:txBody>
          <a:bodyPr wrap="square" lIns="0" tIns="0" rIns="0" bIns="0" rtlCol="0" anchor="ctr"/>
          <a:lstStyle/>
          <a:p>
            <a:pPr marL="0" indent="0" algn="l">
              <a:buNone/>
            </a:pPr>
            <a:r>
              <a:rPr lang="en-US" sz="1600" i="1" dirty="0">
                <a:solidFill>
                  <a:srgbClr val="B8DEE2"/>
                </a:solidFill>
                <a:latin typeface="Calibri" pitchFamily="34" charset="0"/>
                <a:ea typeface="Calibri" pitchFamily="34" charset="-122"/>
                <a:cs typeface="Calibri" pitchFamily="34" charset="-120"/>
              </a:rPr>
              <a:t>…to track respondent national origin</a:t>
            </a:r>
            <a:endParaRPr lang="en-US" sz="1600" dirty="0"/>
          </a:p>
        </p:txBody>
      </p:sp>
      <p:sp>
        <p:nvSpPr>
          <p:cNvPr id="10" name="Text 8"/>
          <p:cNvSpPr/>
          <p:nvPr/>
        </p:nvSpPr>
        <p:spPr>
          <a:xfrm>
            <a:off x="6400800" y="1828800"/>
            <a:ext cx="5212080" cy="457200"/>
          </a:xfrm>
          <a:prstGeom prst="rect">
            <a:avLst/>
          </a:prstGeom>
          <a:noFill/>
          <a:ln/>
        </p:spPr>
        <p:txBody>
          <a:bodyPr wrap="square" lIns="0" tIns="0" rIns="0" bIns="0" rtlCol="0" anchor="ctr"/>
          <a:lstStyle/>
          <a:p>
            <a:pPr marL="0" indent="0" algn="l">
              <a:buNone/>
            </a:pPr>
            <a:r>
              <a:rPr lang="en-US" sz="1400" b="1" kern="0" spc="400" dirty="0">
                <a:solidFill>
                  <a:srgbClr val="8A9499"/>
                </a:solidFill>
                <a:latin typeface="Calibri" pitchFamily="34" charset="0"/>
                <a:ea typeface="Calibri" pitchFamily="34" charset="-122"/>
                <a:cs typeface="Calibri" pitchFamily="34" charset="-120"/>
              </a:rPr>
              <a:t>2022 variables in use</a:t>
            </a:r>
            <a:endParaRPr lang="en-US" sz="1400" dirty="0"/>
          </a:p>
        </p:txBody>
      </p:sp>
      <p:sp>
        <p:nvSpPr>
          <p:cNvPr id="11" name="Shape 9"/>
          <p:cNvSpPr/>
          <p:nvPr/>
        </p:nvSpPr>
        <p:spPr>
          <a:xfrm>
            <a:off x="6400800" y="2514600"/>
            <a:ext cx="1691640" cy="502920"/>
          </a:xfrm>
          <a:prstGeom prst="rect">
            <a:avLst/>
          </a:prstGeom>
          <a:solidFill>
            <a:srgbClr val="01636F"/>
          </a:solidFill>
          <a:ln/>
        </p:spPr>
        <p:txBody>
          <a:bodyPr/>
          <a:lstStyle/>
          <a:p>
            <a:endParaRPr lang="en-US"/>
          </a:p>
        </p:txBody>
      </p:sp>
      <p:sp>
        <p:nvSpPr>
          <p:cNvPr id="12" name="Text 10"/>
          <p:cNvSpPr/>
          <p:nvPr/>
        </p:nvSpPr>
        <p:spPr>
          <a:xfrm>
            <a:off x="6400800" y="2514600"/>
            <a:ext cx="16916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X6915</a:t>
            </a:r>
            <a:endParaRPr lang="en-US" sz="1400" dirty="0"/>
          </a:p>
        </p:txBody>
      </p:sp>
      <p:sp>
        <p:nvSpPr>
          <p:cNvPr id="13" name="Text 11"/>
          <p:cNvSpPr/>
          <p:nvPr/>
        </p:nvSpPr>
        <p:spPr>
          <a:xfrm>
            <a:off x="8275320" y="2468880"/>
            <a:ext cx="3337560" cy="594360"/>
          </a:xfrm>
          <a:prstGeom prst="rect">
            <a:avLst/>
          </a:prstGeom>
          <a:noFill/>
          <a:ln/>
        </p:spPr>
        <p:txBody>
          <a:bodyPr wrap="square" lIns="0" tIns="0" rIns="0" bIns="0" rtlCol="0" anchor="ctr"/>
          <a:lstStyle/>
          <a:p>
            <a:pPr marL="0" indent="0" algn="l">
              <a:buNone/>
            </a:pPr>
            <a:r>
              <a:rPr lang="en-US" sz="1500" dirty="0">
                <a:solidFill>
                  <a:srgbClr val="36454F"/>
                </a:solidFill>
                <a:latin typeface="Calibri" pitchFamily="34" charset="0"/>
                <a:ea typeface="Calibri" pitchFamily="34" charset="-122"/>
                <a:cs typeface="Calibri" pitchFamily="34" charset="-120"/>
              </a:rPr>
              <a:t>Respondent national origin</a:t>
            </a:r>
            <a:endParaRPr lang="en-US" sz="1500" dirty="0"/>
          </a:p>
        </p:txBody>
      </p:sp>
      <p:sp>
        <p:nvSpPr>
          <p:cNvPr id="14" name="Shape 12"/>
          <p:cNvSpPr/>
          <p:nvPr/>
        </p:nvSpPr>
        <p:spPr>
          <a:xfrm>
            <a:off x="6400800" y="3291840"/>
            <a:ext cx="1691640" cy="502920"/>
          </a:xfrm>
          <a:prstGeom prst="rect">
            <a:avLst/>
          </a:prstGeom>
          <a:solidFill>
            <a:srgbClr val="01636F"/>
          </a:solidFill>
          <a:ln/>
        </p:spPr>
        <p:txBody>
          <a:bodyPr/>
          <a:lstStyle/>
          <a:p>
            <a:endParaRPr lang="en-US"/>
          </a:p>
        </p:txBody>
      </p:sp>
      <p:sp>
        <p:nvSpPr>
          <p:cNvPr id="15" name="Text 13"/>
          <p:cNvSpPr/>
          <p:nvPr/>
        </p:nvSpPr>
        <p:spPr>
          <a:xfrm>
            <a:off x="6400800" y="3291840"/>
            <a:ext cx="16916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X6906</a:t>
            </a:r>
            <a:endParaRPr lang="en-US" sz="1400" dirty="0"/>
          </a:p>
        </p:txBody>
      </p:sp>
      <p:sp>
        <p:nvSpPr>
          <p:cNvPr id="16" name="Text 14"/>
          <p:cNvSpPr/>
          <p:nvPr/>
        </p:nvSpPr>
        <p:spPr>
          <a:xfrm>
            <a:off x="8275320" y="3246120"/>
            <a:ext cx="3337560" cy="594360"/>
          </a:xfrm>
          <a:prstGeom prst="rect">
            <a:avLst/>
          </a:prstGeom>
          <a:noFill/>
          <a:ln/>
        </p:spPr>
        <p:txBody>
          <a:bodyPr wrap="square" lIns="0" tIns="0" rIns="0" bIns="0" rtlCol="0" anchor="ctr"/>
          <a:lstStyle/>
          <a:p>
            <a:pPr marL="0" indent="0" algn="l">
              <a:buNone/>
            </a:pPr>
            <a:r>
              <a:rPr lang="en-US" sz="1500" dirty="0">
                <a:solidFill>
                  <a:srgbClr val="36454F"/>
                </a:solidFill>
                <a:latin typeface="Calibri" pitchFamily="34" charset="0"/>
                <a:ea typeface="Calibri" pitchFamily="34" charset="-122"/>
                <a:cs typeface="Calibri" pitchFamily="34" charset="-120"/>
              </a:rPr>
              <a:t>Years respondent has lived in U.S.</a:t>
            </a:r>
            <a:endParaRPr lang="en-US" sz="1500" dirty="0"/>
          </a:p>
        </p:txBody>
      </p:sp>
      <p:sp>
        <p:nvSpPr>
          <p:cNvPr id="17" name="Shape 15"/>
          <p:cNvSpPr/>
          <p:nvPr/>
        </p:nvSpPr>
        <p:spPr>
          <a:xfrm>
            <a:off x="6400800" y="4069080"/>
            <a:ext cx="1691640" cy="502920"/>
          </a:xfrm>
          <a:prstGeom prst="rect">
            <a:avLst/>
          </a:prstGeom>
          <a:solidFill>
            <a:srgbClr val="01636F"/>
          </a:solidFill>
          <a:ln/>
        </p:spPr>
        <p:txBody>
          <a:bodyPr/>
          <a:lstStyle/>
          <a:p>
            <a:endParaRPr lang="en-US"/>
          </a:p>
        </p:txBody>
      </p:sp>
      <p:sp>
        <p:nvSpPr>
          <p:cNvPr id="18" name="Text 16"/>
          <p:cNvSpPr/>
          <p:nvPr/>
        </p:nvSpPr>
        <p:spPr>
          <a:xfrm>
            <a:off x="6400800" y="4069080"/>
            <a:ext cx="16916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X8055–X8057</a:t>
            </a:r>
            <a:endParaRPr lang="en-US" sz="1400" dirty="0"/>
          </a:p>
        </p:txBody>
      </p:sp>
      <p:sp>
        <p:nvSpPr>
          <p:cNvPr id="19" name="Text 17"/>
          <p:cNvSpPr/>
          <p:nvPr/>
        </p:nvSpPr>
        <p:spPr>
          <a:xfrm>
            <a:off x="8275320" y="4023360"/>
            <a:ext cx="3337560" cy="594360"/>
          </a:xfrm>
          <a:prstGeom prst="rect">
            <a:avLst/>
          </a:prstGeom>
          <a:noFill/>
          <a:ln/>
        </p:spPr>
        <p:txBody>
          <a:bodyPr wrap="square" lIns="0" tIns="0" rIns="0" bIns="0" rtlCol="0" anchor="ctr"/>
          <a:lstStyle/>
          <a:p>
            <a:pPr marL="0" indent="0" algn="l">
              <a:buNone/>
            </a:pPr>
            <a:r>
              <a:rPr lang="en-US" sz="1500" dirty="0">
                <a:solidFill>
                  <a:srgbClr val="36454F"/>
                </a:solidFill>
                <a:latin typeface="Calibri" pitchFamily="34" charset="0"/>
                <a:ea typeface="Calibri" pitchFamily="34" charset="-122"/>
                <a:cs typeface="Calibri" pitchFamily="34" charset="-120"/>
              </a:rPr>
              <a:t>Spouse national origin</a:t>
            </a:r>
            <a:endParaRPr lang="en-US" sz="1500" dirty="0"/>
          </a:p>
        </p:txBody>
      </p:sp>
      <p:sp>
        <p:nvSpPr>
          <p:cNvPr id="20" name="Shape 18"/>
          <p:cNvSpPr/>
          <p:nvPr/>
        </p:nvSpPr>
        <p:spPr>
          <a:xfrm>
            <a:off x="6400800" y="4846320"/>
            <a:ext cx="1691640" cy="502920"/>
          </a:xfrm>
          <a:prstGeom prst="rect">
            <a:avLst/>
          </a:prstGeom>
          <a:solidFill>
            <a:srgbClr val="01636F"/>
          </a:solidFill>
          <a:ln/>
        </p:spPr>
        <p:txBody>
          <a:bodyPr/>
          <a:lstStyle/>
          <a:p>
            <a:endParaRPr lang="en-US"/>
          </a:p>
        </p:txBody>
      </p:sp>
      <p:sp>
        <p:nvSpPr>
          <p:cNvPr id="21" name="Text 19"/>
          <p:cNvSpPr/>
          <p:nvPr/>
        </p:nvSpPr>
        <p:spPr>
          <a:xfrm>
            <a:off x="6400800" y="4846320"/>
            <a:ext cx="16916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X7796</a:t>
            </a:r>
            <a:endParaRPr lang="en-US" sz="1400" dirty="0"/>
          </a:p>
        </p:txBody>
      </p:sp>
      <p:sp>
        <p:nvSpPr>
          <p:cNvPr id="22" name="Text 20"/>
          <p:cNvSpPr/>
          <p:nvPr/>
        </p:nvSpPr>
        <p:spPr>
          <a:xfrm>
            <a:off x="8275320" y="4800600"/>
            <a:ext cx="3337560" cy="594360"/>
          </a:xfrm>
          <a:prstGeom prst="rect">
            <a:avLst/>
          </a:prstGeom>
          <a:noFill/>
          <a:ln/>
        </p:spPr>
        <p:txBody>
          <a:bodyPr wrap="square" lIns="0" tIns="0" rIns="0" bIns="0" rtlCol="0" anchor="ctr"/>
          <a:lstStyle/>
          <a:p>
            <a:pPr marL="0" indent="0" algn="l">
              <a:buNone/>
            </a:pPr>
            <a:r>
              <a:rPr lang="en-US" sz="1500" dirty="0">
                <a:solidFill>
                  <a:srgbClr val="36454F"/>
                </a:solidFill>
                <a:latin typeface="Calibri" pitchFamily="34" charset="0"/>
                <a:ea typeface="Calibri" pitchFamily="34" charset="-122"/>
                <a:cs typeface="Calibri" pitchFamily="34" charset="-120"/>
              </a:rPr>
              <a:t>Years spouse has lived in U.S.</a:t>
            </a:r>
            <a:endParaRPr lang="en-US" sz="1500" dirty="0"/>
          </a:p>
        </p:txBody>
      </p:sp>
      <p:sp>
        <p:nvSpPr>
          <p:cNvPr id="23" name="Text 21"/>
          <p:cNvSpPr/>
          <p:nvPr/>
        </p:nvSpPr>
        <p:spPr>
          <a:xfrm>
            <a:off x="6400800" y="5669280"/>
            <a:ext cx="5212080" cy="731520"/>
          </a:xfrm>
          <a:prstGeom prst="rect">
            <a:avLst/>
          </a:prstGeom>
          <a:noFill/>
          <a:ln/>
        </p:spPr>
        <p:txBody>
          <a:bodyPr wrap="square" lIns="0" tIns="0" rIns="0" bIns="0" rtlCol="0" anchor="t"/>
          <a:lstStyle/>
          <a:p>
            <a:pPr marL="0" indent="0" algn="l">
              <a:buNone/>
            </a:pPr>
            <a:r>
              <a:rPr lang="en-US" sz="1200" i="1" dirty="0">
                <a:solidFill>
                  <a:srgbClr val="8A9499"/>
                </a:solidFill>
                <a:latin typeface="Calibri" pitchFamily="34" charset="0"/>
                <a:ea typeface="Calibri" pitchFamily="34" charset="-122"/>
                <a:cs typeface="Calibri" pitchFamily="34" charset="-120"/>
              </a:rPr>
              <a:t>Earlier SCF waves identified foreign-born only through indirect indicators. Origin-region detail was not measurable.</a:t>
            </a:r>
            <a:endParaRPr lang="en-US" sz="1200" dirty="0"/>
          </a:p>
        </p:txBody>
      </p:sp>
      <p:sp>
        <p:nvSpPr>
          <p:cNvPr id="24" name="Text 22"/>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4 / 12</a:t>
            </a:r>
            <a:endParaRPr lang="en-US" sz="1000" dirty="0"/>
          </a:p>
        </p:txBody>
      </p:sp>
      <p:sp>
        <p:nvSpPr>
          <p:cNvPr id="25" name="Text 23"/>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Methodology</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Foreign-born sample · Three pathways · Six markers</a:t>
            </a:r>
            <a:endParaRPr lang="en-US" sz="1400" dirty="0"/>
          </a:p>
        </p:txBody>
      </p:sp>
      <p:sp>
        <p:nvSpPr>
          <p:cNvPr id="5" name="Shape 3"/>
          <p:cNvSpPr/>
          <p:nvPr/>
        </p:nvSpPr>
        <p:spPr>
          <a:xfrm>
            <a:off x="548640" y="1828800"/>
            <a:ext cx="3657600" cy="1554480"/>
          </a:xfrm>
          <a:prstGeom prst="rect">
            <a:avLst/>
          </a:prstGeom>
          <a:solidFill>
            <a:srgbClr val="F5F5F5"/>
          </a:solidFill>
          <a:ln w="6350">
            <a:solidFill>
              <a:srgbClr val="C9CFD3"/>
            </a:solidFill>
            <a:prstDash val="solid"/>
          </a:ln>
        </p:spPr>
        <p:txBody>
          <a:bodyPr/>
          <a:lstStyle/>
          <a:p>
            <a:endParaRPr lang="en-US"/>
          </a:p>
        </p:txBody>
      </p:sp>
      <p:sp>
        <p:nvSpPr>
          <p:cNvPr id="6" name="Text 4"/>
          <p:cNvSpPr/>
          <p:nvPr/>
        </p:nvSpPr>
        <p:spPr>
          <a:xfrm>
            <a:off x="548640" y="1965960"/>
            <a:ext cx="3657600" cy="868680"/>
          </a:xfrm>
          <a:prstGeom prst="rect">
            <a:avLst/>
          </a:prstGeom>
          <a:noFill/>
          <a:ln/>
        </p:spPr>
        <p:txBody>
          <a:bodyPr wrap="square" lIns="0" tIns="0" rIns="0" bIns="0" rtlCol="0" anchor="ctr"/>
          <a:lstStyle/>
          <a:p>
            <a:pPr marL="0" indent="0" algn="ctr">
              <a:buNone/>
            </a:pPr>
            <a:r>
              <a:rPr lang="en-US" sz="5600" b="1" i="1" dirty="0">
                <a:solidFill>
                  <a:srgbClr val="028090"/>
                </a:solidFill>
                <a:latin typeface="Georgia" pitchFamily="34" charset="0"/>
                <a:ea typeface="Georgia" pitchFamily="34" charset="-122"/>
                <a:cs typeface="Georgia" pitchFamily="34" charset="-120"/>
              </a:rPr>
              <a:t>1,103</a:t>
            </a:r>
            <a:endParaRPr lang="en-US" sz="5600" dirty="0"/>
          </a:p>
        </p:txBody>
      </p:sp>
      <p:sp>
        <p:nvSpPr>
          <p:cNvPr id="7" name="Text 5"/>
          <p:cNvSpPr/>
          <p:nvPr/>
        </p:nvSpPr>
        <p:spPr>
          <a:xfrm>
            <a:off x="548640" y="2788920"/>
            <a:ext cx="3657600" cy="274320"/>
          </a:xfrm>
          <a:prstGeom prst="rect">
            <a:avLst/>
          </a:prstGeom>
          <a:noFill/>
          <a:ln/>
        </p:spPr>
        <p:txBody>
          <a:bodyPr wrap="square" lIns="0" tIns="0" rIns="0" bIns="0" rtlCol="0" anchor="ctr"/>
          <a:lstStyle/>
          <a:p>
            <a:pPr marL="0" indent="0" algn="ctr">
              <a:buNone/>
            </a:pPr>
            <a:r>
              <a:rPr lang="en-US" sz="1100" b="1" kern="0" spc="400" dirty="0">
                <a:solidFill>
                  <a:srgbClr val="36454F"/>
                </a:solidFill>
                <a:latin typeface="Calibri" pitchFamily="34" charset="0"/>
                <a:ea typeface="Calibri" pitchFamily="34" charset="-122"/>
                <a:cs typeface="Calibri" pitchFamily="34" charset="-120"/>
              </a:rPr>
              <a:t>FOREIGN-BORN RESPONDENTS</a:t>
            </a:r>
            <a:endParaRPr lang="en-US" sz="1100" dirty="0"/>
          </a:p>
        </p:txBody>
      </p:sp>
      <p:sp>
        <p:nvSpPr>
          <p:cNvPr id="8" name="Text 6"/>
          <p:cNvSpPr/>
          <p:nvPr/>
        </p:nvSpPr>
        <p:spPr>
          <a:xfrm>
            <a:off x="548640" y="3035808"/>
            <a:ext cx="3657600" cy="274320"/>
          </a:xfrm>
          <a:prstGeom prst="rect">
            <a:avLst/>
          </a:prstGeom>
          <a:noFill/>
          <a:ln/>
        </p:spPr>
        <p:txBody>
          <a:bodyPr wrap="square" lIns="0" tIns="0" rIns="0" bIns="0" rtlCol="0" anchor="ctr"/>
          <a:lstStyle/>
          <a:p>
            <a:pPr marL="0" indent="0" algn="ctr">
              <a:buNone/>
            </a:pPr>
            <a:r>
              <a:rPr lang="en-US" sz="1200" i="1" dirty="0">
                <a:solidFill>
                  <a:srgbClr val="8A9499"/>
                </a:solidFill>
                <a:latin typeface="Calibri" pitchFamily="34" charset="0"/>
                <a:ea typeface="Calibri" pitchFamily="34" charset="-122"/>
                <a:cs typeface="Calibri" pitchFamily="34" charset="-120"/>
              </a:rPr>
              <a:t>ages 25–75, 2022 SCF</a:t>
            </a:r>
            <a:endParaRPr lang="en-US" sz="1200" dirty="0"/>
          </a:p>
        </p:txBody>
      </p:sp>
      <p:sp>
        <p:nvSpPr>
          <p:cNvPr id="9" name="Shape 7"/>
          <p:cNvSpPr/>
          <p:nvPr/>
        </p:nvSpPr>
        <p:spPr>
          <a:xfrm>
            <a:off x="4343400" y="1828800"/>
            <a:ext cx="3657600" cy="1554480"/>
          </a:xfrm>
          <a:prstGeom prst="rect">
            <a:avLst/>
          </a:prstGeom>
          <a:solidFill>
            <a:srgbClr val="F5F5F5"/>
          </a:solidFill>
          <a:ln w="6350">
            <a:solidFill>
              <a:srgbClr val="C9CFD3"/>
            </a:solidFill>
            <a:prstDash val="solid"/>
          </a:ln>
        </p:spPr>
        <p:txBody>
          <a:bodyPr/>
          <a:lstStyle/>
          <a:p>
            <a:endParaRPr lang="en-US"/>
          </a:p>
        </p:txBody>
      </p:sp>
      <p:sp>
        <p:nvSpPr>
          <p:cNvPr id="10" name="Text 8"/>
          <p:cNvSpPr/>
          <p:nvPr/>
        </p:nvSpPr>
        <p:spPr>
          <a:xfrm>
            <a:off x="4343400" y="1965960"/>
            <a:ext cx="3657600" cy="868680"/>
          </a:xfrm>
          <a:prstGeom prst="rect">
            <a:avLst/>
          </a:prstGeom>
          <a:noFill/>
          <a:ln/>
        </p:spPr>
        <p:txBody>
          <a:bodyPr wrap="square" lIns="0" tIns="0" rIns="0" bIns="0" rtlCol="0" anchor="ctr"/>
          <a:lstStyle/>
          <a:p>
            <a:pPr marL="0" indent="0" algn="ctr">
              <a:buNone/>
            </a:pPr>
            <a:r>
              <a:rPr lang="en-US" sz="5600" b="1" i="1" dirty="0">
                <a:solidFill>
                  <a:srgbClr val="028090"/>
                </a:solidFill>
                <a:latin typeface="Georgia" pitchFamily="34" charset="0"/>
                <a:ea typeface="Georgia" pitchFamily="34" charset="-122"/>
                <a:cs typeface="Georgia" pitchFamily="34" charset="-120"/>
              </a:rPr>
              <a:t>3</a:t>
            </a:r>
            <a:endParaRPr lang="en-US" sz="5600" dirty="0"/>
          </a:p>
        </p:txBody>
      </p:sp>
      <p:sp>
        <p:nvSpPr>
          <p:cNvPr id="11" name="Text 9"/>
          <p:cNvSpPr/>
          <p:nvPr/>
        </p:nvSpPr>
        <p:spPr>
          <a:xfrm>
            <a:off x="4343400" y="2788920"/>
            <a:ext cx="3657600" cy="274320"/>
          </a:xfrm>
          <a:prstGeom prst="rect">
            <a:avLst/>
          </a:prstGeom>
          <a:noFill/>
          <a:ln/>
        </p:spPr>
        <p:txBody>
          <a:bodyPr wrap="square" lIns="0" tIns="0" rIns="0" bIns="0" rtlCol="0" anchor="ctr"/>
          <a:lstStyle/>
          <a:p>
            <a:pPr marL="0" indent="0" algn="ctr">
              <a:buNone/>
            </a:pPr>
            <a:r>
              <a:rPr lang="en-US" sz="1100" b="1" kern="0" spc="400" dirty="0">
                <a:solidFill>
                  <a:srgbClr val="36454F"/>
                </a:solidFill>
                <a:latin typeface="Calibri" pitchFamily="34" charset="0"/>
                <a:ea typeface="Calibri" pitchFamily="34" charset="-122"/>
                <a:cs typeface="Calibri" pitchFamily="34" charset="-120"/>
              </a:rPr>
              <a:t>THEORETICAL PATHWAYS</a:t>
            </a:r>
            <a:endParaRPr lang="en-US" sz="1100" dirty="0"/>
          </a:p>
        </p:txBody>
      </p:sp>
      <p:sp>
        <p:nvSpPr>
          <p:cNvPr id="12" name="Text 10"/>
          <p:cNvSpPr/>
          <p:nvPr/>
        </p:nvSpPr>
        <p:spPr>
          <a:xfrm>
            <a:off x="4343400" y="3035808"/>
            <a:ext cx="3657600" cy="274320"/>
          </a:xfrm>
          <a:prstGeom prst="rect">
            <a:avLst/>
          </a:prstGeom>
          <a:noFill/>
          <a:ln/>
        </p:spPr>
        <p:txBody>
          <a:bodyPr wrap="square" lIns="0" tIns="0" rIns="0" bIns="0" rtlCol="0" anchor="ctr"/>
          <a:lstStyle/>
          <a:p>
            <a:pPr marL="0" indent="0" algn="ctr">
              <a:buNone/>
            </a:pPr>
            <a:r>
              <a:rPr lang="en-US" sz="1200" i="1" dirty="0">
                <a:solidFill>
                  <a:srgbClr val="8A9499"/>
                </a:solidFill>
                <a:latin typeface="Calibri" pitchFamily="34" charset="0"/>
                <a:ea typeface="Calibri" pitchFamily="34" charset="-122"/>
                <a:cs typeface="Calibri" pitchFamily="34" charset="-120"/>
              </a:rPr>
              <a:t>parallel · downward · selective</a:t>
            </a:r>
            <a:endParaRPr lang="en-US" sz="1200" dirty="0"/>
          </a:p>
        </p:txBody>
      </p:sp>
      <p:sp>
        <p:nvSpPr>
          <p:cNvPr id="13" name="Shape 11"/>
          <p:cNvSpPr/>
          <p:nvPr/>
        </p:nvSpPr>
        <p:spPr>
          <a:xfrm>
            <a:off x="8138160" y="1828800"/>
            <a:ext cx="3657600" cy="1554480"/>
          </a:xfrm>
          <a:prstGeom prst="rect">
            <a:avLst/>
          </a:prstGeom>
          <a:solidFill>
            <a:srgbClr val="F5F5F5"/>
          </a:solidFill>
          <a:ln w="6350">
            <a:solidFill>
              <a:srgbClr val="C9CFD3"/>
            </a:solidFill>
            <a:prstDash val="solid"/>
          </a:ln>
        </p:spPr>
        <p:txBody>
          <a:bodyPr/>
          <a:lstStyle/>
          <a:p>
            <a:endParaRPr lang="en-US"/>
          </a:p>
        </p:txBody>
      </p:sp>
      <p:sp>
        <p:nvSpPr>
          <p:cNvPr id="14" name="Text 12"/>
          <p:cNvSpPr/>
          <p:nvPr/>
        </p:nvSpPr>
        <p:spPr>
          <a:xfrm>
            <a:off x="8138160" y="1965960"/>
            <a:ext cx="3657600" cy="868680"/>
          </a:xfrm>
          <a:prstGeom prst="rect">
            <a:avLst/>
          </a:prstGeom>
          <a:noFill/>
          <a:ln/>
        </p:spPr>
        <p:txBody>
          <a:bodyPr wrap="square" lIns="0" tIns="0" rIns="0" bIns="0" rtlCol="0" anchor="ctr"/>
          <a:lstStyle/>
          <a:p>
            <a:pPr marL="0" indent="0" algn="ctr">
              <a:buNone/>
            </a:pPr>
            <a:r>
              <a:rPr lang="en-US" sz="5600" b="1" i="1" dirty="0">
                <a:solidFill>
                  <a:srgbClr val="028090"/>
                </a:solidFill>
                <a:latin typeface="Georgia" pitchFamily="34" charset="0"/>
              </a:rPr>
              <a:t>3</a:t>
            </a:r>
            <a:endParaRPr lang="en-US" sz="5600" dirty="0"/>
          </a:p>
        </p:txBody>
      </p:sp>
      <p:sp>
        <p:nvSpPr>
          <p:cNvPr id="15" name="Text 13"/>
          <p:cNvSpPr/>
          <p:nvPr/>
        </p:nvSpPr>
        <p:spPr>
          <a:xfrm>
            <a:off x="8138160" y="2788920"/>
            <a:ext cx="3657600" cy="274320"/>
          </a:xfrm>
          <a:prstGeom prst="rect">
            <a:avLst/>
          </a:prstGeom>
          <a:noFill/>
          <a:ln/>
        </p:spPr>
        <p:txBody>
          <a:bodyPr wrap="square" lIns="0" tIns="0" rIns="0" bIns="0" rtlCol="0" anchor="ctr"/>
          <a:lstStyle/>
          <a:p>
            <a:pPr marL="0" indent="0" algn="ctr">
              <a:buNone/>
            </a:pPr>
            <a:r>
              <a:rPr lang="en-US" sz="1100" b="1" kern="0" spc="400" dirty="0">
                <a:solidFill>
                  <a:srgbClr val="36454F"/>
                </a:solidFill>
                <a:latin typeface="Calibri" pitchFamily="34" charset="0"/>
                <a:ea typeface="Calibri" pitchFamily="34" charset="-122"/>
                <a:cs typeface="Calibri" pitchFamily="34" charset="-120"/>
              </a:rPr>
              <a:t>FINANCIAL MARKERS</a:t>
            </a:r>
            <a:endParaRPr lang="en-US" sz="1100" dirty="0"/>
          </a:p>
        </p:txBody>
      </p:sp>
      <p:sp>
        <p:nvSpPr>
          <p:cNvPr id="16" name="Text 14"/>
          <p:cNvSpPr/>
          <p:nvPr/>
        </p:nvSpPr>
        <p:spPr>
          <a:xfrm>
            <a:off x="8138160" y="3035808"/>
            <a:ext cx="3657600" cy="274320"/>
          </a:xfrm>
          <a:prstGeom prst="rect">
            <a:avLst/>
          </a:prstGeom>
          <a:noFill/>
          <a:ln/>
        </p:spPr>
        <p:txBody>
          <a:bodyPr wrap="square" lIns="0" tIns="0" rIns="0" bIns="0" rtlCol="0" anchor="ctr"/>
          <a:lstStyle/>
          <a:p>
            <a:pPr marL="0" indent="0" algn="ctr">
              <a:buNone/>
            </a:pPr>
            <a:r>
              <a:rPr lang="en-US" sz="1200" i="1" dirty="0">
                <a:solidFill>
                  <a:srgbClr val="8A9499"/>
                </a:solidFill>
                <a:latin typeface="Calibri" pitchFamily="34" charset="0"/>
                <a:ea typeface="Calibri" pitchFamily="34" charset="-122"/>
                <a:cs typeface="Calibri" pitchFamily="34" charset="-120"/>
              </a:rPr>
              <a:t>across three pathways</a:t>
            </a:r>
            <a:endParaRPr lang="en-US" sz="1200" dirty="0"/>
          </a:p>
        </p:txBody>
      </p:sp>
      <p:sp>
        <p:nvSpPr>
          <p:cNvPr id="17" name="Shape 15"/>
          <p:cNvSpPr/>
          <p:nvPr/>
        </p:nvSpPr>
        <p:spPr>
          <a:xfrm>
            <a:off x="548640" y="3840480"/>
            <a:ext cx="3657600" cy="109728"/>
          </a:xfrm>
          <a:prstGeom prst="rect">
            <a:avLst/>
          </a:prstGeom>
          <a:solidFill>
            <a:srgbClr val="028090"/>
          </a:solidFill>
          <a:ln/>
        </p:spPr>
        <p:txBody>
          <a:bodyPr/>
          <a:lstStyle/>
          <a:p>
            <a:endParaRPr lang="en-US"/>
          </a:p>
        </p:txBody>
      </p:sp>
      <p:sp>
        <p:nvSpPr>
          <p:cNvPr id="18" name="Shape 16"/>
          <p:cNvSpPr/>
          <p:nvPr/>
        </p:nvSpPr>
        <p:spPr>
          <a:xfrm>
            <a:off x="548640" y="3950208"/>
            <a:ext cx="3657600" cy="2176272"/>
          </a:xfrm>
          <a:prstGeom prst="rect">
            <a:avLst/>
          </a:prstGeom>
          <a:solidFill>
            <a:srgbClr val="FFFFFF"/>
          </a:solidFill>
          <a:ln w="9525">
            <a:solidFill>
              <a:srgbClr val="C9CFD3"/>
            </a:solidFill>
            <a:prstDash val="solid"/>
          </a:ln>
        </p:spPr>
        <p:txBody>
          <a:bodyPr/>
          <a:lstStyle/>
          <a:p>
            <a:endParaRPr lang="en-US"/>
          </a:p>
        </p:txBody>
      </p:sp>
      <p:sp>
        <p:nvSpPr>
          <p:cNvPr id="19" name="Text 17"/>
          <p:cNvSpPr/>
          <p:nvPr/>
        </p:nvSpPr>
        <p:spPr>
          <a:xfrm>
            <a:off x="777240" y="4114800"/>
            <a:ext cx="3200400" cy="457200"/>
          </a:xfrm>
          <a:prstGeom prst="rect">
            <a:avLst/>
          </a:prstGeom>
          <a:noFill/>
          <a:ln/>
        </p:spPr>
        <p:txBody>
          <a:bodyPr wrap="square" lIns="0" tIns="0" rIns="0" bIns="0" rtlCol="0" anchor="ctr"/>
          <a:lstStyle/>
          <a:p>
            <a:pPr marL="0" indent="0" algn="l">
              <a:buNone/>
            </a:pPr>
            <a:r>
              <a:rPr lang="en-US" sz="1300" b="1" kern="0" spc="300" dirty="0">
                <a:solidFill>
                  <a:srgbClr val="028090"/>
                </a:solidFill>
                <a:latin typeface="Calibri" pitchFamily="34" charset="0"/>
                <a:ea typeface="Calibri" pitchFamily="34" charset="-122"/>
                <a:cs typeface="Calibri" pitchFamily="34" charset="-120"/>
              </a:rPr>
              <a:t>PARALLEL INTEGRATION</a:t>
            </a:r>
            <a:endParaRPr lang="en-US" sz="1300" dirty="0"/>
          </a:p>
        </p:txBody>
      </p:sp>
      <p:sp>
        <p:nvSpPr>
          <p:cNvPr id="20" name="Text 18"/>
          <p:cNvSpPr/>
          <p:nvPr/>
        </p:nvSpPr>
        <p:spPr>
          <a:xfrm>
            <a:off x="777240" y="4617720"/>
            <a:ext cx="3200400" cy="640080"/>
          </a:xfrm>
          <a:prstGeom prst="rect">
            <a:avLst/>
          </a:prstGeom>
          <a:noFill/>
          <a:ln/>
        </p:spPr>
        <p:txBody>
          <a:bodyPr wrap="square" lIns="0" tIns="0" rIns="0" bIns="0" rtlCol="0" anchor="t"/>
          <a:lstStyle/>
          <a:p>
            <a:pPr marL="0" indent="0" algn="l">
              <a:buNone/>
            </a:pPr>
            <a:r>
              <a:rPr lang="en-US" sz="1600" b="1" i="1" dirty="0">
                <a:solidFill>
                  <a:srgbClr val="36454F"/>
                </a:solidFill>
                <a:latin typeface="Georgia" pitchFamily="34" charset="0"/>
                <a:ea typeface="Georgia" pitchFamily="34" charset="-122"/>
                <a:cs typeface="Georgia" pitchFamily="34" charset="-120"/>
              </a:rPr>
              <a:t>Mainstream financial-system participation</a:t>
            </a:r>
            <a:endParaRPr lang="en-US" sz="1600" dirty="0"/>
          </a:p>
        </p:txBody>
      </p:sp>
      <p:sp>
        <p:nvSpPr>
          <p:cNvPr id="21" name="Text 19"/>
          <p:cNvSpPr/>
          <p:nvPr/>
        </p:nvSpPr>
        <p:spPr>
          <a:xfrm>
            <a:off x="777240" y="5394960"/>
            <a:ext cx="3200400" cy="548640"/>
          </a:xfrm>
          <a:prstGeom prst="rect">
            <a:avLst/>
          </a:prstGeom>
          <a:noFill/>
          <a:ln/>
        </p:spPr>
        <p:txBody>
          <a:bodyPr wrap="square" lIns="0" tIns="0" rIns="0" bIns="0" rtlCol="0" anchor="t"/>
          <a:lstStyle/>
          <a:p>
            <a:pPr marL="0" indent="0" algn="l">
              <a:buNone/>
            </a:pPr>
            <a:r>
              <a:rPr lang="en-US" sz="1200" dirty="0">
                <a:solidFill>
                  <a:srgbClr val="4A5A66"/>
                </a:solidFill>
                <a:latin typeface="Calibri" pitchFamily="34" charset="0"/>
                <a:ea typeface="Calibri" pitchFamily="34" charset="-122"/>
                <a:cs typeface="Calibri" pitchFamily="34" charset="-120"/>
              </a:rPr>
              <a:t>Retirement accounts </a:t>
            </a:r>
            <a:endParaRPr lang="en-US" sz="1200" dirty="0"/>
          </a:p>
        </p:txBody>
      </p:sp>
      <p:sp>
        <p:nvSpPr>
          <p:cNvPr id="22" name="Shape 20"/>
          <p:cNvSpPr/>
          <p:nvPr/>
        </p:nvSpPr>
        <p:spPr>
          <a:xfrm>
            <a:off x="4343400" y="3840480"/>
            <a:ext cx="3657600" cy="109728"/>
          </a:xfrm>
          <a:prstGeom prst="rect">
            <a:avLst/>
          </a:prstGeom>
          <a:solidFill>
            <a:srgbClr val="028090"/>
          </a:solidFill>
          <a:ln/>
        </p:spPr>
        <p:txBody>
          <a:bodyPr/>
          <a:lstStyle/>
          <a:p>
            <a:endParaRPr lang="en-US"/>
          </a:p>
        </p:txBody>
      </p:sp>
      <p:sp>
        <p:nvSpPr>
          <p:cNvPr id="23" name="Shape 21"/>
          <p:cNvSpPr/>
          <p:nvPr/>
        </p:nvSpPr>
        <p:spPr>
          <a:xfrm>
            <a:off x="4343400" y="3950208"/>
            <a:ext cx="3657600" cy="2176272"/>
          </a:xfrm>
          <a:prstGeom prst="rect">
            <a:avLst/>
          </a:prstGeom>
          <a:solidFill>
            <a:srgbClr val="FFFFFF"/>
          </a:solidFill>
          <a:ln w="9525">
            <a:solidFill>
              <a:srgbClr val="C9CFD3"/>
            </a:solidFill>
            <a:prstDash val="solid"/>
          </a:ln>
        </p:spPr>
        <p:txBody>
          <a:bodyPr/>
          <a:lstStyle/>
          <a:p>
            <a:endParaRPr lang="en-US"/>
          </a:p>
        </p:txBody>
      </p:sp>
      <p:sp>
        <p:nvSpPr>
          <p:cNvPr id="24" name="Text 22"/>
          <p:cNvSpPr/>
          <p:nvPr/>
        </p:nvSpPr>
        <p:spPr>
          <a:xfrm>
            <a:off x="4572000" y="4114800"/>
            <a:ext cx="3200400" cy="457200"/>
          </a:xfrm>
          <a:prstGeom prst="rect">
            <a:avLst/>
          </a:prstGeom>
          <a:noFill/>
          <a:ln/>
        </p:spPr>
        <p:txBody>
          <a:bodyPr wrap="square" lIns="0" tIns="0" rIns="0" bIns="0" rtlCol="0" anchor="ctr"/>
          <a:lstStyle/>
          <a:p>
            <a:pPr marL="0" indent="0" algn="l">
              <a:buNone/>
            </a:pPr>
            <a:r>
              <a:rPr lang="en-US" sz="1300" b="1" kern="0" spc="300" dirty="0">
                <a:solidFill>
                  <a:srgbClr val="028090"/>
                </a:solidFill>
                <a:latin typeface="Calibri" pitchFamily="34" charset="0"/>
                <a:ea typeface="Calibri" pitchFamily="34" charset="-122"/>
                <a:cs typeface="Calibri" pitchFamily="34" charset="-120"/>
              </a:rPr>
              <a:t>DOWNWARD ASSIMILATION</a:t>
            </a:r>
            <a:endParaRPr lang="en-US" sz="1300" dirty="0"/>
          </a:p>
        </p:txBody>
      </p:sp>
      <p:sp>
        <p:nvSpPr>
          <p:cNvPr id="25" name="Text 23"/>
          <p:cNvSpPr/>
          <p:nvPr/>
        </p:nvSpPr>
        <p:spPr>
          <a:xfrm>
            <a:off x="4572000" y="4617720"/>
            <a:ext cx="3200400" cy="640080"/>
          </a:xfrm>
          <a:prstGeom prst="rect">
            <a:avLst/>
          </a:prstGeom>
          <a:noFill/>
          <a:ln/>
        </p:spPr>
        <p:txBody>
          <a:bodyPr wrap="square" lIns="0" tIns="0" rIns="0" bIns="0" rtlCol="0" anchor="t"/>
          <a:lstStyle/>
          <a:p>
            <a:pPr marL="0" indent="0" algn="l">
              <a:buNone/>
            </a:pPr>
            <a:r>
              <a:rPr lang="en-US" sz="1600" b="1" i="1" dirty="0">
                <a:solidFill>
                  <a:srgbClr val="36454F"/>
                </a:solidFill>
                <a:latin typeface="Georgia" pitchFamily="34" charset="0"/>
                <a:ea typeface="Georgia" pitchFamily="34" charset="-122"/>
                <a:cs typeface="Georgia" pitchFamily="34" charset="-120"/>
              </a:rPr>
              <a:t>Structural exclusion from mainstream finance</a:t>
            </a:r>
            <a:endParaRPr lang="en-US" sz="1600" dirty="0"/>
          </a:p>
        </p:txBody>
      </p:sp>
      <p:sp>
        <p:nvSpPr>
          <p:cNvPr id="26" name="Text 24"/>
          <p:cNvSpPr/>
          <p:nvPr/>
        </p:nvSpPr>
        <p:spPr>
          <a:xfrm>
            <a:off x="4572000" y="5394960"/>
            <a:ext cx="3200400" cy="548640"/>
          </a:xfrm>
          <a:prstGeom prst="rect">
            <a:avLst/>
          </a:prstGeom>
          <a:noFill/>
          <a:ln/>
        </p:spPr>
        <p:txBody>
          <a:bodyPr wrap="square" lIns="0" tIns="0" rIns="0" bIns="0" rtlCol="0" anchor="t"/>
          <a:lstStyle/>
          <a:p>
            <a:pPr marL="0" indent="0" algn="l">
              <a:buNone/>
            </a:pPr>
            <a:r>
              <a:rPr lang="en-US" sz="1200" dirty="0">
                <a:solidFill>
                  <a:srgbClr val="4A5A66"/>
                </a:solidFill>
                <a:latin typeface="Calibri" pitchFamily="34" charset="0"/>
                <a:ea typeface="Calibri" pitchFamily="34" charset="-122"/>
                <a:cs typeface="Calibri" pitchFamily="34" charset="-120"/>
              </a:rPr>
              <a:t>Credit denial </a:t>
            </a:r>
            <a:endParaRPr lang="en-US" sz="1200" dirty="0"/>
          </a:p>
        </p:txBody>
      </p:sp>
      <p:sp>
        <p:nvSpPr>
          <p:cNvPr id="27" name="Shape 25"/>
          <p:cNvSpPr/>
          <p:nvPr/>
        </p:nvSpPr>
        <p:spPr>
          <a:xfrm>
            <a:off x="8138160" y="3840480"/>
            <a:ext cx="3657600" cy="109728"/>
          </a:xfrm>
          <a:prstGeom prst="rect">
            <a:avLst/>
          </a:prstGeom>
          <a:solidFill>
            <a:srgbClr val="028090"/>
          </a:solidFill>
          <a:ln/>
        </p:spPr>
        <p:txBody>
          <a:bodyPr/>
          <a:lstStyle/>
          <a:p>
            <a:endParaRPr lang="en-US"/>
          </a:p>
        </p:txBody>
      </p:sp>
      <p:sp>
        <p:nvSpPr>
          <p:cNvPr id="28" name="Shape 26"/>
          <p:cNvSpPr/>
          <p:nvPr/>
        </p:nvSpPr>
        <p:spPr>
          <a:xfrm>
            <a:off x="8138160" y="3950208"/>
            <a:ext cx="3657600" cy="2176272"/>
          </a:xfrm>
          <a:prstGeom prst="rect">
            <a:avLst/>
          </a:prstGeom>
          <a:solidFill>
            <a:srgbClr val="FFFFFF"/>
          </a:solidFill>
          <a:ln w="9525">
            <a:solidFill>
              <a:srgbClr val="C9CFD3"/>
            </a:solidFill>
            <a:prstDash val="solid"/>
          </a:ln>
        </p:spPr>
        <p:txBody>
          <a:bodyPr/>
          <a:lstStyle/>
          <a:p>
            <a:endParaRPr lang="en-US"/>
          </a:p>
        </p:txBody>
      </p:sp>
      <p:sp>
        <p:nvSpPr>
          <p:cNvPr id="29" name="Text 27"/>
          <p:cNvSpPr/>
          <p:nvPr/>
        </p:nvSpPr>
        <p:spPr>
          <a:xfrm>
            <a:off x="8366760" y="4114800"/>
            <a:ext cx="3200400" cy="457200"/>
          </a:xfrm>
          <a:prstGeom prst="rect">
            <a:avLst/>
          </a:prstGeom>
          <a:noFill/>
          <a:ln/>
        </p:spPr>
        <p:txBody>
          <a:bodyPr wrap="square" lIns="0" tIns="0" rIns="0" bIns="0" rtlCol="0" anchor="ctr"/>
          <a:lstStyle/>
          <a:p>
            <a:pPr marL="0" indent="0" algn="l">
              <a:buNone/>
            </a:pPr>
            <a:r>
              <a:rPr lang="en-US" sz="1300" b="1" kern="0" spc="300" dirty="0">
                <a:solidFill>
                  <a:srgbClr val="028090"/>
                </a:solidFill>
                <a:latin typeface="Calibri" pitchFamily="34" charset="0"/>
                <a:ea typeface="Calibri" pitchFamily="34" charset="-122"/>
                <a:cs typeface="Calibri" pitchFamily="34" charset="-120"/>
              </a:rPr>
              <a:t>SELECTIVE ASSIMILATION</a:t>
            </a:r>
            <a:endParaRPr lang="en-US" sz="1300" dirty="0"/>
          </a:p>
        </p:txBody>
      </p:sp>
      <p:sp>
        <p:nvSpPr>
          <p:cNvPr id="30" name="Text 28"/>
          <p:cNvSpPr/>
          <p:nvPr/>
        </p:nvSpPr>
        <p:spPr>
          <a:xfrm>
            <a:off x="8366760" y="4617720"/>
            <a:ext cx="3200400" cy="640080"/>
          </a:xfrm>
          <a:prstGeom prst="rect">
            <a:avLst/>
          </a:prstGeom>
          <a:noFill/>
          <a:ln/>
        </p:spPr>
        <p:txBody>
          <a:bodyPr wrap="square" lIns="0" tIns="0" rIns="0" bIns="0" rtlCol="0" anchor="t"/>
          <a:lstStyle/>
          <a:p>
            <a:pPr marL="0" indent="0" algn="l">
              <a:buNone/>
            </a:pPr>
            <a:r>
              <a:rPr lang="en-US" sz="1600" b="1" i="1" dirty="0">
                <a:solidFill>
                  <a:srgbClr val="36454F"/>
                </a:solidFill>
                <a:latin typeface="Georgia" pitchFamily="34" charset="0"/>
                <a:ea typeface="Georgia" pitchFamily="34" charset="-122"/>
                <a:cs typeface="Georgia" pitchFamily="34" charset="-120"/>
              </a:rPr>
              <a:t>Asset accumulation despite barriers</a:t>
            </a:r>
            <a:endParaRPr lang="en-US" sz="1600" dirty="0"/>
          </a:p>
        </p:txBody>
      </p:sp>
      <p:sp>
        <p:nvSpPr>
          <p:cNvPr id="31" name="Text 29"/>
          <p:cNvSpPr/>
          <p:nvPr/>
        </p:nvSpPr>
        <p:spPr>
          <a:xfrm>
            <a:off x="8366760" y="5394960"/>
            <a:ext cx="3200400" cy="548640"/>
          </a:xfrm>
          <a:prstGeom prst="rect">
            <a:avLst/>
          </a:prstGeom>
          <a:noFill/>
          <a:ln/>
        </p:spPr>
        <p:txBody>
          <a:bodyPr wrap="square" lIns="0" tIns="0" rIns="0" bIns="0" rtlCol="0" anchor="t"/>
          <a:lstStyle/>
          <a:p>
            <a:pPr marL="0" indent="0" algn="l">
              <a:buNone/>
            </a:pPr>
            <a:r>
              <a:rPr lang="en-US" sz="1200" dirty="0">
                <a:solidFill>
                  <a:srgbClr val="4A5A66"/>
                </a:solidFill>
                <a:latin typeface="Calibri" pitchFamily="34" charset="0"/>
                <a:ea typeface="Calibri" pitchFamily="34" charset="-122"/>
                <a:cs typeface="Calibri" pitchFamily="34" charset="-120"/>
              </a:rPr>
              <a:t>Homeownership</a:t>
            </a:r>
            <a:endParaRPr lang="en-US" sz="1200" dirty="0"/>
          </a:p>
        </p:txBody>
      </p:sp>
      <p:sp>
        <p:nvSpPr>
          <p:cNvPr id="32" name="Text 30"/>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5 / 12</a:t>
            </a:r>
            <a:endParaRPr lang="en-US" sz="1000" dirty="0"/>
          </a:p>
        </p:txBody>
      </p:sp>
      <p:sp>
        <p:nvSpPr>
          <p:cNvPr id="33" name="Text 31"/>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Results: The Great Equalizer</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Origin region exerts no independent predictive power</a:t>
            </a:r>
            <a:endParaRPr lang="en-US" sz="1400" dirty="0"/>
          </a:p>
        </p:txBody>
      </p:sp>
      <p:sp>
        <p:nvSpPr>
          <p:cNvPr id="5" name="Text 3"/>
          <p:cNvSpPr/>
          <p:nvPr/>
        </p:nvSpPr>
        <p:spPr>
          <a:xfrm>
            <a:off x="548640" y="1737360"/>
            <a:ext cx="11064240" cy="640080"/>
          </a:xfrm>
          <a:prstGeom prst="rect">
            <a:avLst/>
          </a:prstGeom>
          <a:noFill/>
          <a:ln/>
        </p:spPr>
        <p:txBody>
          <a:bodyPr wrap="square" lIns="0" tIns="0" rIns="0" bIns="0" rtlCol="0" anchor="ctr"/>
          <a:lstStyle/>
          <a:p>
            <a:pPr marL="0" indent="0" algn="l">
              <a:buNone/>
            </a:pPr>
            <a:r>
              <a:rPr lang="en-US" sz="2800" i="1" dirty="0">
                <a:solidFill>
                  <a:srgbClr val="8A9499"/>
                </a:solidFill>
                <a:latin typeface="Georgia" pitchFamily="34" charset="0"/>
                <a:ea typeface="Georgia" pitchFamily="34" charset="-122"/>
                <a:cs typeface="Georgia" pitchFamily="34" charset="-120"/>
              </a:rPr>
              <a:t>After controls,</a:t>
            </a:r>
            <a:endParaRPr lang="en-US" sz="2800" dirty="0"/>
          </a:p>
        </p:txBody>
      </p:sp>
      <p:sp>
        <p:nvSpPr>
          <p:cNvPr id="6" name="Text 4"/>
          <p:cNvSpPr/>
          <p:nvPr/>
        </p:nvSpPr>
        <p:spPr>
          <a:xfrm>
            <a:off x="548640" y="2377440"/>
            <a:ext cx="11064240" cy="1005840"/>
          </a:xfrm>
          <a:prstGeom prst="rect">
            <a:avLst/>
          </a:prstGeom>
          <a:noFill/>
          <a:ln/>
        </p:spPr>
        <p:txBody>
          <a:bodyPr wrap="square" lIns="0" tIns="0" rIns="0" bIns="0" rtlCol="0" anchor="ctr"/>
          <a:lstStyle/>
          <a:p>
            <a:pPr marL="0" indent="0" algn="l">
              <a:buNone/>
            </a:pPr>
            <a:r>
              <a:rPr lang="en-US" sz="4400" b="1" i="1" dirty="0">
                <a:solidFill>
                  <a:srgbClr val="028090"/>
                </a:solidFill>
                <a:latin typeface="Georgia" pitchFamily="34" charset="0"/>
                <a:ea typeface="Georgia" pitchFamily="34" charset="-122"/>
                <a:cs typeface="Georgia" pitchFamily="34" charset="-120"/>
              </a:rPr>
              <a:t>origin-region differences vanish.</a:t>
            </a:r>
            <a:endParaRPr lang="en-US" sz="4400" dirty="0"/>
          </a:p>
        </p:txBody>
      </p:sp>
      <p:sp>
        <p:nvSpPr>
          <p:cNvPr id="7" name="Shape 5"/>
          <p:cNvSpPr/>
          <p:nvPr/>
        </p:nvSpPr>
        <p:spPr>
          <a:xfrm>
            <a:off x="548640" y="3611880"/>
            <a:ext cx="1371600" cy="54864"/>
          </a:xfrm>
          <a:prstGeom prst="rect">
            <a:avLst/>
          </a:prstGeom>
          <a:solidFill>
            <a:srgbClr val="028090"/>
          </a:solidFill>
          <a:ln/>
        </p:spPr>
        <p:txBody>
          <a:bodyPr/>
          <a:lstStyle/>
          <a:p>
            <a:endParaRPr lang="en-US"/>
          </a:p>
        </p:txBody>
      </p:sp>
      <p:sp>
        <p:nvSpPr>
          <p:cNvPr id="8" name="Text 6"/>
          <p:cNvSpPr/>
          <p:nvPr/>
        </p:nvSpPr>
        <p:spPr>
          <a:xfrm>
            <a:off x="548640" y="4023360"/>
            <a:ext cx="3657600" cy="640080"/>
          </a:xfrm>
          <a:prstGeom prst="rect">
            <a:avLst/>
          </a:prstGeom>
          <a:noFill/>
          <a:ln/>
        </p:spPr>
        <p:txBody>
          <a:bodyPr wrap="square" lIns="0" tIns="0" rIns="0" bIns="0" rtlCol="0" anchor="ctr"/>
          <a:lstStyle/>
          <a:p>
            <a:pPr marL="0" indent="0" algn="l">
              <a:buNone/>
            </a:pPr>
            <a:r>
              <a:rPr lang="en-US" sz="3200" b="1" i="1" dirty="0">
                <a:solidFill>
                  <a:srgbClr val="028090"/>
                </a:solidFill>
                <a:latin typeface="Georgia" pitchFamily="34" charset="0"/>
                <a:ea typeface="Georgia" pitchFamily="34" charset="-122"/>
                <a:cs typeface="Georgia" pitchFamily="34" charset="-120"/>
              </a:rPr>
              <a:t>→</a:t>
            </a:r>
            <a:endParaRPr lang="en-US" sz="3200" dirty="0"/>
          </a:p>
        </p:txBody>
      </p:sp>
      <p:sp>
        <p:nvSpPr>
          <p:cNvPr id="9" name="Text 7"/>
          <p:cNvSpPr/>
          <p:nvPr/>
        </p:nvSpPr>
        <p:spPr>
          <a:xfrm>
            <a:off x="548640" y="4663440"/>
            <a:ext cx="3657600" cy="457200"/>
          </a:xfrm>
          <a:prstGeom prst="rect">
            <a:avLst/>
          </a:prstGeom>
          <a:noFill/>
          <a:ln/>
        </p:spPr>
        <p:txBody>
          <a:bodyPr wrap="square" lIns="0" tIns="0" rIns="0" bIns="0" rtlCol="0" anchor="ctr"/>
          <a:lstStyle/>
          <a:p>
            <a:pPr marL="0" indent="0" algn="l">
              <a:buNone/>
            </a:pPr>
            <a:r>
              <a:rPr lang="en-US" sz="1600" b="1" dirty="0">
                <a:solidFill>
                  <a:srgbClr val="36454F"/>
                </a:solidFill>
                <a:latin typeface="Georgia" pitchFamily="34" charset="0"/>
                <a:ea typeface="Georgia" pitchFamily="34" charset="-122"/>
                <a:cs typeface="Georgia" pitchFamily="34" charset="-120"/>
              </a:rPr>
              <a:t>Surface differences disappear</a:t>
            </a:r>
            <a:endParaRPr lang="en-US" sz="1600" dirty="0"/>
          </a:p>
        </p:txBody>
      </p:sp>
      <p:sp>
        <p:nvSpPr>
          <p:cNvPr id="10" name="Text 8"/>
          <p:cNvSpPr/>
          <p:nvPr/>
        </p:nvSpPr>
        <p:spPr>
          <a:xfrm>
            <a:off x="548640" y="5120640"/>
            <a:ext cx="3657600" cy="1097280"/>
          </a:xfrm>
          <a:prstGeom prst="rect">
            <a:avLst/>
          </a:prstGeom>
          <a:noFill/>
          <a:ln/>
        </p:spPr>
        <p:txBody>
          <a:bodyPr wrap="square" lIns="0" tIns="0" rIns="0" bIns="0" rtlCol="0" anchor="t"/>
          <a:lstStyle/>
          <a:p>
            <a:pPr marL="0" indent="0" algn="l">
              <a:buNone/>
            </a:pPr>
            <a:r>
              <a:rPr lang="en-US" sz="1200" dirty="0">
                <a:solidFill>
                  <a:srgbClr val="4A5A66"/>
                </a:solidFill>
                <a:latin typeface="Calibri" pitchFamily="34" charset="0"/>
                <a:ea typeface="Calibri" pitchFamily="34" charset="-122"/>
                <a:cs typeface="Calibri" pitchFamily="34" charset="-120"/>
              </a:rPr>
              <a:t>Raw prevalence varies by group, but once education, income, and time in U.S. are added, gaps shrink to noise.</a:t>
            </a:r>
            <a:endParaRPr lang="en-US" sz="1200" dirty="0"/>
          </a:p>
        </p:txBody>
      </p:sp>
      <p:sp>
        <p:nvSpPr>
          <p:cNvPr id="11" name="Text 9"/>
          <p:cNvSpPr/>
          <p:nvPr/>
        </p:nvSpPr>
        <p:spPr>
          <a:xfrm>
            <a:off x="4343400" y="4023360"/>
            <a:ext cx="3657600" cy="640080"/>
          </a:xfrm>
          <a:prstGeom prst="rect">
            <a:avLst/>
          </a:prstGeom>
          <a:noFill/>
          <a:ln/>
        </p:spPr>
        <p:txBody>
          <a:bodyPr wrap="square" lIns="0" tIns="0" rIns="0" bIns="0" rtlCol="0" anchor="ctr"/>
          <a:lstStyle/>
          <a:p>
            <a:pPr marL="0" indent="0" algn="l">
              <a:buNone/>
            </a:pPr>
            <a:r>
              <a:rPr lang="en-US" sz="3200" b="1" i="1" dirty="0">
                <a:solidFill>
                  <a:srgbClr val="028090"/>
                </a:solidFill>
                <a:latin typeface="Georgia" pitchFamily="34" charset="0"/>
                <a:ea typeface="Georgia" pitchFamily="34" charset="-122"/>
                <a:cs typeface="Georgia" pitchFamily="34" charset="-120"/>
              </a:rPr>
              <a:t>≈ 1.0</a:t>
            </a:r>
            <a:endParaRPr lang="en-US" sz="3200" dirty="0"/>
          </a:p>
        </p:txBody>
      </p:sp>
      <p:sp>
        <p:nvSpPr>
          <p:cNvPr id="12" name="Text 10"/>
          <p:cNvSpPr/>
          <p:nvPr/>
        </p:nvSpPr>
        <p:spPr>
          <a:xfrm>
            <a:off x="4343400" y="4663440"/>
            <a:ext cx="3657600" cy="457200"/>
          </a:xfrm>
          <a:prstGeom prst="rect">
            <a:avLst/>
          </a:prstGeom>
          <a:noFill/>
          <a:ln/>
        </p:spPr>
        <p:txBody>
          <a:bodyPr wrap="square" lIns="0" tIns="0" rIns="0" bIns="0" rtlCol="0" anchor="ctr"/>
          <a:lstStyle/>
          <a:p>
            <a:pPr marL="0" indent="0" algn="l">
              <a:buNone/>
            </a:pPr>
            <a:r>
              <a:rPr lang="en-US" sz="1600" b="1" dirty="0">
                <a:solidFill>
                  <a:srgbClr val="36454F"/>
                </a:solidFill>
                <a:latin typeface="Georgia" pitchFamily="34" charset="0"/>
                <a:ea typeface="Georgia" pitchFamily="34" charset="-122"/>
                <a:cs typeface="Georgia" pitchFamily="34" charset="-120"/>
              </a:rPr>
              <a:t>Odds ratios cluster near null</a:t>
            </a:r>
            <a:endParaRPr lang="en-US" sz="1600" dirty="0"/>
          </a:p>
        </p:txBody>
      </p:sp>
      <p:sp>
        <p:nvSpPr>
          <p:cNvPr id="13" name="Text 11"/>
          <p:cNvSpPr/>
          <p:nvPr/>
        </p:nvSpPr>
        <p:spPr>
          <a:xfrm>
            <a:off x="4343400" y="5120640"/>
            <a:ext cx="3657600" cy="1097280"/>
          </a:xfrm>
          <a:prstGeom prst="rect">
            <a:avLst/>
          </a:prstGeom>
          <a:noFill/>
          <a:ln/>
        </p:spPr>
        <p:txBody>
          <a:bodyPr wrap="square" lIns="0" tIns="0" rIns="0" bIns="0" rtlCol="0" anchor="t"/>
          <a:lstStyle/>
          <a:p>
            <a:pPr marL="0" indent="0" algn="l">
              <a:buNone/>
            </a:pPr>
            <a:r>
              <a:rPr lang="en-US" sz="1200" dirty="0">
                <a:solidFill>
                  <a:srgbClr val="4A5A66"/>
                </a:solidFill>
                <a:latin typeface="Calibri" pitchFamily="34" charset="0"/>
                <a:ea typeface="Calibri" pitchFamily="34" charset="-122"/>
                <a:cs typeface="Calibri" pitchFamily="34" charset="-120"/>
              </a:rPr>
              <a:t>All origin-region coefficients sit within tight bands of the no-effect line; confidence intervals span both directions.</a:t>
            </a:r>
            <a:endParaRPr lang="en-US" sz="1200" dirty="0"/>
          </a:p>
        </p:txBody>
      </p:sp>
      <p:sp>
        <p:nvSpPr>
          <p:cNvPr id="14" name="Text 12"/>
          <p:cNvSpPr/>
          <p:nvPr/>
        </p:nvSpPr>
        <p:spPr>
          <a:xfrm>
            <a:off x="8138160" y="4023360"/>
            <a:ext cx="3657600" cy="640080"/>
          </a:xfrm>
          <a:prstGeom prst="rect">
            <a:avLst/>
          </a:prstGeom>
          <a:noFill/>
          <a:ln/>
        </p:spPr>
        <p:txBody>
          <a:bodyPr wrap="square" lIns="0" tIns="0" rIns="0" bIns="0" rtlCol="0" anchor="ctr"/>
          <a:lstStyle/>
          <a:p>
            <a:pPr marL="0" indent="0" algn="l">
              <a:buNone/>
            </a:pPr>
            <a:r>
              <a:rPr lang="en-US" sz="3200" b="1" i="1" dirty="0">
                <a:solidFill>
                  <a:srgbClr val="028090"/>
                </a:solidFill>
                <a:latin typeface="Georgia" pitchFamily="34" charset="0"/>
                <a:ea typeface="Georgia" pitchFamily="34" charset="-122"/>
                <a:cs typeface="Georgia" pitchFamily="34" charset="-120"/>
              </a:rPr>
              <a:t>p &gt; 0.4</a:t>
            </a:r>
            <a:endParaRPr lang="en-US" sz="3200" dirty="0"/>
          </a:p>
        </p:txBody>
      </p:sp>
      <p:sp>
        <p:nvSpPr>
          <p:cNvPr id="15" name="Text 13"/>
          <p:cNvSpPr/>
          <p:nvPr/>
        </p:nvSpPr>
        <p:spPr>
          <a:xfrm>
            <a:off x="8138160" y="4663440"/>
            <a:ext cx="3657600" cy="457200"/>
          </a:xfrm>
          <a:prstGeom prst="rect">
            <a:avLst/>
          </a:prstGeom>
          <a:noFill/>
          <a:ln/>
        </p:spPr>
        <p:txBody>
          <a:bodyPr wrap="square" lIns="0" tIns="0" rIns="0" bIns="0" rtlCol="0" anchor="ctr"/>
          <a:lstStyle/>
          <a:p>
            <a:pPr marL="0" indent="0" algn="l">
              <a:buNone/>
            </a:pPr>
            <a:r>
              <a:rPr lang="en-US" sz="1600" b="1" dirty="0">
                <a:solidFill>
                  <a:srgbClr val="36454F"/>
                </a:solidFill>
                <a:latin typeface="Georgia" pitchFamily="34" charset="0"/>
                <a:ea typeface="Georgia" pitchFamily="34" charset="-122"/>
                <a:cs typeface="Georgia" pitchFamily="34" charset="-120"/>
              </a:rPr>
              <a:t>No significant differences</a:t>
            </a:r>
            <a:endParaRPr lang="en-US" sz="1600" dirty="0"/>
          </a:p>
        </p:txBody>
      </p:sp>
      <p:sp>
        <p:nvSpPr>
          <p:cNvPr id="16" name="Text 14"/>
          <p:cNvSpPr/>
          <p:nvPr/>
        </p:nvSpPr>
        <p:spPr>
          <a:xfrm>
            <a:off x="8138160" y="5120640"/>
            <a:ext cx="3657600" cy="1097280"/>
          </a:xfrm>
          <a:prstGeom prst="rect">
            <a:avLst/>
          </a:prstGeom>
          <a:noFill/>
          <a:ln/>
        </p:spPr>
        <p:txBody>
          <a:bodyPr wrap="square" lIns="0" tIns="0" rIns="0" bIns="0" rtlCol="0" anchor="t"/>
          <a:lstStyle/>
          <a:p>
            <a:pPr marL="0" indent="0" algn="l">
              <a:buNone/>
            </a:pPr>
            <a:r>
              <a:rPr lang="en-US" sz="1200" dirty="0">
                <a:solidFill>
                  <a:srgbClr val="4A5A66"/>
                </a:solidFill>
                <a:latin typeface="Calibri" pitchFamily="34" charset="0"/>
                <a:ea typeface="Calibri" pitchFamily="34" charset="-122"/>
                <a:cs typeface="Calibri" pitchFamily="34" charset="-120"/>
              </a:rPr>
              <a:t>Across all six outcomes, every origin-region p-value exceeds the conventional 0.05 threshold.</a:t>
            </a:r>
            <a:endParaRPr lang="en-US" sz="1200" dirty="0"/>
          </a:p>
        </p:txBody>
      </p:sp>
      <p:sp>
        <p:nvSpPr>
          <p:cNvPr id="17" name="Text 15"/>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6 / 12</a:t>
            </a:r>
            <a:endParaRPr lang="en-US" sz="1000" dirty="0"/>
          </a:p>
        </p:txBody>
      </p:sp>
      <p:sp>
        <p:nvSpPr>
          <p:cNvPr id="18" name="Text 16"/>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Three Hypotheses, Three Models</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One model per pathway — full specification with human-capital controls</a:t>
            </a:r>
            <a:endParaRPr lang="en-US" sz="1400" dirty="0"/>
          </a:p>
        </p:txBody>
      </p:sp>
      <p:sp>
        <p:nvSpPr>
          <p:cNvPr id="5" name="Text 3"/>
          <p:cNvSpPr/>
          <p:nvPr/>
        </p:nvSpPr>
        <p:spPr>
          <a:xfrm>
            <a:off x="548640" y="1691640"/>
            <a:ext cx="11064240" cy="411480"/>
          </a:xfrm>
          <a:prstGeom prst="rect">
            <a:avLst/>
          </a:prstGeom>
          <a:noFill/>
          <a:ln/>
        </p:spPr>
        <p:txBody>
          <a:bodyPr wrap="square" lIns="0" tIns="0" rIns="0" bIns="0" rtlCol="0" anchor="ctr"/>
          <a:lstStyle/>
          <a:p>
            <a:pPr marL="0" indent="0">
              <a:buNone/>
            </a:pPr>
            <a:r>
              <a:rPr lang="en-US" sz="1300" b="1" dirty="0">
                <a:solidFill>
                  <a:srgbClr val="36454F"/>
                </a:solidFill>
                <a:latin typeface="Calibri" pitchFamily="34" charset="0"/>
                <a:ea typeface="Calibri" pitchFamily="34" charset="-122"/>
                <a:cs typeface="Calibri" pitchFamily="34" charset="-120"/>
              </a:rPr>
              <a:t>Each model: </a:t>
            </a:r>
            <a:r>
              <a:rPr lang="en-US" sz="1300" dirty="0">
                <a:solidFill>
                  <a:srgbClr val="4A5A66"/>
                </a:solidFill>
                <a:latin typeface="Calibri" pitchFamily="34" charset="0"/>
                <a:ea typeface="Calibri" pitchFamily="34" charset="-122"/>
                <a:cs typeface="Calibri" pitchFamily="34" charset="-120"/>
              </a:rPr>
              <a:t>outcome ~ origin region + years in U.S. + age + education + marital status + log income.</a:t>
            </a:r>
            <a:endParaRPr lang="en-US" sz="1300" dirty="0"/>
          </a:p>
        </p:txBody>
      </p:sp>
      <p:sp>
        <p:nvSpPr>
          <p:cNvPr id="6" name="Shape 4"/>
          <p:cNvSpPr/>
          <p:nvPr/>
        </p:nvSpPr>
        <p:spPr>
          <a:xfrm>
            <a:off x="548640" y="2103120"/>
            <a:ext cx="11064240" cy="411480"/>
          </a:xfrm>
          <a:prstGeom prst="rect">
            <a:avLst/>
          </a:prstGeom>
          <a:solidFill>
            <a:srgbClr val="36454F"/>
          </a:solidFill>
          <a:ln/>
        </p:spPr>
        <p:txBody>
          <a:bodyPr/>
          <a:lstStyle/>
          <a:p>
            <a:endParaRPr lang="en-US"/>
          </a:p>
        </p:txBody>
      </p:sp>
      <p:sp>
        <p:nvSpPr>
          <p:cNvPr id="7" name="Text 5"/>
          <p:cNvSpPr/>
          <p:nvPr/>
        </p:nvSpPr>
        <p:spPr>
          <a:xfrm>
            <a:off x="548640" y="2103120"/>
            <a:ext cx="411480" cy="411480"/>
          </a:xfrm>
          <a:prstGeom prst="rect">
            <a:avLst/>
          </a:prstGeom>
          <a:noFill/>
          <a:ln/>
        </p:spPr>
        <p:txBody>
          <a:bodyPr wrap="square" lIns="0" tIns="0" rIns="0" bIns="0" rtlCol="0" anchor="ctr"/>
          <a:lstStyle/>
          <a:p>
            <a:pPr marL="0" indent="0" algn="ctr">
              <a:buNone/>
            </a:pPr>
            <a:r>
              <a:rPr lang="en-US" sz="1100" b="1" kern="0" spc="300" dirty="0">
                <a:solidFill>
                  <a:srgbClr val="B8DEE2"/>
                </a:solidFill>
                <a:latin typeface="Calibri" pitchFamily="34" charset="0"/>
                <a:ea typeface="Calibri" pitchFamily="34" charset="-122"/>
                <a:cs typeface="Calibri" pitchFamily="34" charset="-120"/>
              </a:rPr>
              <a:t>#</a:t>
            </a:r>
            <a:endParaRPr lang="en-US" sz="1100" dirty="0"/>
          </a:p>
        </p:txBody>
      </p:sp>
      <p:sp>
        <p:nvSpPr>
          <p:cNvPr id="8" name="Text 6"/>
          <p:cNvSpPr/>
          <p:nvPr/>
        </p:nvSpPr>
        <p:spPr>
          <a:xfrm>
            <a:off x="960120" y="2103120"/>
            <a:ext cx="1371600" cy="411480"/>
          </a:xfrm>
          <a:prstGeom prst="rect">
            <a:avLst/>
          </a:prstGeom>
          <a:noFill/>
          <a:ln/>
        </p:spPr>
        <p:txBody>
          <a:bodyPr wrap="square" lIns="0" tIns="0" rIns="0" bIns="0" rtlCol="0" anchor="ctr"/>
          <a:lstStyle/>
          <a:p>
            <a:pPr marL="0" indent="0" algn="l">
              <a:buNone/>
            </a:pPr>
            <a:r>
              <a:rPr lang="en-US" sz="1100" b="1" kern="0" spc="300" dirty="0">
                <a:solidFill>
                  <a:srgbClr val="B8DEE2"/>
                </a:solidFill>
                <a:latin typeface="Calibri" pitchFamily="34" charset="0"/>
                <a:ea typeface="Calibri" pitchFamily="34" charset="-122"/>
                <a:cs typeface="Calibri" pitchFamily="34" charset="-120"/>
              </a:rPr>
              <a:t>Outcome</a:t>
            </a:r>
            <a:endParaRPr lang="en-US" sz="1100" dirty="0"/>
          </a:p>
        </p:txBody>
      </p:sp>
      <p:sp>
        <p:nvSpPr>
          <p:cNvPr id="9" name="Text 7"/>
          <p:cNvSpPr/>
          <p:nvPr/>
        </p:nvSpPr>
        <p:spPr>
          <a:xfrm>
            <a:off x="2331720" y="2103120"/>
            <a:ext cx="1188720" cy="411480"/>
          </a:xfrm>
          <a:prstGeom prst="rect">
            <a:avLst/>
          </a:prstGeom>
          <a:noFill/>
          <a:ln/>
        </p:spPr>
        <p:txBody>
          <a:bodyPr wrap="square" lIns="0" tIns="0" rIns="0" bIns="0" rtlCol="0" anchor="ctr"/>
          <a:lstStyle/>
          <a:p>
            <a:pPr marL="0" indent="0" algn="l">
              <a:buNone/>
            </a:pPr>
            <a:r>
              <a:rPr lang="en-US" sz="1100" b="1" kern="0" spc="300" dirty="0">
                <a:solidFill>
                  <a:srgbClr val="B8DEE2"/>
                </a:solidFill>
                <a:latin typeface="Calibri" pitchFamily="34" charset="0"/>
                <a:ea typeface="Calibri" pitchFamily="34" charset="-122"/>
                <a:cs typeface="Calibri" pitchFamily="34" charset="-120"/>
              </a:rPr>
              <a:t>Pathway</a:t>
            </a:r>
            <a:endParaRPr lang="en-US" sz="1100" dirty="0"/>
          </a:p>
        </p:txBody>
      </p:sp>
      <p:sp>
        <p:nvSpPr>
          <p:cNvPr id="10" name="Text 8"/>
          <p:cNvSpPr/>
          <p:nvPr/>
        </p:nvSpPr>
        <p:spPr>
          <a:xfrm>
            <a:off x="3520440" y="2103120"/>
            <a:ext cx="1828800" cy="411480"/>
          </a:xfrm>
          <a:prstGeom prst="rect">
            <a:avLst/>
          </a:prstGeom>
          <a:noFill/>
          <a:ln/>
        </p:spPr>
        <p:txBody>
          <a:bodyPr wrap="square" lIns="0" tIns="0" rIns="0" bIns="0" rtlCol="0" anchor="ctr"/>
          <a:lstStyle/>
          <a:p>
            <a:pPr marL="0" indent="0" algn="l">
              <a:buNone/>
            </a:pPr>
            <a:r>
              <a:rPr lang="en-US" sz="1100" b="1" kern="0" spc="300" dirty="0">
                <a:solidFill>
                  <a:srgbClr val="B8DEE2"/>
                </a:solidFill>
                <a:latin typeface="Calibri" pitchFamily="34" charset="0"/>
                <a:ea typeface="Calibri" pitchFamily="34" charset="-122"/>
                <a:cs typeface="Calibri" pitchFamily="34" charset="-120"/>
              </a:rPr>
              <a:t>What it tests</a:t>
            </a:r>
            <a:endParaRPr lang="en-US" sz="1100" dirty="0"/>
          </a:p>
        </p:txBody>
      </p:sp>
      <p:sp>
        <p:nvSpPr>
          <p:cNvPr id="11" name="Text 9"/>
          <p:cNvSpPr/>
          <p:nvPr/>
        </p:nvSpPr>
        <p:spPr>
          <a:xfrm>
            <a:off x="5349240" y="2103120"/>
            <a:ext cx="1508760" cy="411480"/>
          </a:xfrm>
          <a:prstGeom prst="rect">
            <a:avLst/>
          </a:prstGeom>
          <a:noFill/>
          <a:ln/>
        </p:spPr>
        <p:txBody>
          <a:bodyPr wrap="square" lIns="0" tIns="0" rIns="0" bIns="0" rtlCol="0" anchor="ctr"/>
          <a:lstStyle/>
          <a:p>
            <a:pPr marL="0" indent="0" algn="l">
              <a:buNone/>
            </a:pPr>
            <a:r>
              <a:rPr lang="en-US" sz="1100" b="1" kern="0" spc="300" dirty="0">
                <a:solidFill>
                  <a:srgbClr val="B8DEE2"/>
                </a:solidFill>
                <a:latin typeface="Calibri" pitchFamily="34" charset="0"/>
                <a:ea typeface="Calibri" pitchFamily="34" charset="-122"/>
                <a:cs typeface="Calibri" pitchFamily="34" charset="-120"/>
              </a:rPr>
              <a:t>Key result</a:t>
            </a:r>
            <a:endParaRPr lang="en-US" sz="1100" dirty="0"/>
          </a:p>
        </p:txBody>
      </p:sp>
      <p:sp>
        <p:nvSpPr>
          <p:cNvPr id="12" name="Text 10"/>
          <p:cNvSpPr/>
          <p:nvPr/>
        </p:nvSpPr>
        <p:spPr>
          <a:xfrm>
            <a:off x="6858000" y="2103120"/>
            <a:ext cx="868680" cy="411480"/>
          </a:xfrm>
          <a:prstGeom prst="rect">
            <a:avLst/>
          </a:prstGeom>
          <a:noFill/>
          <a:ln/>
        </p:spPr>
        <p:txBody>
          <a:bodyPr wrap="square" lIns="0" tIns="0" rIns="0" bIns="0" rtlCol="0" anchor="ctr"/>
          <a:lstStyle/>
          <a:p>
            <a:pPr marL="0" indent="0" algn="l">
              <a:buNone/>
            </a:pPr>
            <a:r>
              <a:rPr lang="en-US" sz="1100" b="1" kern="0" spc="300" dirty="0">
                <a:solidFill>
                  <a:srgbClr val="B8DEE2"/>
                </a:solidFill>
                <a:latin typeface="Calibri" pitchFamily="34" charset="0"/>
                <a:ea typeface="Calibri" pitchFamily="34" charset="-122"/>
                <a:cs typeface="Calibri" pitchFamily="34" charset="-120"/>
              </a:rPr>
              <a:t>Sig?</a:t>
            </a:r>
            <a:endParaRPr lang="en-US" sz="1100" dirty="0"/>
          </a:p>
        </p:txBody>
      </p:sp>
      <p:sp>
        <p:nvSpPr>
          <p:cNvPr id="13" name="Text 11"/>
          <p:cNvSpPr/>
          <p:nvPr/>
        </p:nvSpPr>
        <p:spPr>
          <a:xfrm>
            <a:off x="7726680" y="2103120"/>
            <a:ext cx="3886200" cy="411480"/>
          </a:xfrm>
          <a:prstGeom prst="rect">
            <a:avLst/>
          </a:prstGeom>
          <a:noFill/>
          <a:ln/>
        </p:spPr>
        <p:txBody>
          <a:bodyPr wrap="square" lIns="0" tIns="0" rIns="0" bIns="0" rtlCol="0" anchor="ctr"/>
          <a:lstStyle/>
          <a:p>
            <a:pPr marL="0" indent="0" algn="l">
              <a:buNone/>
            </a:pPr>
            <a:r>
              <a:rPr lang="en-US" sz="1100" b="1" kern="0" spc="300" dirty="0">
                <a:solidFill>
                  <a:srgbClr val="B8DEE2"/>
                </a:solidFill>
                <a:latin typeface="Calibri" pitchFamily="34" charset="0"/>
                <a:ea typeface="Calibri" pitchFamily="34" charset="-122"/>
                <a:cs typeface="Calibri" pitchFamily="34" charset="-120"/>
              </a:rPr>
              <a:t>Reading</a:t>
            </a:r>
            <a:endParaRPr lang="en-US" sz="1100" dirty="0"/>
          </a:p>
        </p:txBody>
      </p:sp>
      <p:sp>
        <p:nvSpPr>
          <p:cNvPr id="14" name="Shape 12"/>
          <p:cNvSpPr/>
          <p:nvPr/>
        </p:nvSpPr>
        <p:spPr>
          <a:xfrm>
            <a:off x="548640" y="2514600"/>
            <a:ext cx="11064240" cy="1051560"/>
          </a:xfrm>
          <a:prstGeom prst="rect">
            <a:avLst/>
          </a:prstGeom>
          <a:solidFill>
            <a:srgbClr val="F5F5F5"/>
          </a:solidFill>
          <a:ln/>
        </p:spPr>
        <p:txBody>
          <a:bodyPr/>
          <a:lstStyle/>
          <a:p>
            <a:endParaRPr lang="en-US"/>
          </a:p>
        </p:txBody>
      </p:sp>
      <p:sp>
        <p:nvSpPr>
          <p:cNvPr id="15" name="Text 13"/>
          <p:cNvSpPr/>
          <p:nvPr/>
        </p:nvSpPr>
        <p:spPr>
          <a:xfrm>
            <a:off x="548640" y="2514600"/>
            <a:ext cx="411480" cy="1051560"/>
          </a:xfrm>
          <a:prstGeom prst="rect">
            <a:avLst/>
          </a:prstGeom>
          <a:noFill/>
          <a:ln/>
        </p:spPr>
        <p:txBody>
          <a:bodyPr wrap="square" lIns="0" tIns="0" rIns="0" bIns="0" rtlCol="0" anchor="ctr"/>
          <a:lstStyle/>
          <a:p>
            <a:pPr marL="0" indent="0" algn="ctr">
              <a:buNone/>
            </a:pPr>
            <a:r>
              <a:rPr lang="en-US" sz="2200" b="1" i="1" dirty="0">
                <a:solidFill>
                  <a:srgbClr val="028090"/>
                </a:solidFill>
                <a:latin typeface="Georgia" pitchFamily="34" charset="0"/>
                <a:ea typeface="Georgia" pitchFamily="34" charset="-122"/>
                <a:cs typeface="Georgia" pitchFamily="34" charset="-120"/>
              </a:rPr>
              <a:t>1</a:t>
            </a:r>
            <a:endParaRPr lang="en-US" sz="2200" dirty="0"/>
          </a:p>
        </p:txBody>
      </p:sp>
      <p:sp>
        <p:nvSpPr>
          <p:cNvPr id="16" name="Text 14"/>
          <p:cNvSpPr/>
          <p:nvPr/>
        </p:nvSpPr>
        <p:spPr>
          <a:xfrm>
            <a:off x="960120" y="2560320"/>
            <a:ext cx="1371600" cy="960120"/>
          </a:xfrm>
          <a:prstGeom prst="rect">
            <a:avLst/>
          </a:prstGeom>
          <a:noFill/>
          <a:ln/>
        </p:spPr>
        <p:txBody>
          <a:bodyPr wrap="square" lIns="0" tIns="0" rIns="0" bIns="0" rtlCol="0" anchor="ctr"/>
          <a:lstStyle/>
          <a:p>
            <a:pPr marL="0" indent="0" algn="l">
              <a:buNone/>
            </a:pPr>
            <a:r>
              <a:rPr lang="en-US" sz="1100" b="1" dirty="0">
                <a:solidFill>
                  <a:srgbClr val="36454F"/>
                </a:solidFill>
                <a:latin typeface="Calibri" pitchFamily="34" charset="0"/>
                <a:ea typeface="Calibri" pitchFamily="34" charset="-122"/>
                <a:cs typeface="Calibri" pitchFamily="34" charset="-120"/>
              </a:rPr>
              <a:t>Retirement</a:t>
            </a:r>
            <a:endParaRPr lang="en-US" sz="1100" dirty="0"/>
          </a:p>
          <a:p>
            <a:pPr marL="0" indent="0" algn="l">
              <a:buNone/>
            </a:pPr>
            <a:r>
              <a:rPr lang="en-US" sz="1100" b="1" dirty="0">
                <a:solidFill>
                  <a:srgbClr val="36454F"/>
                </a:solidFill>
                <a:latin typeface="Calibri" pitchFamily="34" charset="0"/>
                <a:ea typeface="Calibri" pitchFamily="34" charset="-122"/>
                <a:cs typeface="Calibri" pitchFamily="34" charset="-120"/>
              </a:rPr>
              <a:t>Account Ownership</a:t>
            </a:r>
            <a:endParaRPr lang="en-US" sz="1100" dirty="0"/>
          </a:p>
        </p:txBody>
      </p:sp>
      <p:sp>
        <p:nvSpPr>
          <p:cNvPr id="17" name="Text 15"/>
          <p:cNvSpPr/>
          <p:nvPr/>
        </p:nvSpPr>
        <p:spPr>
          <a:xfrm>
            <a:off x="2331720" y="2560320"/>
            <a:ext cx="1188720" cy="960120"/>
          </a:xfrm>
          <a:prstGeom prst="rect">
            <a:avLst/>
          </a:prstGeom>
          <a:noFill/>
          <a:ln/>
        </p:spPr>
        <p:txBody>
          <a:bodyPr wrap="square" lIns="0" tIns="0" rIns="0" bIns="0" rtlCol="0" anchor="ctr"/>
          <a:lstStyle/>
          <a:p>
            <a:pPr marL="0" indent="0" algn="l">
              <a:buNone/>
            </a:pPr>
            <a:r>
              <a:rPr lang="en-US" sz="1000" i="1" dirty="0">
                <a:solidFill>
                  <a:srgbClr val="01636F"/>
                </a:solidFill>
                <a:latin typeface="Calibri" pitchFamily="34" charset="0"/>
                <a:ea typeface="Calibri" pitchFamily="34" charset="-122"/>
                <a:cs typeface="Calibri" pitchFamily="34" charset="-120"/>
              </a:rPr>
              <a:t>Parallel</a:t>
            </a:r>
            <a:endParaRPr lang="en-US" sz="1000" dirty="0"/>
          </a:p>
          <a:p>
            <a:pPr marL="0" indent="0" algn="l">
              <a:buNone/>
            </a:pPr>
            <a:r>
              <a:rPr lang="en-US" sz="1000" i="1" dirty="0">
                <a:solidFill>
                  <a:srgbClr val="01636F"/>
                </a:solidFill>
                <a:latin typeface="Calibri" pitchFamily="34" charset="0"/>
                <a:ea typeface="Calibri" pitchFamily="34" charset="-122"/>
                <a:cs typeface="Calibri" pitchFamily="34" charset="-120"/>
              </a:rPr>
              <a:t>Integration</a:t>
            </a:r>
            <a:endParaRPr lang="en-US" sz="1000" dirty="0"/>
          </a:p>
        </p:txBody>
      </p:sp>
      <p:sp>
        <p:nvSpPr>
          <p:cNvPr id="18" name="Text 16"/>
          <p:cNvSpPr/>
          <p:nvPr/>
        </p:nvSpPr>
        <p:spPr>
          <a:xfrm>
            <a:off x="3520440" y="2560320"/>
            <a:ext cx="1828800" cy="960120"/>
          </a:xfrm>
          <a:prstGeom prst="rect">
            <a:avLst/>
          </a:prstGeom>
          <a:noFill/>
          <a:ln/>
        </p:spPr>
        <p:txBody>
          <a:bodyPr wrap="square" lIns="0" tIns="0" rIns="0" bIns="0" rtlCol="0" anchor="ctr"/>
          <a:lstStyle/>
          <a:p>
            <a:pPr marL="0" indent="0" algn="l">
              <a:buNone/>
            </a:pPr>
            <a:r>
              <a:rPr lang="en-US" sz="1000" dirty="0">
                <a:solidFill>
                  <a:srgbClr val="4A5A66"/>
                </a:solidFill>
                <a:latin typeface="Calibri" pitchFamily="34" charset="0"/>
                <a:ea typeface="Calibri" pitchFamily="34" charset="-122"/>
                <a:cs typeface="Calibri" pitchFamily="34" charset="-120"/>
              </a:rPr>
              <a:t>Whether Asian and European immigrants have elevated odds of mainstream-finance participation</a:t>
            </a:r>
            <a:endParaRPr lang="en-US" sz="1000" dirty="0"/>
          </a:p>
        </p:txBody>
      </p:sp>
      <p:sp>
        <p:nvSpPr>
          <p:cNvPr id="19" name="Text 17"/>
          <p:cNvSpPr/>
          <p:nvPr/>
        </p:nvSpPr>
        <p:spPr>
          <a:xfrm>
            <a:off x="5349240" y="2560320"/>
            <a:ext cx="1508760" cy="96012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Largest OR = 1.38</a:t>
            </a:r>
            <a:endParaRPr lang="en-US" sz="1000" dirty="0"/>
          </a:p>
          <a:p>
            <a:pPr marL="0" indent="0" algn="l">
              <a:buNone/>
            </a:pPr>
            <a:r>
              <a:rPr lang="en-US" sz="1000" dirty="0">
                <a:solidFill>
                  <a:srgbClr val="36454F"/>
                </a:solidFill>
                <a:latin typeface="Calibri" pitchFamily="34" charset="0"/>
                <a:ea typeface="Calibri" pitchFamily="34" charset="-122"/>
                <a:cs typeface="Calibri" pitchFamily="34" charset="-120"/>
              </a:rPr>
              <a:t>(Caribbean), p = 0.67</a:t>
            </a:r>
            <a:endParaRPr lang="en-US" sz="1000" dirty="0"/>
          </a:p>
        </p:txBody>
      </p:sp>
      <p:sp>
        <p:nvSpPr>
          <p:cNvPr id="20" name="Text 18"/>
          <p:cNvSpPr/>
          <p:nvPr/>
        </p:nvSpPr>
        <p:spPr>
          <a:xfrm>
            <a:off x="6858000" y="2514600"/>
            <a:ext cx="868680" cy="1051560"/>
          </a:xfrm>
          <a:prstGeom prst="rect">
            <a:avLst/>
          </a:prstGeom>
          <a:noFill/>
          <a:ln/>
        </p:spPr>
        <p:txBody>
          <a:bodyPr wrap="square" lIns="0" tIns="0" rIns="0" bIns="0" rtlCol="0" anchor="ctr"/>
          <a:lstStyle/>
          <a:p>
            <a:pPr marL="0" indent="0" algn="ctr">
              <a:buNone/>
            </a:pPr>
            <a:r>
              <a:rPr lang="en-US" sz="1800" b="1" dirty="0">
                <a:solidFill>
                  <a:srgbClr val="8A9499"/>
                </a:solidFill>
                <a:latin typeface="Georgia" pitchFamily="34" charset="0"/>
                <a:ea typeface="Georgia" pitchFamily="34" charset="-122"/>
                <a:cs typeface="Georgia" pitchFamily="34" charset="-120"/>
              </a:rPr>
              <a:t>—</a:t>
            </a:r>
            <a:endParaRPr lang="en-US" sz="1800" dirty="0"/>
          </a:p>
        </p:txBody>
      </p:sp>
      <p:sp>
        <p:nvSpPr>
          <p:cNvPr id="21" name="Text 19"/>
          <p:cNvSpPr/>
          <p:nvPr/>
        </p:nvSpPr>
        <p:spPr>
          <a:xfrm>
            <a:off x="7726680" y="2560320"/>
            <a:ext cx="3886200" cy="960120"/>
          </a:xfrm>
          <a:prstGeom prst="rect">
            <a:avLst/>
          </a:prstGeom>
          <a:noFill/>
          <a:ln/>
        </p:spPr>
        <p:txBody>
          <a:bodyPr wrap="square" lIns="0" tIns="0" rIns="0" bIns="0" rtlCol="0" anchor="ctr"/>
          <a:lstStyle/>
          <a:p>
            <a:pPr marL="0" indent="0" algn="l">
              <a:buNone/>
            </a:pPr>
            <a:r>
              <a:rPr lang="en-US" sz="1000" i="1" dirty="0">
                <a:solidFill>
                  <a:srgbClr val="4A5A66"/>
                </a:solidFill>
                <a:latin typeface="Calibri" pitchFamily="34" charset="0"/>
                <a:ea typeface="Calibri" pitchFamily="34" charset="-122"/>
                <a:cs typeface="Calibri" pitchFamily="34" charset="-120"/>
              </a:rPr>
              <a:t>No origin-region group differs significantly from the Latin American reference.</a:t>
            </a:r>
            <a:endParaRPr lang="en-US" sz="1000" dirty="0"/>
          </a:p>
        </p:txBody>
      </p:sp>
      <p:sp>
        <p:nvSpPr>
          <p:cNvPr id="22" name="Text 20"/>
          <p:cNvSpPr/>
          <p:nvPr/>
        </p:nvSpPr>
        <p:spPr>
          <a:xfrm>
            <a:off x="548640" y="3566160"/>
            <a:ext cx="411480" cy="1051560"/>
          </a:xfrm>
          <a:prstGeom prst="rect">
            <a:avLst/>
          </a:prstGeom>
          <a:noFill/>
          <a:ln/>
        </p:spPr>
        <p:txBody>
          <a:bodyPr wrap="square" lIns="0" tIns="0" rIns="0" bIns="0" rtlCol="0" anchor="ctr"/>
          <a:lstStyle/>
          <a:p>
            <a:pPr marL="0" indent="0" algn="ctr">
              <a:buNone/>
            </a:pPr>
            <a:r>
              <a:rPr lang="en-US" sz="2200" b="1" i="1" dirty="0">
                <a:solidFill>
                  <a:srgbClr val="028090"/>
                </a:solidFill>
                <a:latin typeface="Georgia" pitchFamily="34" charset="0"/>
                <a:ea typeface="Georgia" pitchFamily="34" charset="-122"/>
                <a:cs typeface="Georgia" pitchFamily="34" charset="-120"/>
              </a:rPr>
              <a:t>2</a:t>
            </a:r>
            <a:endParaRPr lang="en-US" sz="2200" dirty="0"/>
          </a:p>
        </p:txBody>
      </p:sp>
      <p:sp>
        <p:nvSpPr>
          <p:cNvPr id="23" name="Text 21"/>
          <p:cNvSpPr/>
          <p:nvPr/>
        </p:nvSpPr>
        <p:spPr>
          <a:xfrm>
            <a:off x="960120" y="3611880"/>
            <a:ext cx="1371600" cy="960120"/>
          </a:xfrm>
          <a:prstGeom prst="rect">
            <a:avLst/>
          </a:prstGeom>
          <a:noFill/>
          <a:ln/>
        </p:spPr>
        <p:txBody>
          <a:bodyPr wrap="square" lIns="0" tIns="0" rIns="0" bIns="0" rtlCol="0" anchor="ctr"/>
          <a:lstStyle/>
          <a:p>
            <a:pPr marL="0" indent="0" algn="l">
              <a:buNone/>
            </a:pPr>
            <a:r>
              <a:rPr lang="en-US" sz="1100" b="1" dirty="0">
                <a:solidFill>
                  <a:srgbClr val="36454F"/>
                </a:solidFill>
                <a:latin typeface="Calibri" pitchFamily="34" charset="0"/>
                <a:ea typeface="Calibri" pitchFamily="34" charset="-122"/>
                <a:cs typeface="Calibri" pitchFamily="34" charset="-120"/>
              </a:rPr>
              <a:t>Credit Denied</a:t>
            </a:r>
            <a:endParaRPr lang="en-US" sz="1100" dirty="0"/>
          </a:p>
          <a:p>
            <a:pPr marL="0" indent="0" algn="l">
              <a:buNone/>
            </a:pPr>
            <a:r>
              <a:rPr lang="en-US" sz="1100" b="1" dirty="0">
                <a:solidFill>
                  <a:srgbClr val="36454F"/>
                </a:solidFill>
                <a:latin typeface="Calibri" pitchFamily="34" charset="0"/>
                <a:ea typeface="Calibri" pitchFamily="34" charset="-122"/>
                <a:cs typeface="Calibri" pitchFamily="34" charset="-120"/>
              </a:rPr>
              <a:t>(past 12 months)</a:t>
            </a:r>
            <a:endParaRPr lang="en-US" sz="1100" dirty="0"/>
          </a:p>
        </p:txBody>
      </p:sp>
      <p:sp>
        <p:nvSpPr>
          <p:cNvPr id="24" name="Text 22"/>
          <p:cNvSpPr/>
          <p:nvPr/>
        </p:nvSpPr>
        <p:spPr>
          <a:xfrm>
            <a:off x="2331720" y="3611880"/>
            <a:ext cx="1188720" cy="960120"/>
          </a:xfrm>
          <a:prstGeom prst="rect">
            <a:avLst/>
          </a:prstGeom>
          <a:noFill/>
          <a:ln/>
        </p:spPr>
        <p:txBody>
          <a:bodyPr wrap="square" lIns="0" tIns="0" rIns="0" bIns="0" rtlCol="0" anchor="ctr"/>
          <a:lstStyle/>
          <a:p>
            <a:pPr marL="0" indent="0" algn="l">
              <a:buNone/>
            </a:pPr>
            <a:r>
              <a:rPr lang="en-US" sz="1000" i="1" dirty="0">
                <a:solidFill>
                  <a:srgbClr val="01636F"/>
                </a:solidFill>
                <a:latin typeface="Calibri" pitchFamily="34" charset="0"/>
                <a:ea typeface="Calibri" pitchFamily="34" charset="-122"/>
                <a:cs typeface="Calibri" pitchFamily="34" charset="-120"/>
              </a:rPr>
              <a:t>Downward</a:t>
            </a:r>
            <a:endParaRPr lang="en-US" sz="1000" dirty="0"/>
          </a:p>
          <a:p>
            <a:pPr marL="0" indent="0" algn="l">
              <a:buNone/>
            </a:pPr>
            <a:r>
              <a:rPr lang="en-US" sz="1000" i="1" dirty="0">
                <a:solidFill>
                  <a:srgbClr val="01636F"/>
                </a:solidFill>
                <a:latin typeface="Calibri" pitchFamily="34" charset="0"/>
                <a:ea typeface="Calibri" pitchFamily="34" charset="-122"/>
                <a:cs typeface="Calibri" pitchFamily="34" charset="-120"/>
              </a:rPr>
              <a:t>Assimilation</a:t>
            </a:r>
            <a:endParaRPr lang="en-US" sz="1000" dirty="0"/>
          </a:p>
        </p:txBody>
      </p:sp>
      <p:sp>
        <p:nvSpPr>
          <p:cNvPr id="25" name="Text 23"/>
          <p:cNvSpPr/>
          <p:nvPr/>
        </p:nvSpPr>
        <p:spPr>
          <a:xfrm>
            <a:off x="3520440" y="3611880"/>
            <a:ext cx="1828800" cy="960120"/>
          </a:xfrm>
          <a:prstGeom prst="rect">
            <a:avLst/>
          </a:prstGeom>
          <a:noFill/>
          <a:ln/>
        </p:spPr>
        <p:txBody>
          <a:bodyPr wrap="square" lIns="0" tIns="0" rIns="0" bIns="0" rtlCol="0" anchor="ctr"/>
          <a:lstStyle/>
          <a:p>
            <a:pPr marL="0" indent="0" algn="l">
              <a:buNone/>
            </a:pPr>
            <a:r>
              <a:rPr lang="en-US" sz="1000" dirty="0">
                <a:solidFill>
                  <a:srgbClr val="4A5A66"/>
                </a:solidFill>
                <a:latin typeface="Calibri" pitchFamily="34" charset="0"/>
                <a:ea typeface="Calibri" pitchFamily="34" charset="-122"/>
                <a:cs typeface="Calibri" pitchFamily="34" charset="-120"/>
              </a:rPr>
              <a:t>Whether Caribbean and Other-origin immigrants face elevated structural exclusion from finance</a:t>
            </a:r>
            <a:endParaRPr lang="en-US" sz="1000" dirty="0"/>
          </a:p>
        </p:txBody>
      </p:sp>
      <p:sp>
        <p:nvSpPr>
          <p:cNvPr id="26" name="Text 24"/>
          <p:cNvSpPr/>
          <p:nvPr/>
        </p:nvSpPr>
        <p:spPr>
          <a:xfrm>
            <a:off x="5349240" y="3611880"/>
            <a:ext cx="1508760" cy="96012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Largest OR = 1.24</a:t>
            </a:r>
            <a:endParaRPr lang="en-US" sz="1000" dirty="0"/>
          </a:p>
          <a:p>
            <a:pPr marL="0" indent="0" algn="l">
              <a:buNone/>
            </a:pPr>
            <a:r>
              <a:rPr lang="en-US" sz="1000" dirty="0">
                <a:solidFill>
                  <a:srgbClr val="36454F"/>
                </a:solidFill>
                <a:latin typeface="Calibri" pitchFamily="34" charset="0"/>
                <a:ea typeface="Calibri" pitchFamily="34" charset="-122"/>
                <a:cs typeface="Calibri" pitchFamily="34" charset="-120"/>
              </a:rPr>
              <a:t>(European), p = 0.74</a:t>
            </a:r>
            <a:endParaRPr lang="en-US" sz="1000" dirty="0"/>
          </a:p>
        </p:txBody>
      </p:sp>
      <p:sp>
        <p:nvSpPr>
          <p:cNvPr id="27" name="Text 25"/>
          <p:cNvSpPr/>
          <p:nvPr/>
        </p:nvSpPr>
        <p:spPr>
          <a:xfrm>
            <a:off x="6858000" y="3566160"/>
            <a:ext cx="868680" cy="1051560"/>
          </a:xfrm>
          <a:prstGeom prst="rect">
            <a:avLst/>
          </a:prstGeom>
          <a:noFill/>
          <a:ln/>
        </p:spPr>
        <p:txBody>
          <a:bodyPr wrap="square" lIns="0" tIns="0" rIns="0" bIns="0" rtlCol="0" anchor="ctr"/>
          <a:lstStyle/>
          <a:p>
            <a:pPr marL="0" indent="0" algn="ctr">
              <a:buNone/>
            </a:pPr>
            <a:r>
              <a:rPr lang="en-US" sz="1800" b="1" dirty="0">
                <a:solidFill>
                  <a:srgbClr val="8A9499"/>
                </a:solidFill>
                <a:latin typeface="Georgia" pitchFamily="34" charset="0"/>
                <a:ea typeface="Georgia" pitchFamily="34" charset="-122"/>
                <a:cs typeface="Georgia" pitchFamily="34" charset="-120"/>
              </a:rPr>
              <a:t>—</a:t>
            </a:r>
            <a:endParaRPr lang="en-US" sz="1800" dirty="0"/>
          </a:p>
        </p:txBody>
      </p:sp>
      <p:sp>
        <p:nvSpPr>
          <p:cNvPr id="28" name="Text 26"/>
          <p:cNvSpPr/>
          <p:nvPr/>
        </p:nvSpPr>
        <p:spPr>
          <a:xfrm>
            <a:off x="7726680" y="3611880"/>
            <a:ext cx="3886200" cy="960120"/>
          </a:xfrm>
          <a:prstGeom prst="rect">
            <a:avLst/>
          </a:prstGeom>
          <a:noFill/>
          <a:ln/>
        </p:spPr>
        <p:txBody>
          <a:bodyPr wrap="square" lIns="0" tIns="0" rIns="0" bIns="0" rtlCol="0" anchor="ctr"/>
          <a:lstStyle/>
          <a:p>
            <a:pPr marL="0" indent="0" algn="l">
              <a:buNone/>
            </a:pPr>
            <a:r>
              <a:rPr lang="en-US" sz="1000" i="1" dirty="0">
                <a:solidFill>
                  <a:srgbClr val="4A5A66"/>
                </a:solidFill>
                <a:latin typeface="Calibri" pitchFamily="34" charset="0"/>
                <a:ea typeface="Calibri" pitchFamily="34" charset="-122"/>
                <a:cs typeface="Calibri" pitchFamily="34" charset="-120"/>
              </a:rPr>
              <a:t>No origin-region group differs significantly from the Latin American reference.</a:t>
            </a:r>
            <a:endParaRPr lang="en-US" sz="1000" dirty="0"/>
          </a:p>
        </p:txBody>
      </p:sp>
      <p:sp>
        <p:nvSpPr>
          <p:cNvPr id="29" name="Shape 27"/>
          <p:cNvSpPr/>
          <p:nvPr/>
        </p:nvSpPr>
        <p:spPr>
          <a:xfrm>
            <a:off x="548640" y="4617720"/>
            <a:ext cx="11064240" cy="1051560"/>
          </a:xfrm>
          <a:prstGeom prst="rect">
            <a:avLst/>
          </a:prstGeom>
          <a:solidFill>
            <a:srgbClr val="F5F5F5"/>
          </a:solidFill>
          <a:ln/>
        </p:spPr>
        <p:txBody>
          <a:bodyPr/>
          <a:lstStyle/>
          <a:p>
            <a:endParaRPr lang="en-US"/>
          </a:p>
        </p:txBody>
      </p:sp>
      <p:sp>
        <p:nvSpPr>
          <p:cNvPr id="30" name="Text 28"/>
          <p:cNvSpPr/>
          <p:nvPr/>
        </p:nvSpPr>
        <p:spPr>
          <a:xfrm>
            <a:off x="548640" y="4617720"/>
            <a:ext cx="411480" cy="1051560"/>
          </a:xfrm>
          <a:prstGeom prst="rect">
            <a:avLst/>
          </a:prstGeom>
          <a:noFill/>
          <a:ln/>
        </p:spPr>
        <p:txBody>
          <a:bodyPr wrap="square" lIns="0" tIns="0" rIns="0" bIns="0" rtlCol="0" anchor="ctr"/>
          <a:lstStyle/>
          <a:p>
            <a:pPr marL="0" indent="0" algn="ctr">
              <a:buNone/>
            </a:pPr>
            <a:r>
              <a:rPr lang="en-US" sz="2200" b="1" i="1" dirty="0">
                <a:solidFill>
                  <a:srgbClr val="028090"/>
                </a:solidFill>
                <a:latin typeface="Georgia" pitchFamily="34" charset="0"/>
                <a:ea typeface="Georgia" pitchFamily="34" charset="-122"/>
                <a:cs typeface="Georgia" pitchFamily="34" charset="-120"/>
              </a:rPr>
              <a:t>3</a:t>
            </a:r>
            <a:endParaRPr lang="en-US" sz="2200" dirty="0"/>
          </a:p>
        </p:txBody>
      </p:sp>
      <p:sp>
        <p:nvSpPr>
          <p:cNvPr id="31" name="Text 29"/>
          <p:cNvSpPr/>
          <p:nvPr/>
        </p:nvSpPr>
        <p:spPr>
          <a:xfrm>
            <a:off x="960120" y="4663440"/>
            <a:ext cx="1371600" cy="960120"/>
          </a:xfrm>
          <a:prstGeom prst="rect">
            <a:avLst/>
          </a:prstGeom>
          <a:noFill/>
          <a:ln/>
        </p:spPr>
        <p:txBody>
          <a:bodyPr wrap="square" lIns="0" tIns="0" rIns="0" bIns="0" rtlCol="0" anchor="ctr"/>
          <a:lstStyle/>
          <a:p>
            <a:pPr marL="0" indent="0" algn="l">
              <a:buNone/>
            </a:pPr>
            <a:r>
              <a:rPr lang="en-US" sz="1100" b="1" dirty="0">
                <a:solidFill>
                  <a:srgbClr val="36454F"/>
                </a:solidFill>
                <a:latin typeface="Calibri" pitchFamily="34" charset="0"/>
                <a:ea typeface="Calibri" pitchFamily="34" charset="-122"/>
                <a:cs typeface="Calibri" pitchFamily="34" charset="-120"/>
              </a:rPr>
              <a:t>Homeownership</a:t>
            </a:r>
            <a:endParaRPr lang="en-US" sz="1100" dirty="0"/>
          </a:p>
        </p:txBody>
      </p:sp>
      <p:sp>
        <p:nvSpPr>
          <p:cNvPr id="32" name="Text 30"/>
          <p:cNvSpPr/>
          <p:nvPr/>
        </p:nvSpPr>
        <p:spPr>
          <a:xfrm>
            <a:off x="2331720" y="4663440"/>
            <a:ext cx="1188720" cy="960120"/>
          </a:xfrm>
          <a:prstGeom prst="rect">
            <a:avLst/>
          </a:prstGeom>
          <a:noFill/>
          <a:ln/>
        </p:spPr>
        <p:txBody>
          <a:bodyPr wrap="square" lIns="0" tIns="0" rIns="0" bIns="0" rtlCol="0" anchor="ctr"/>
          <a:lstStyle/>
          <a:p>
            <a:pPr marL="0" indent="0" algn="l">
              <a:buNone/>
            </a:pPr>
            <a:r>
              <a:rPr lang="en-US" sz="1000" i="1" dirty="0">
                <a:solidFill>
                  <a:srgbClr val="01636F"/>
                </a:solidFill>
                <a:latin typeface="Calibri" pitchFamily="34" charset="0"/>
                <a:ea typeface="Calibri" pitchFamily="34" charset="-122"/>
                <a:cs typeface="Calibri" pitchFamily="34" charset="-120"/>
              </a:rPr>
              <a:t>Selective</a:t>
            </a:r>
            <a:endParaRPr lang="en-US" sz="1000" dirty="0"/>
          </a:p>
          <a:p>
            <a:pPr marL="0" indent="0" algn="l">
              <a:buNone/>
            </a:pPr>
            <a:r>
              <a:rPr lang="en-US" sz="1000" i="1" dirty="0">
                <a:solidFill>
                  <a:srgbClr val="01636F"/>
                </a:solidFill>
                <a:latin typeface="Calibri" pitchFamily="34" charset="0"/>
                <a:ea typeface="Calibri" pitchFamily="34" charset="-122"/>
                <a:cs typeface="Calibri" pitchFamily="34" charset="-120"/>
              </a:rPr>
              <a:t>Assimilation</a:t>
            </a:r>
            <a:endParaRPr lang="en-US" sz="1000" dirty="0"/>
          </a:p>
        </p:txBody>
      </p:sp>
      <p:sp>
        <p:nvSpPr>
          <p:cNvPr id="33" name="Text 31"/>
          <p:cNvSpPr/>
          <p:nvPr/>
        </p:nvSpPr>
        <p:spPr>
          <a:xfrm>
            <a:off x="3520440" y="4663440"/>
            <a:ext cx="1828800" cy="960120"/>
          </a:xfrm>
          <a:prstGeom prst="rect">
            <a:avLst/>
          </a:prstGeom>
          <a:noFill/>
          <a:ln/>
        </p:spPr>
        <p:txBody>
          <a:bodyPr wrap="square" lIns="0" tIns="0" rIns="0" bIns="0" rtlCol="0" anchor="ctr"/>
          <a:lstStyle/>
          <a:p>
            <a:pPr marL="0" indent="0" algn="l">
              <a:buNone/>
            </a:pPr>
            <a:r>
              <a:rPr lang="en-US" sz="1000" dirty="0">
                <a:solidFill>
                  <a:srgbClr val="4A5A66"/>
                </a:solidFill>
                <a:latin typeface="Calibri" pitchFamily="34" charset="0"/>
                <a:ea typeface="Calibri" pitchFamily="34" charset="-122"/>
                <a:cs typeface="Calibri" pitchFamily="34" charset="-120"/>
              </a:rPr>
              <a:t>Whether Latin American immigrants accumulate housing wealth despite lower mainstream-finance access</a:t>
            </a:r>
            <a:endParaRPr lang="en-US" sz="1000" dirty="0"/>
          </a:p>
        </p:txBody>
      </p:sp>
      <p:sp>
        <p:nvSpPr>
          <p:cNvPr id="34" name="Text 32"/>
          <p:cNvSpPr/>
          <p:nvPr/>
        </p:nvSpPr>
        <p:spPr>
          <a:xfrm>
            <a:off x="5349240" y="4663440"/>
            <a:ext cx="1508760" cy="96012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Largest OR = 1.27</a:t>
            </a:r>
            <a:endParaRPr lang="en-US" sz="1000" dirty="0"/>
          </a:p>
          <a:p>
            <a:pPr marL="0" indent="0" algn="l">
              <a:buNone/>
            </a:pPr>
            <a:r>
              <a:rPr lang="en-US" sz="1000" dirty="0">
                <a:solidFill>
                  <a:srgbClr val="36454F"/>
                </a:solidFill>
                <a:latin typeface="Calibri" pitchFamily="34" charset="0"/>
                <a:ea typeface="Calibri" pitchFamily="34" charset="-122"/>
                <a:cs typeface="Calibri" pitchFamily="34" charset="-120"/>
              </a:rPr>
              <a:t>(Caribbean), p = 0.76</a:t>
            </a:r>
            <a:endParaRPr lang="en-US" sz="1000" dirty="0"/>
          </a:p>
        </p:txBody>
      </p:sp>
      <p:sp>
        <p:nvSpPr>
          <p:cNvPr id="35" name="Text 33"/>
          <p:cNvSpPr/>
          <p:nvPr/>
        </p:nvSpPr>
        <p:spPr>
          <a:xfrm>
            <a:off x="6858000" y="4617720"/>
            <a:ext cx="868680" cy="1051560"/>
          </a:xfrm>
          <a:prstGeom prst="rect">
            <a:avLst/>
          </a:prstGeom>
          <a:noFill/>
          <a:ln/>
        </p:spPr>
        <p:txBody>
          <a:bodyPr wrap="square" lIns="0" tIns="0" rIns="0" bIns="0" rtlCol="0" anchor="ctr"/>
          <a:lstStyle/>
          <a:p>
            <a:pPr marL="0" indent="0" algn="ctr">
              <a:buNone/>
            </a:pPr>
            <a:r>
              <a:rPr lang="en-US" sz="1800" b="1" dirty="0">
                <a:solidFill>
                  <a:srgbClr val="8A9499"/>
                </a:solidFill>
                <a:latin typeface="Georgia" pitchFamily="34" charset="0"/>
                <a:ea typeface="Georgia" pitchFamily="34" charset="-122"/>
                <a:cs typeface="Georgia" pitchFamily="34" charset="-120"/>
              </a:rPr>
              <a:t>—</a:t>
            </a:r>
            <a:endParaRPr lang="en-US" sz="1800" dirty="0"/>
          </a:p>
        </p:txBody>
      </p:sp>
      <p:sp>
        <p:nvSpPr>
          <p:cNvPr id="36" name="Text 34"/>
          <p:cNvSpPr/>
          <p:nvPr/>
        </p:nvSpPr>
        <p:spPr>
          <a:xfrm>
            <a:off x="7726680" y="4663440"/>
            <a:ext cx="3886200" cy="960120"/>
          </a:xfrm>
          <a:prstGeom prst="rect">
            <a:avLst/>
          </a:prstGeom>
          <a:noFill/>
          <a:ln/>
        </p:spPr>
        <p:txBody>
          <a:bodyPr wrap="square" lIns="0" tIns="0" rIns="0" bIns="0" rtlCol="0" anchor="ctr"/>
          <a:lstStyle/>
          <a:p>
            <a:pPr marL="0" indent="0" algn="l">
              <a:buNone/>
            </a:pPr>
            <a:r>
              <a:rPr lang="en-US" sz="1000" i="1" dirty="0">
                <a:solidFill>
                  <a:srgbClr val="4A5A66"/>
                </a:solidFill>
                <a:latin typeface="Calibri" pitchFamily="34" charset="0"/>
                <a:ea typeface="Calibri" pitchFamily="34" charset="-122"/>
                <a:cs typeface="Calibri" pitchFamily="34" charset="-120"/>
              </a:rPr>
              <a:t>No origin-region group differs significantly from the Latin American reference.</a:t>
            </a:r>
            <a:endParaRPr lang="en-US" sz="1000" dirty="0"/>
          </a:p>
        </p:txBody>
      </p:sp>
      <p:sp>
        <p:nvSpPr>
          <p:cNvPr id="37" name="Shape 35"/>
          <p:cNvSpPr/>
          <p:nvPr/>
        </p:nvSpPr>
        <p:spPr>
          <a:xfrm>
            <a:off x="548640" y="5852160"/>
            <a:ext cx="11064240" cy="502920"/>
          </a:xfrm>
          <a:prstGeom prst="rect">
            <a:avLst/>
          </a:prstGeom>
          <a:solidFill>
            <a:srgbClr val="36454F"/>
          </a:solidFill>
          <a:ln/>
        </p:spPr>
        <p:txBody>
          <a:bodyPr/>
          <a:lstStyle/>
          <a:p>
            <a:endParaRPr lang="en-US"/>
          </a:p>
        </p:txBody>
      </p:sp>
      <p:sp>
        <p:nvSpPr>
          <p:cNvPr id="38" name="Text 36"/>
          <p:cNvSpPr/>
          <p:nvPr/>
        </p:nvSpPr>
        <p:spPr>
          <a:xfrm>
            <a:off x="548640" y="5852160"/>
            <a:ext cx="11064240" cy="502920"/>
          </a:xfrm>
          <a:prstGeom prst="rect">
            <a:avLst/>
          </a:prstGeom>
          <a:noFill/>
          <a:ln/>
        </p:spPr>
        <p:txBody>
          <a:bodyPr wrap="square" lIns="0" tIns="0" rIns="0" bIns="0" rtlCol="0" anchor="ctr"/>
          <a:lstStyle/>
          <a:p>
            <a:pPr marL="0" indent="0" algn="ctr">
              <a:buNone/>
            </a:pPr>
            <a:r>
              <a:rPr lang="en-US" sz="1800" b="1" dirty="0">
                <a:solidFill>
                  <a:srgbClr val="028090"/>
                </a:solidFill>
                <a:latin typeface="Calibri" pitchFamily="34" charset="0"/>
                <a:ea typeface="Calibri" pitchFamily="34" charset="-122"/>
                <a:cs typeface="Calibri" pitchFamily="34" charset="-120"/>
              </a:rPr>
              <a:t>0 of 12 </a:t>
            </a:r>
            <a:r>
              <a:rPr lang="en-US" sz="1400" dirty="0">
                <a:solidFill>
                  <a:srgbClr val="FFFFFF"/>
                </a:solidFill>
                <a:latin typeface="Calibri" pitchFamily="34" charset="0"/>
                <a:ea typeface="Calibri" pitchFamily="34" charset="-122"/>
                <a:cs typeface="Calibri" pitchFamily="34" charset="-120"/>
              </a:rPr>
              <a:t>origin-region coefficients across the three models reached p &lt; 0.05.</a:t>
            </a:r>
            <a:endParaRPr lang="en-US" sz="1800" dirty="0"/>
          </a:p>
        </p:txBody>
      </p:sp>
      <p:sp>
        <p:nvSpPr>
          <p:cNvPr id="39" name="Text 37"/>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7 / 12</a:t>
            </a:r>
            <a:endParaRPr lang="en-US" sz="1000" dirty="0"/>
          </a:p>
        </p:txBody>
      </p:sp>
      <p:sp>
        <p:nvSpPr>
          <p:cNvPr id="40" name="Text 38"/>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Origin-Region Detail</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Every coefficient, every model — Latin American is the reference category</a:t>
            </a:r>
            <a:endParaRPr lang="en-US" sz="1400" dirty="0"/>
          </a:p>
        </p:txBody>
      </p:sp>
      <p:sp>
        <p:nvSpPr>
          <p:cNvPr id="5" name="Shape 3"/>
          <p:cNvSpPr/>
          <p:nvPr/>
        </p:nvSpPr>
        <p:spPr>
          <a:xfrm>
            <a:off x="548640" y="1691640"/>
            <a:ext cx="11064240" cy="384048"/>
          </a:xfrm>
          <a:prstGeom prst="rect">
            <a:avLst/>
          </a:prstGeom>
          <a:solidFill>
            <a:srgbClr val="36454F"/>
          </a:solidFill>
          <a:ln/>
        </p:spPr>
        <p:txBody>
          <a:bodyPr/>
          <a:lstStyle/>
          <a:p>
            <a:endParaRPr lang="en-US"/>
          </a:p>
        </p:txBody>
      </p:sp>
      <p:sp>
        <p:nvSpPr>
          <p:cNvPr id="6" name="Text 4"/>
          <p:cNvSpPr/>
          <p:nvPr/>
        </p:nvSpPr>
        <p:spPr>
          <a:xfrm>
            <a:off x="548640" y="1691640"/>
            <a:ext cx="1188720" cy="384048"/>
          </a:xfrm>
          <a:prstGeom prst="rect">
            <a:avLst/>
          </a:prstGeom>
          <a:noFill/>
          <a:ln/>
        </p:spPr>
        <p:txBody>
          <a:bodyPr wrap="square" lIns="0" tIns="0" rIns="0" bIns="0" rtlCol="0" anchor="ctr"/>
          <a:lstStyle/>
          <a:p>
            <a:pPr marL="0" indent="0" algn="l">
              <a:buNone/>
            </a:pPr>
            <a:r>
              <a:rPr lang="en-US" sz="1000" b="1" kern="0" spc="200" dirty="0">
                <a:solidFill>
                  <a:srgbClr val="B8DEE2"/>
                </a:solidFill>
                <a:latin typeface="Calibri" pitchFamily="34" charset="0"/>
                <a:ea typeface="Calibri" pitchFamily="34" charset="-122"/>
                <a:cs typeface="Calibri" pitchFamily="34" charset="-120"/>
              </a:rPr>
              <a:t>Model</a:t>
            </a:r>
            <a:endParaRPr lang="en-US" sz="1000" dirty="0"/>
          </a:p>
        </p:txBody>
      </p:sp>
      <p:sp>
        <p:nvSpPr>
          <p:cNvPr id="7" name="Text 5"/>
          <p:cNvSpPr/>
          <p:nvPr/>
        </p:nvSpPr>
        <p:spPr>
          <a:xfrm>
            <a:off x="1783080" y="1691640"/>
            <a:ext cx="1874520" cy="384048"/>
          </a:xfrm>
          <a:prstGeom prst="rect">
            <a:avLst/>
          </a:prstGeom>
          <a:noFill/>
          <a:ln/>
        </p:spPr>
        <p:txBody>
          <a:bodyPr wrap="square" lIns="0" tIns="0" rIns="0" bIns="0" rtlCol="0" anchor="ctr"/>
          <a:lstStyle/>
          <a:p>
            <a:pPr marL="0" indent="0" algn="l">
              <a:buNone/>
            </a:pPr>
            <a:r>
              <a:rPr lang="en-US" sz="1000" b="1" kern="0" spc="200" dirty="0">
                <a:solidFill>
                  <a:srgbClr val="B8DEE2"/>
                </a:solidFill>
                <a:latin typeface="Calibri" pitchFamily="34" charset="0"/>
                <a:ea typeface="Calibri" pitchFamily="34" charset="-122"/>
                <a:cs typeface="Calibri" pitchFamily="34" charset="-120"/>
              </a:rPr>
              <a:t>Origin</a:t>
            </a:r>
            <a:endParaRPr lang="en-US" sz="1000" dirty="0"/>
          </a:p>
        </p:txBody>
      </p:sp>
      <p:sp>
        <p:nvSpPr>
          <p:cNvPr id="8" name="Text 6"/>
          <p:cNvSpPr/>
          <p:nvPr/>
        </p:nvSpPr>
        <p:spPr>
          <a:xfrm>
            <a:off x="3703320" y="1691640"/>
            <a:ext cx="777240" cy="384048"/>
          </a:xfrm>
          <a:prstGeom prst="rect">
            <a:avLst/>
          </a:prstGeom>
          <a:noFill/>
          <a:ln/>
        </p:spPr>
        <p:txBody>
          <a:bodyPr wrap="square" lIns="0" tIns="0" rIns="0" bIns="0" rtlCol="0" anchor="ctr"/>
          <a:lstStyle/>
          <a:p>
            <a:pPr marL="0" indent="0" algn="ctr">
              <a:buNone/>
            </a:pPr>
            <a:r>
              <a:rPr lang="en-US" sz="1000" b="1" kern="0" spc="200" dirty="0">
                <a:solidFill>
                  <a:srgbClr val="B8DEE2"/>
                </a:solidFill>
                <a:latin typeface="Calibri" pitchFamily="34" charset="0"/>
                <a:ea typeface="Calibri" pitchFamily="34" charset="-122"/>
                <a:cs typeface="Calibri" pitchFamily="34" charset="-120"/>
              </a:rPr>
              <a:t>β</a:t>
            </a:r>
            <a:endParaRPr lang="en-US" sz="1000" dirty="0"/>
          </a:p>
        </p:txBody>
      </p:sp>
      <p:sp>
        <p:nvSpPr>
          <p:cNvPr id="9" name="Text 7"/>
          <p:cNvSpPr/>
          <p:nvPr/>
        </p:nvSpPr>
        <p:spPr>
          <a:xfrm>
            <a:off x="4526280" y="1691640"/>
            <a:ext cx="777240" cy="384048"/>
          </a:xfrm>
          <a:prstGeom prst="rect">
            <a:avLst/>
          </a:prstGeom>
          <a:noFill/>
          <a:ln/>
        </p:spPr>
        <p:txBody>
          <a:bodyPr wrap="square" lIns="0" tIns="0" rIns="0" bIns="0" rtlCol="0" anchor="ctr"/>
          <a:lstStyle/>
          <a:p>
            <a:pPr marL="0" indent="0" algn="ctr">
              <a:buNone/>
            </a:pPr>
            <a:r>
              <a:rPr lang="en-US" sz="1000" b="1" kern="0" spc="200" dirty="0">
                <a:solidFill>
                  <a:srgbClr val="B8DEE2"/>
                </a:solidFill>
                <a:latin typeface="Calibri" pitchFamily="34" charset="0"/>
                <a:ea typeface="Calibri" pitchFamily="34" charset="-122"/>
                <a:cs typeface="Calibri" pitchFamily="34" charset="-120"/>
              </a:rPr>
              <a:t>SE</a:t>
            </a:r>
            <a:endParaRPr lang="en-US" sz="1000" dirty="0"/>
          </a:p>
        </p:txBody>
      </p:sp>
      <p:sp>
        <p:nvSpPr>
          <p:cNvPr id="10" name="Text 8"/>
          <p:cNvSpPr/>
          <p:nvPr/>
        </p:nvSpPr>
        <p:spPr>
          <a:xfrm>
            <a:off x="5349240" y="1691640"/>
            <a:ext cx="777240" cy="384048"/>
          </a:xfrm>
          <a:prstGeom prst="rect">
            <a:avLst/>
          </a:prstGeom>
          <a:noFill/>
          <a:ln/>
        </p:spPr>
        <p:txBody>
          <a:bodyPr wrap="square" lIns="0" tIns="0" rIns="0" bIns="0" rtlCol="0" anchor="ctr"/>
          <a:lstStyle/>
          <a:p>
            <a:pPr marL="0" indent="0" algn="ctr">
              <a:buNone/>
            </a:pPr>
            <a:r>
              <a:rPr lang="en-US" sz="1000" b="1" kern="0" spc="200" dirty="0">
                <a:solidFill>
                  <a:srgbClr val="B8DEE2"/>
                </a:solidFill>
                <a:latin typeface="Calibri" pitchFamily="34" charset="0"/>
                <a:ea typeface="Calibri" pitchFamily="34" charset="-122"/>
                <a:cs typeface="Calibri" pitchFamily="34" charset="-120"/>
              </a:rPr>
              <a:t>OR</a:t>
            </a:r>
            <a:endParaRPr lang="en-US" sz="1000" dirty="0"/>
          </a:p>
        </p:txBody>
      </p:sp>
      <p:sp>
        <p:nvSpPr>
          <p:cNvPr id="11" name="Text 9"/>
          <p:cNvSpPr/>
          <p:nvPr/>
        </p:nvSpPr>
        <p:spPr>
          <a:xfrm>
            <a:off x="6172200" y="1691640"/>
            <a:ext cx="960120" cy="384048"/>
          </a:xfrm>
          <a:prstGeom prst="rect">
            <a:avLst/>
          </a:prstGeom>
          <a:noFill/>
          <a:ln/>
        </p:spPr>
        <p:txBody>
          <a:bodyPr wrap="square" lIns="0" tIns="0" rIns="0" bIns="0" rtlCol="0" anchor="ctr"/>
          <a:lstStyle/>
          <a:p>
            <a:pPr marL="0" indent="0" algn="ctr">
              <a:buNone/>
            </a:pPr>
            <a:r>
              <a:rPr lang="en-US" sz="1000" b="1" kern="0" spc="200" dirty="0">
                <a:solidFill>
                  <a:srgbClr val="B8DEE2"/>
                </a:solidFill>
                <a:latin typeface="Calibri" pitchFamily="34" charset="0"/>
                <a:ea typeface="Calibri" pitchFamily="34" charset="-122"/>
                <a:cs typeface="Calibri" pitchFamily="34" charset="-120"/>
              </a:rPr>
              <a:t>% pt △</a:t>
            </a:r>
            <a:endParaRPr lang="en-US" sz="1000" dirty="0"/>
          </a:p>
        </p:txBody>
      </p:sp>
      <p:sp>
        <p:nvSpPr>
          <p:cNvPr id="12" name="Text 10"/>
          <p:cNvSpPr/>
          <p:nvPr/>
        </p:nvSpPr>
        <p:spPr>
          <a:xfrm>
            <a:off x="7178040" y="1691640"/>
            <a:ext cx="868680" cy="384048"/>
          </a:xfrm>
          <a:prstGeom prst="rect">
            <a:avLst/>
          </a:prstGeom>
          <a:noFill/>
          <a:ln/>
        </p:spPr>
        <p:txBody>
          <a:bodyPr wrap="square" lIns="0" tIns="0" rIns="0" bIns="0" rtlCol="0" anchor="ctr"/>
          <a:lstStyle/>
          <a:p>
            <a:pPr marL="0" indent="0" algn="ctr">
              <a:buNone/>
            </a:pPr>
            <a:r>
              <a:rPr lang="en-US" sz="1000" b="1" kern="0" spc="200" dirty="0">
                <a:solidFill>
                  <a:srgbClr val="B8DEE2"/>
                </a:solidFill>
                <a:latin typeface="Calibri" pitchFamily="34" charset="0"/>
                <a:ea typeface="Calibri" pitchFamily="34" charset="-122"/>
                <a:cs typeface="Calibri" pitchFamily="34" charset="-120"/>
              </a:rPr>
              <a:t>p-value</a:t>
            </a:r>
            <a:endParaRPr lang="en-US" sz="1000" dirty="0"/>
          </a:p>
        </p:txBody>
      </p:sp>
      <p:sp>
        <p:nvSpPr>
          <p:cNvPr id="13" name="Text 11"/>
          <p:cNvSpPr/>
          <p:nvPr/>
        </p:nvSpPr>
        <p:spPr>
          <a:xfrm>
            <a:off x="8092440" y="1691640"/>
            <a:ext cx="548640" cy="384048"/>
          </a:xfrm>
          <a:prstGeom prst="rect">
            <a:avLst/>
          </a:prstGeom>
          <a:noFill/>
          <a:ln/>
        </p:spPr>
        <p:txBody>
          <a:bodyPr wrap="square" lIns="0" tIns="0" rIns="0" bIns="0" rtlCol="0" anchor="ctr"/>
          <a:lstStyle/>
          <a:p>
            <a:pPr marL="0" indent="0" algn="ctr">
              <a:buNone/>
            </a:pPr>
            <a:r>
              <a:rPr lang="en-US" sz="1000" b="1" kern="0" spc="200" dirty="0">
                <a:solidFill>
                  <a:srgbClr val="B8DEE2"/>
                </a:solidFill>
                <a:latin typeface="Calibri" pitchFamily="34" charset="0"/>
                <a:ea typeface="Calibri" pitchFamily="34" charset="-122"/>
                <a:cs typeface="Calibri" pitchFamily="34" charset="-120"/>
              </a:rPr>
              <a:t>Sig</a:t>
            </a:r>
            <a:endParaRPr lang="en-US" sz="1000" dirty="0"/>
          </a:p>
        </p:txBody>
      </p:sp>
      <p:sp>
        <p:nvSpPr>
          <p:cNvPr id="14" name="Text 12"/>
          <p:cNvSpPr/>
          <p:nvPr/>
        </p:nvSpPr>
        <p:spPr>
          <a:xfrm>
            <a:off x="8686800" y="1691640"/>
            <a:ext cx="2926080" cy="384048"/>
          </a:xfrm>
          <a:prstGeom prst="rect">
            <a:avLst/>
          </a:prstGeom>
          <a:noFill/>
          <a:ln/>
        </p:spPr>
        <p:txBody>
          <a:bodyPr wrap="square" lIns="0" tIns="0" rIns="0" bIns="0" rtlCol="0" anchor="ctr"/>
          <a:lstStyle/>
          <a:p>
            <a:pPr marL="0" indent="0" algn="ctr">
              <a:buNone/>
            </a:pPr>
            <a:r>
              <a:rPr lang="en-US" sz="1000" b="1" kern="0" spc="200" dirty="0">
                <a:solidFill>
                  <a:srgbClr val="B8DEE2"/>
                </a:solidFill>
                <a:latin typeface="Calibri" pitchFamily="34" charset="0"/>
                <a:ea typeface="Calibri" pitchFamily="34" charset="-122"/>
                <a:cs typeface="Calibri" pitchFamily="34" charset="-120"/>
              </a:rPr>
              <a:t>Reading</a:t>
            </a:r>
            <a:endParaRPr lang="en-US" sz="1000" dirty="0"/>
          </a:p>
        </p:txBody>
      </p:sp>
      <p:sp>
        <p:nvSpPr>
          <p:cNvPr id="15" name="Shape 13"/>
          <p:cNvSpPr/>
          <p:nvPr/>
        </p:nvSpPr>
        <p:spPr>
          <a:xfrm>
            <a:off x="548640" y="2075688"/>
            <a:ext cx="11064240" cy="320040"/>
          </a:xfrm>
          <a:prstGeom prst="rect">
            <a:avLst/>
          </a:prstGeom>
          <a:solidFill>
            <a:srgbClr val="F5F5F5"/>
          </a:solidFill>
          <a:ln/>
        </p:spPr>
        <p:txBody>
          <a:bodyPr/>
          <a:lstStyle/>
          <a:p>
            <a:endParaRPr lang="en-US"/>
          </a:p>
        </p:txBody>
      </p:sp>
      <p:sp>
        <p:nvSpPr>
          <p:cNvPr id="16" name="Text 14"/>
          <p:cNvSpPr/>
          <p:nvPr/>
        </p:nvSpPr>
        <p:spPr>
          <a:xfrm>
            <a:off x="548640" y="2075688"/>
            <a:ext cx="1188720" cy="320040"/>
          </a:xfrm>
          <a:prstGeom prst="rect">
            <a:avLst/>
          </a:prstGeom>
          <a:noFill/>
          <a:ln/>
        </p:spPr>
        <p:txBody>
          <a:bodyPr wrap="square" lIns="0" tIns="0" rIns="0" bIns="0" rtlCol="0" anchor="ctr"/>
          <a:lstStyle/>
          <a:p>
            <a:pPr marL="0" indent="0" algn="l">
              <a:buNone/>
            </a:pPr>
            <a:r>
              <a:rPr lang="en-US" sz="1000" b="1" i="1" dirty="0">
                <a:solidFill>
                  <a:srgbClr val="01636F"/>
                </a:solidFill>
                <a:latin typeface="Calibri" pitchFamily="34" charset="0"/>
                <a:ea typeface="Calibri" pitchFamily="34" charset="-122"/>
                <a:cs typeface="Calibri" pitchFamily="34" charset="-120"/>
              </a:rPr>
              <a:t>Retirement</a:t>
            </a:r>
            <a:endParaRPr lang="en-US" sz="1000" dirty="0"/>
          </a:p>
        </p:txBody>
      </p:sp>
      <p:sp>
        <p:nvSpPr>
          <p:cNvPr id="17" name="Text 15"/>
          <p:cNvSpPr/>
          <p:nvPr/>
        </p:nvSpPr>
        <p:spPr>
          <a:xfrm>
            <a:off x="1783080" y="207568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Caribbean/West Indies</a:t>
            </a:r>
            <a:endParaRPr lang="en-US" sz="1000" dirty="0"/>
          </a:p>
        </p:txBody>
      </p:sp>
      <p:sp>
        <p:nvSpPr>
          <p:cNvPr id="18" name="Text 16"/>
          <p:cNvSpPr/>
          <p:nvPr/>
        </p:nvSpPr>
        <p:spPr>
          <a:xfrm>
            <a:off x="3703320" y="207568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0.32</a:t>
            </a:r>
            <a:endParaRPr lang="en-US" sz="1000" dirty="0"/>
          </a:p>
        </p:txBody>
      </p:sp>
      <p:sp>
        <p:nvSpPr>
          <p:cNvPr id="19" name="Text 17"/>
          <p:cNvSpPr/>
          <p:nvPr/>
        </p:nvSpPr>
        <p:spPr>
          <a:xfrm>
            <a:off x="4526280" y="207568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0.77</a:t>
            </a:r>
            <a:endParaRPr lang="en-US" sz="1000" dirty="0"/>
          </a:p>
        </p:txBody>
      </p:sp>
      <p:sp>
        <p:nvSpPr>
          <p:cNvPr id="20" name="Text 18"/>
          <p:cNvSpPr/>
          <p:nvPr/>
        </p:nvSpPr>
        <p:spPr>
          <a:xfrm>
            <a:off x="5349240" y="207568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1.38</a:t>
            </a:r>
            <a:endParaRPr lang="en-US" sz="1000" dirty="0"/>
          </a:p>
        </p:txBody>
      </p:sp>
      <p:sp>
        <p:nvSpPr>
          <p:cNvPr id="21" name="Text 19"/>
          <p:cNvSpPr/>
          <p:nvPr/>
        </p:nvSpPr>
        <p:spPr>
          <a:xfrm>
            <a:off x="6172200" y="207568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+6.4 pp</a:t>
            </a:r>
            <a:endParaRPr lang="en-US" sz="1000" dirty="0"/>
          </a:p>
        </p:txBody>
      </p:sp>
      <p:sp>
        <p:nvSpPr>
          <p:cNvPr id="22" name="Text 20"/>
          <p:cNvSpPr/>
          <p:nvPr/>
        </p:nvSpPr>
        <p:spPr>
          <a:xfrm>
            <a:off x="7178040" y="207568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0.67</a:t>
            </a:r>
            <a:endParaRPr lang="en-US" sz="1000" dirty="0"/>
          </a:p>
        </p:txBody>
      </p:sp>
      <p:sp>
        <p:nvSpPr>
          <p:cNvPr id="23" name="Text 21"/>
          <p:cNvSpPr/>
          <p:nvPr/>
        </p:nvSpPr>
        <p:spPr>
          <a:xfrm>
            <a:off x="8092440" y="207568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8686800" y="207568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1.38 indistinguishable from 1.0</a:t>
            </a:r>
            <a:endParaRPr lang="en-US" sz="900" dirty="0"/>
          </a:p>
        </p:txBody>
      </p:sp>
      <p:sp>
        <p:nvSpPr>
          <p:cNvPr id="25" name="Shape 23"/>
          <p:cNvSpPr/>
          <p:nvPr/>
        </p:nvSpPr>
        <p:spPr>
          <a:xfrm>
            <a:off x="548640" y="2395728"/>
            <a:ext cx="11064240" cy="320040"/>
          </a:xfrm>
          <a:prstGeom prst="rect">
            <a:avLst/>
          </a:prstGeom>
          <a:solidFill>
            <a:srgbClr val="F5F5F5"/>
          </a:solidFill>
          <a:ln/>
        </p:spPr>
        <p:txBody>
          <a:bodyPr/>
          <a:lstStyle/>
          <a:p>
            <a:endParaRPr lang="en-US"/>
          </a:p>
        </p:txBody>
      </p:sp>
      <p:sp>
        <p:nvSpPr>
          <p:cNvPr id="26" name="Text 24"/>
          <p:cNvSpPr/>
          <p:nvPr/>
        </p:nvSpPr>
        <p:spPr>
          <a:xfrm>
            <a:off x="1783080" y="239572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Asian</a:t>
            </a:r>
            <a:endParaRPr lang="en-US" sz="1000" dirty="0"/>
          </a:p>
        </p:txBody>
      </p:sp>
      <p:sp>
        <p:nvSpPr>
          <p:cNvPr id="27" name="Text 25"/>
          <p:cNvSpPr/>
          <p:nvPr/>
        </p:nvSpPr>
        <p:spPr>
          <a:xfrm>
            <a:off x="3703320" y="239572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−0.02</a:t>
            </a:r>
            <a:endParaRPr lang="en-US" sz="1000" dirty="0"/>
          </a:p>
        </p:txBody>
      </p:sp>
      <p:sp>
        <p:nvSpPr>
          <p:cNvPr id="28" name="Text 26"/>
          <p:cNvSpPr/>
          <p:nvPr/>
        </p:nvSpPr>
        <p:spPr>
          <a:xfrm>
            <a:off x="4526280" y="239572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0.27</a:t>
            </a:r>
            <a:endParaRPr lang="en-US" sz="1000" dirty="0"/>
          </a:p>
        </p:txBody>
      </p:sp>
      <p:sp>
        <p:nvSpPr>
          <p:cNvPr id="29" name="Text 27"/>
          <p:cNvSpPr/>
          <p:nvPr/>
        </p:nvSpPr>
        <p:spPr>
          <a:xfrm>
            <a:off x="5349240" y="239572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0.98</a:t>
            </a:r>
            <a:endParaRPr lang="en-US" sz="1000" dirty="0"/>
          </a:p>
        </p:txBody>
      </p:sp>
      <p:sp>
        <p:nvSpPr>
          <p:cNvPr id="30" name="Text 28"/>
          <p:cNvSpPr/>
          <p:nvPr/>
        </p:nvSpPr>
        <p:spPr>
          <a:xfrm>
            <a:off x="6172200" y="239572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−0.5 pp</a:t>
            </a:r>
            <a:endParaRPr lang="en-US" sz="1000" dirty="0"/>
          </a:p>
        </p:txBody>
      </p:sp>
      <p:sp>
        <p:nvSpPr>
          <p:cNvPr id="31" name="Text 29"/>
          <p:cNvSpPr/>
          <p:nvPr/>
        </p:nvSpPr>
        <p:spPr>
          <a:xfrm>
            <a:off x="7178040" y="239572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0.93</a:t>
            </a:r>
            <a:endParaRPr lang="en-US" sz="1000" dirty="0"/>
          </a:p>
        </p:txBody>
      </p:sp>
      <p:sp>
        <p:nvSpPr>
          <p:cNvPr id="32" name="Text 30"/>
          <p:cNvSpPr/>
          <p:nvPr/>
        </p:nvSpPr>
        <p:spPr>
          <a:xfrm>
            <a:off x="8092440" y="239572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33" name="Text 31"/>
          <p:cNvSpPr/>
          <p:nvPr/>
        </p:nvSpPr>
        <p:spPr>
          <a:xfrm>
            <a:off x="8686800" y="239572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0.98 indistinguishable from 1.0</a:t>
            </a:r>
            <a:endParaRPr lang="en-US" sz="900" dirty="0"/>
          </a:p>
        </p:txBody>
      </p:sp>
      <p:sp>
        <p:nvSpPr>
          <p:cNvPr id="34" name="Shape 32"/>
          <p:cNvSpPr/>
          <p:nvPr/>
        </p:nvSpPr>
        <p:spPr>
          <a:xfrm>
            <a:off x="548640" y="2715768"/>
            <a:ext cx="11064240" cy="320040"/>
          </a:xfrm>
          <a:prstGeom prst="rect">
            <a:avLst/>
          </a:prstGeom>
          <a:solidFill>
            <a:srgbClr val="F5F5F5"/>
          </a:solidFill>
          <a:ln/>
        </p:spPr>
        <p:txBody>
          <a:bodyPr/>
          <a:lstStyle/>
          <a:p>
            <a:endParaRPr lang="en-US"/>
          </a:p>
        </p:txBody>
      </p:sp>
      <p:sp>
        <p:nvSpPr>
          <p:cNvPr id="35" name="Text 33"/>
          <p:cNvSpPr/>
          <p:nvPr/>
        </p:nvSpPr>
        <p:spPr>
          <a:xfrm>
            <a:off x="1783080" y="271576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European/Other dev.</a:t>
            </a:r>
            <a:endParaRPr lang="en-US" sz="1000" dirty="0"/>
          </a:p>
        </p:txBody>
      </p:sp>
      <p:sp>
        <p:nvSpPr>
          <p:cNvPr id="36" name="Text 34"/>
          <p:cNvSpPr/>
          <p:nvPr/>
        </p:nvSpPr>
        <p:spPr>
          <a:xfrm>
            <a:off x="3703320" y="271576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0.00</a:t>
            </a:r>
            <a:endParaRPr lang="en-US" sz="1000" dirty="0"/>
          </a:p>
        </p:txBody>
      </p:sp>
      <p:sp>
        <p:nvSpPr>
          <p:cNvPr id="37" name="Text 35"/>
          <p:cNvSpPr/>
          <p:nvPr/>
        </p:nvSpPr>
        <p:spPr>
          <a:xfrm>
            <a:off x="4526280" y="271576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0.25</a:t>
            </a:r>
            <a:endParaRPr lang="en-US" sz="1000" dirty="0"/>
          </a:p>
        </p:txBody>
      </p:sp>
      <p:sp>
        <p:nvSpPr>
          <p:cNvPr id="38" name="Text 36"/>
          <p:cNvSpPr/>
          <p:nvPr/>
        </p:nvSpPr>
        <p:spPr>
          <a:xfrm>
            <a:off x="5349240" y="271576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1.00</a:t>
            </a:r>
            <a:endParaRPr lang="en-US" sz="1000" dirty="0"/>
          </a:p>
        </p:txBody>
      </p:sp>
      <p:sp>
        <p:nvSpPr>
          <p:cNvPr id="39" name="Text 37"/>
          <p:cNvSpPr/>
          <p:nvPr/>
        </p:nvSpPr>
        <p:spPr>
          <a:xfrm>
            <a:off x="6172200" y="271576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 0.0 pp</a:t>
            </a:r>
            <a:endParaRPr lang="en-US" sz="1000" dirty="0"/>
          </a:p>
        </p:txBody>
      </p:sp>
      <p:sp>
        <p:nvSpPr>
          <p:cNvPr id="40" name="Text 38"/>
          <p:cNvSpPr/>
          <p:nvPr/>
        </p:nvSpPr>
        <p:spPr>
          <a:xfrm>
            <a:off x="7178040" y="271576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0.99</a:t>
            </a:r>
            <a:endParaRPr lang="en-US" sz="1000" dirty="0"/>
          </a:p>
        </p:txBody>
      </p:sp>
      <p:sp>
        <p:nvSpPr>
          <p:cNvPr id="41" name="Text 39"/>
          <p:cNvSpPr/>
          <p:nvPr/>
        </p:nvSpPr>
        <p:spPr>
          <a:xfrm>
            <a:off x="8092440" y="271576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42" name="Text 40"/>
          <p:cNvSpPr/>
          <p:nvPr/>
        </p:nvSpPr>
        <p:spPr>
          <a:xfrm>
            <a:off x="8686800" y="271576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1.00 indistinguishable from 1.0</a:t>
            </a:r>
            <a:endParaRPr lang="en-US" sz="900" dirty="0"/>
          </a:p>
        </p:txBody>
      </p:sp>
      <p:sp>
        <p:nvSpPr>
          <p:cNvPr id="43" name="Shape 41"/>
          <p:cNvSpPr/>
          <p:nvPr/>
        </p:nvSpPr>
        <p:spPr>
          <a:xfrm>
            <a:off x="548640" y="3035808"/>
            <a:ext cx="11064240" cy="320040"/>
          </a:xfrm>
          <a:prstGeom prst="rect">
            <a:avLst/>
          </a:prstGeom>
          <a:solidFill>
            <a:srgbClr val="F5F5F5"/>
          </a:solidFill>
          <a:ln/>
        </p:spPr>
        <p:txBody>
          <a:bodyPr/>
          <a:lstStyle/>
          <a:p>
            <a:endParaRPr lang="en-US"/>
          </a:p>
        </p:txBody>
      </p:sp>
      <p:sp>
        <p:nvSpPr>
          <p:cNvPr id="44" name="Text 42"/>
          <p:cNvSpPr/>
          <p:nvPr/>
        </p:nvSpPr>
        <p:spPr>
          <a:xfrm>
            <a:off x="1783080" y="303580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Other</a:t>
            </a:r>
            <a:endParaRPr lang="en-US" sz="1000" dirty="0"/>
          </a:p>
        </p:txBody>
      </p:sp>
      <p:sp>
        <p:nvSpPr>
          <p:cNvPr id="45" name="Text 43"/>
          <p:cNvSpPr/>
          <p:nvPr/>
        </p:nvSpPr>
        <p:spPr>
          <a:xfrm>
            <a:off x="3703320" y="303580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−0.20</a:t>
            </a:r>
            <a:endParaRPr lang="en-US" sz="1000" dirty="0"/>
          </a:p>
        </p:txBody>
      </p:sp>
      <p:sp>
        <p:nvSpPr>
          <p:cNvPr id="46" name="Text 44"/>
          <p:cNvSpPr/>
          <p:nvPr/>
        </p:nvSpPr>
        <p:spPr>
          <a:xfrm>
            <a:off x="4526280" y="303580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0.45</a:t>
            </a:r>
            <a:endParaRPr lang="en-US" sz="1000" dirty="0"/>
          </a:p>
        </p:txBody>
      </p:sp>
      <p:sp>
        <p:nvSpPr>
          <p:cNvPr id="47" name="Text 45"/>
          <p:cNvSpPr/>
          <p:nvPr/>
        </p:nvSpPr>
        <p:spPr>
          <a:xfrm>
            <a:off x="5349240" y="303580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0.82</a:t>
            </a:r>
            <a:endParaRPr lang="en-US" sz="1000" dirty="0"/>
          </a:p>
        </p:txBody>
      </p:sp>
      <p:sp>
        <p:nvSpPr>
          <p:cNvPr id="48" name="Text 46"/>
          <p:cNvSpPr/>
          <p:nvPr/>
        </p:nvSpPr>
        <p:spPr>
          <a:xfrm>
            <a:off x="6172200" y="303580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−4.4 pp</a:t>
            </a:r>
            <a:endParaRPr lang="en-US" sz="1000" dirty="0"/>
          </a:p>
        </p:txBody>
      </p:sp>
      <p:sp>
        <p:nvSpPr>
          <p:cNvPr id="49" name="Text 47"/>
          <p:cNvSpPr/>
          <p:nvPr/>
        </p:nvSpPr>
        <p:spPr>
          <a:xfrm>
            <a:off x="7178040" y="303580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0.66</a:t>
            </a:r>
            <a:endParaRPr lang="en-US" sz="1000" dirty="0"/>
          </a:p>
        </p:txBody>
      </p:sp>
      <p:sp>
        <p:nvSpPr>
          <p:cNvPr id="50" name="Text 48"/>
          <p:cNvSpPr/>
          <p:nvPr/>
        </p:nvSpPr>
        <p:spPr>
          <a:xfrm>
            <a:off x="8092440" y="303580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51" name="Text 49"/>
          <p:cNvSpPr/>
          <p:nvPr/>
        </p:nvSpPr>
        <p:spPr>
          <a:xfrm>
            <a:off x="8686800" y="303580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0.82 indistinguishable from 1.0</a:t>
            </a:r>
            <a:endParaRPr lang="en-US" sz="900" dirty="0"/>
          </a:p>
        </p:txBody>
      </p:sp>
      <p:sp>
        <p:nvSpPr>
          <p:cNvPr id="52" name="Text 50"/>
          <p:cNvSpPr/>
          <p:nvPr/>
        </p:nvSpPr>
        <p:spPr>
          <a:xfrm>
            <a:off x="548640" y="3355848"/>
            <a:ext cx="1188720" cy="320040"/>
          </a:xfrm>
          <a:prstGeom prst="rect">
            <a:avLst/>
          </a:prstGeom>
          <a:noFill/>
          <a:ln/>
        </p:spPr>
        <p:txBody>
          <a:bodyPr wrap="square" lIns="0" tIns="0" rIns="0" bIns="0" rtlCol="0" anchor="ctr"/>
          <a:lstStyle/>
          <a:p>
            <a:pPr marL="0" indent="0" algn="l">
              <a:buNone/>
            </a:pPr>
            <a:r>
              <a:rPr lang="en-US" sz="1000" b="1" i="1" dirty="0">
                <a:solidFill>
                  <a:srgbClr val="01636F"/>
                </a:solidFill>
                <a:latin typeface="Calibri" pitchFamily="34" charset="0"/>
                <a:ea typeface="Calibri" pitchFamily="34" charset="-122"/>
                <a:cs typeface="Calibri" pitchFamily="34" charset="-120"/>
              </a:rPr>
              <a:t>Credit denied</a:t>
            </a:r>
            <a:endParaRPr lang="en-US" sz="1000" dirty="0"/>
          </a:p>
        </p:txBody>
      </p:sp>
      <p:sp>
        <p:nvSpPr>
          <p:cNvPr id="53" name="Text 51"/>
          <p:cNvSpPr/>
          <p:nvPr/>
        </p:nvSpPr>
        <p:spPr>
          <a:xfrm>
            <a:off x="1783080" y="335584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Caribbean/West Indies</a:t>
            </a:r>
            <a:endParaRPr lang="en-US" sz="1000" dirty="0"/>
          </a:p>
        </p:txBody>
      </p:sp>
      <p:sp>
        <p:nvSpPr>
          <p:cNvPr id="54" name="Text 52"/>
          <p:cNvSpPr/>
          <p:nvPr/>
        </p:nvSpPr>
        <p:spPr>
          <a:xfrm>
            <a:off x="3703320" y="335584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−0.34</a:t>
            </a:r>
            <a:endParaRPr lang="en-US" sz="1000" dirty="0"/>
          </a:p>
        </p:txBody>
      </p:sp>
      <p:sp>
        <p:nvSpPr>
          <p:cNvPr id="55" name="Text 53"/>
          <p:cNvSpPr/>
          <p:nvPr/>
        </p:nvSpPr>
        <p:spPr>
          <a:xfrm>
            <a:off x="4526280" y="335584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3.50</a:t>
            </a:r>
            <a:endParaRPr lang="en-US" sz="1000" dirty="0"/>
          </a:p>
        </p:txBody>
      </p:sp>
      <p:sp>
        <p:nvSpPr>
          <p:cNvPr id="56" name="Text 54"/>
          <p:cNvSpPr/>
          <p:nvPr/>
        </p:nvSpPr>
        <p:spPr>
          <a:xfrm>
            <a:off x="5349240" y="335584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0.71</a:t>
            </a:r>
            <a:endParaRPr lang="en-US" sz="1000" dirty="0"/>
          </a:p>
        </p:txBody>
      </p:sp>
      <p:sp>
        <p:nvSpPr>
          <p:cNvPr id="57" name="Text 55"/>
          <p:cNvSpPr/>
          <p:nvPr/>
        </p:nvSpPr>
        <p:spPr>
          <a:xfrm>
            <a:off x="6172200" y="335584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−2.6 pp</a:t>
            </a:r>
            <a:endParaRPr lang="en-US" sz="1000" dirty="0"/>
          </a:p>
        </p:txBody>
      </p:sp>
      <p:sp>
        <p:nvSpPr>
          <p:cNvPr id="58" name="Text 56"/>
          <p:cNvSpPr/>
          <p:nvPr/>
        </p:nvSpPr>
        <p:spPr>
          <a:xfrm>
            <a:off x="7178040" y="335584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0.92</a:t>
            </a:r>
            <a:endParaRPr lang="en-US" sz="1000" dirty="0"/>
          </a:p>
        </p:txBody>
      </p:sp>
      <p:sp>
        <p:nvSpPr>
          <p:cNvPr id="59" name="Text 57"/>
          <p:cNvSpPr/>
          <p:nvPr/>
        </p:nvSpPr>
        <p:spPr>
          <a:xfrm>
            <a:off x="8092440" y="335584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60" name="Text 58"/>
          <p:cNvSpPr/>
          <p:nvPr/>
        </p:nvSpPr>
        <p:spPr>
          <a:xfrm>
            <a:off x="8686800" y="335584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0.71 indistinguishable from 1.0</a:t>
            </a:r>
            <a:endParaRPr lang="en-US" sz="900" dirty="0"/>
          </a:p>
        </p:txBody>
      </p:sp>
      <p:sp>
        <p:nvSpPr>
          <p:cNvPr id="61" name="Text 59"/>
          <p:cNvSpPr/>
          <p:nvPr/>
        </p:nvSpPr>
        <p:spPr>
          <a:xfrm>
            <a:off x="1783080" y="367588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Asian</a:t>
            </a:r>
            <a:endParaRPr lang="en-US" sz="1000" dirty="0"/>
          </a:p>
        </p:txBody>
      </p:sp>
      <p:sp>
        <p:nvSpPr>
          <p:cNvPr id="62" name="Text 60"/>
          <p:cNvSpPr/>
          <p:nvPr/>
        </p:nvSpPr>
        <p:spPr>
          <a:xfrm>
            <a:off x="3703320" y="367588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 0.05</a:t>
            </a:r>
            <a:endParaRPr lang="en-US" sz="1000" dirty="0"/>
          </a:p>
        </p:txBody>
      </p:sp>
      <p:sp>
        <p:nvSpPr>
          <p:cNvPr id="63" name="Text 61"/>
          <p:cNvSpPr/>
          <p:nvPr/>
        </p:nvSpPr>
        <p:spPr>
          <a:xfrm>
            <a:off x="4526280" y="367588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0.62</a:t>
            </a:r>
            <a:endParaRPr lang="en-US" sz="1000" dirty="0"/>
          </a:p>
        </p:txBody>
      </p:sp>
      <p:sp>
        <p:nvSpPr>
          <p:cNvPr id="64" name="Text 62"/>
          <p:cNvSpPr/>
          <p:nvPr/>
        </p:nvSpPr>
        <p:spPr>
          <a:xfrm>
            <a:off x="5349240" y="367588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1.05</a:t>
            </a:r>
            <a:endParaRPr lang="en-US" sz="1000" dirty="0"/>
          </a:p>
        </p:txBody>
      </p:sp>
      <p:sp>
        <p:nvSpPr>
          <p:cNvPr id="65" name="Text 63"/>
          <p:cNvSpPr/>
          <p:nvPr/>
        </p:nvSpPr>
        <p:spPr>
          <a:xfrm>
            <a:off x="6172200" y="367588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+0.4 pp</a:t>
            </a:r>
            <a:endParaRPr lang="en-US" sz="1000" dirty="0"/>
          </a:p>
        </p:txBody>
      </p:sp>
      <p:sp>
        <p:nvSpPr>
          <p:cNvPr id="66" name="Text 64"/>
          <p:cNvSpPr/>
          <p:nvPr/>
        </p:nvSpPr>
        <p:spPr>
          <a:xfrm>
            <a:off x="7178040" y="367588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0.94</a:t>
            </a:r>
            <a:endParaRPr lang="en-US" sz="1000" dirty="0"/>
          </a:p>
        </p:txBody>
      </p:sp>
      <p:sp>
        <p:nvSpPr>
          <p:cNvPr id="67" name="Text 65"/>
          <p:cNvSpPr/>
          <p:nvPr/>
        </p:nvSpPr>
        <p:spPr>
          <a:xfrm>
            <a:off x="8092440" y="367588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68" name="Text 66"/>
          <p:cNvSpPr/>
          <p:nvPr/>
        </p:nvSpPr>
        <p:spPr>
          <a:xfrm>
            <a:off x="8686800" y="367588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1.05 indistinguishable from 1.0</a:t>
            </a:r>
            <a:endParaRPr lang="en-US" sz="900" dirty="0"/>
          </a:p>
        </p:txBody>
      </p:sp>
      <p:sp>
        <p:nvSpPr>
          <p:cNvPr id="69" name="Text 67"/>
          <p:cNvSpPr/>
          <p:nvPr/>
        </p:nvSpPr>
        <p:spPr>
          <a:xfrm>
            <a:off x="1783080" y="399592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European/Other dev.</a:t>
            </a:r>
            <a:endParaRPr lang="en-US" sz="1000" dirty="0"/>
          </a:p>
        </p:txBody>
      </p:sp>
      <p:sp>
        <p:nvSpPr>
          <p:cNvPr id="70" name="Text 68"/>
          <p:cNvSpPr/>
          <p:nvPr/>
        </p:nvSpPr>
        <p:spPr>
          <a:xfrm>
            <a:off x="3703320" y="399592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 0.22</a:t>
            </a:r>
            <a:endParaRPr lang="en-US" sz="1000" dirty="0"/>
          </a:p>
        </p:txBody>
      </p:sp>
      <p:sp>
        <p:nvSpPr>
          <p:cNvPr id="71" name="Text 69"/>
          <p:cNvSpPr/>
          <p:nvPr/>
        </p:nvSpPr>
        <p:spPr>
          <a:xfrm>
            <a:off x="4526280" y="399592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0.65</a:t>
            </a:r>
            <a:endParaRPr lang="en-US" sz="1000" dirty="0"/>
          </a:p>
        </p:txBody>
      </p:sp>
      <p:sp>
        <p:nvSpPr>
          <p:cNvPr id="72" name="Text 70"/>
          <p:cNvSpPr/>
          <p:nvPr/>
        </p:nvSpPr>
        <p:spPr>
          <a:xfrm>
            <a:off x="5349240" y="399592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1.24</a:t>
            </a:r>
            <a:endParaRPr lang="en-US" sz="1000" dirty="0"/>
          </a:p>
        </p:txBody>
      </p:sp>
      <p:sp>
        <p:nvSpPr>
          <p:cNvPr id="73" name="Text 71"/>
          <p:cNvSpPr/>
          <p:nvPr/>
        </p:nvSpPr>
        <p:spPr>
          <a:xfrm>
            <a:off x="6172200" y="399592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+1.9 pp</a:t>
            </a:r>
            <a:endParaRPr lang="en-US" sz="1000" dirty="0"/>
          </a:p>
        </p:txBody>
      </p:sp>
      <p:sp>
        <p:nvSpPr>
          <p:cNvPr id="74" name="Text 72"/>
          <p:cNvSpPr/>
          <p:nvPr/>
        </p:nvSpPr>
        <p:spPr>
          <a:xfrm>
            <a:off x="7178040" y="399592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0.74</a:t>
            </a:r>
            <a:endParaRPr lang="en-US" sz="1000" dirty="0"/>
          </a:p>
        </p:txBody>
      </p:sp>
      <p:sp>
        <p:nvSpPr>
          <p:cNvPr id="75" name="Text 73"/>
          <p:cNvSpPr/>
          <p:nvPr/>
        </p:nvSpPr>
        <p:spPr>
          <a:xfrm>
            <a:off x="8092440" y="399592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76" name="Text 74"/>
          <p:cNvSpPr/>
          <p:nvPr/>
        </p:nvSpPr>
        <p:spPr>
          <a:xfrm>
            <a:off x="8686800" y="399592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1.24 indistinguishable from 1.0</a:t>
            </a:r>
            <a:endParaRPr lang="en-US" sz="900" dirty="0"/>
          </a:p>
        </p:txBody>
      </p:sp>
      <p:sp>
        <p:nvSpPr>
          <p:cNvPr id="77" name="Text 75"/>
          <p:cNvSpPr/>
          <p:nvPr/>
        </p:nvSpPr>
        <p:spPr>
          <a:xfrm>
            <a:off x="1783080" y="431596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Other</a:t>
            </a:r>
            <a:endParaRPr lang="en-US" sz="1000" dirty="0"/>
          </a:p>
        </p:txBody>
      </p:sp>
      <p:sp>
        <p:nvSpPr>
          <p:cNvPr id="78" name="Text 76"/>
          <p:cNvSpPr/>
          <p:nvPr/>
        </p:nvSpPr>
        <p:spPr>
          <a:xfrm>
            <a:off x="3703320" y="431596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−0.03</a:t>
            </a:r>
            <a:endParaRPr lang="en-US" sz="1000" dirty="0"/>
          </a:p>
        </p:txBody>
      </p:sp>
      <p:sp>
        <p:nvSpPr>
          <p:cNvPr id="79" name="Text 77"/>
          <p:cNvSpPr/>
          <p:nvPr/>
        </p:nvSpPr>
        <p:spPr>
          <a:xfrm>
            <a:off x="4526280" y="431596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0.59</a:t>
            </a:r>
            <a:endParaRPr lang="en-US" sz="1000" dirty="0"/>
          </a:p>
        </p:txBody>
      </p:sp>
      <p:sp>
        <p:nvSpPr>
          <p:cNvPr id="80" name="Text 78"/>
          <p:cNvSpPr/>
          <p:nvPr/>
        </p:nvSpPr>
        <p:spPr>
          <a:xfrm>
            <a:off x="5349240" y="431596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0.97</a:t>
            </a:r>
            <a:endParaRPr lang="en-US" sz="1000" dirty="0"/>
          </a:p>
        </p:txBody>
      </p:sp>
      <p:sp>
        <p:nvSpPr>
          <p:cNvPr id="81" name="Text 79"/>
          <p:cNvSpPr/>
          <p:nvPr/>
        </p:nvSpPr>
        <p:spPr>
          <a:xfrm>
            <a:off x="6172200" y="431596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−0.3 pp</a:t>
            </a:r>
            <a:endParaRPr lang="en-US" sz="1000" dirty="0"/>
          </a:p>
        </p:txBody>
      </p:sp>
      <p:sp>
        <p:nvSpPr>
          <p:cNvPr id="82" name="Text 80"/>
          <p:cNvSpPr/>
          <p:nvPr/>
        </p:nvSpPr>
        <p:spPr>
          <a:xfrm>
            <a:off x="7178040" y="431596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0.95</a:t>
            </a:r>
            <a:endParaRPr lang="en-US" sz="1000" dirty="0"/>
          </a:p>
        </p:txBody>
      </p:sp>
      <p:sp>
        <p:nvSpPr>
          <p:cNvPr id="83" name="Text 81"/>
          <p:cNvSpPr/>
          <p:nvPr/>
        </p:nvSpPr>
        <p:spPr>
          <a:xfrm>
            <a:off x="8092440" y="431596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84" name="Text 82"/>
          <p:cNvSpPr/>
          <p:nvPr/>
        </p:nvSpPr>
        <p:spPr>
          <a:xfrm>
            <a:off x="8686800" y="431596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0.97 indistinguishable from 1.0</a:t>
            </a:r>
            <a:endParaRPr lang="en-US" sz="900" dirty="0"/>
          </a:p>
        </p:txBody>
      </p:sp>
      <p:sp>
        <p:nvSpPr>
          <p:cNvPr id="85" name="Shape 83"/>
          <p:cNvSpPr/>
          <p:nvPr/>
        </p:nvSpPr>
        <p:spPr>
          <a:xfrm>
            <a:off x="548640" y="4636008"/>
            <a:ext cx="11064240" cy="320040"/>
          </a:xfrm>
          <a:prstGeom prst="rect">
            <a:avLst/>
          </a:prstGeom>
          <a:solidFill>
            <a:srgbClr val="F5F5F5"/>
          </a:solidFill>
          <a:ln/>
        </p:spPr>
        <p:txBody>
          <a:bodyPr/>
          <a:lstStyle/>
          <a:p>
            <a:endParaRPr lang="en-US"/>
          </a:p>
        </p:txBody>
      </p:sp>
      <p:sp>
        <p:nvSpPr>
          <p:cNvPr id="86" name="Text 84"/>
          <p:cNvSpPr/>
          <p:nvPr/>
        </p:nvSpPr>
        <p:spPr>
          <a:xfrm>
            <a:off x="548640" y="4636008"/>
            <a:ext cx="1188720" cy="320040"/>
          </a:xfrm>
          <a:prstGeom prst="rect">
            <a:avLst/>
          </a:prstGeom>
          <a:noFill/>
          <a:ln/>
        </p:spPr>
        <p:txBody>
          <a:bodyPr wrap="square" lIns="0" tIns="0" rIns="0" bIns="0" rtlCol="0" anchor="ctr"/>
          <a:lstStyle/>
          <a:p>
            <a:pPr marL="0" indent="0" algn="l">
              <a:buNone/>
            </a:pPr>
            <a:r>
              <a:rPr lang="en-US" sz="1000" b="1" i="1" dirty="0">
                <a:solidFill>
                  <a:srgbClr val="01636F"/>
                </a:solidFill>
                <a:latin typeface="Calibri" pitchFamily="34" charset="0"/>
                <a:ea typeface="Calibri" pitchFamily="34" charset="-122"/>
                <a:cs typeface="Calibri" pitchFamily="34" charset="-120"/>
              </a:rPr>
              <a:t>Homeownership</a:t>
            </a:r>
            <a:endParaRPr lang="en-US" sz="1000" dirty="0"/>
          </a:p>
        </p:txBody>
      </p:sp>
      <p:sp>
        <p:nvSpPr>
          <p:cNvPr id="87" name="Text 85"/>
          <p:cNvSpPr/>
          <p:nvPr/>
        </p:nvSpPr>
        <p:spPr>
          <a:xfrm>
            <a:off x="1783080" y="463600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Caribbean/West Indies</a:t>
            </a:r>
            <a:endParaRPr lang="en-US" sz="1000" dirty="0"/>
          </a:p>
        </p:txBody>
      </p:sp>
      <p:sp>
        <p:nvSpPr>
          <p:cNvPr id="88" name="Text 86"/>
          <p:cNvSpPr/>
          <p:nvPr/>
        </p:nvSpPr>
        <p:spPr>
          <a:xfrm>
            <a:off x="3703320" y="463600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 0.24</a:t>
            </a:r>
            <a:endParaRPr lang="en-US" sz="1000" dirty="0"/>
          </a:p>
        </p:txBody>
      </p:sp>
      <p:sp>
        <p:nvSpPr>
          <p:cNvPr id="89" name="Text 87"/>
          <p:cNvSpPr/>
          <p:nvPr/>
        </p:nvSpPr>
        <p:spPr>
          <a:xfrm>
            <a:off x="4526280" y="463600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0.79</a:t>
            </a:r>
            <a:endParaRPr lang="en-US" sz="1000" dirty="0"/>
          </a:p>
        </p:txBody>
      </p:sp>
      <p:sp>
        <p:nvSpPr>
          <p:cNvPr id="90" name="Text 88"/>
          <p:cNvSpPr/>
          <p:nvPr/>
        </p:nvSpPr>
        <p:spPr>
          <a:xfrm>
            <a:off x="5349240" y="463600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1.27</a:t>
            </a:r>
            <a:endParaRPr lang="en-US" sz="1000" dirty="0"/>
          </a:p>
        </p:txBody>
      </p:sp>
      <p:sp>
        <p:nvSpPr>
          <p:cNvPr id="91" name="Text 89"/>
          <p:cNvSpPr/>
          <p:nvPr/>
        </p:nvSpPr>
        <p:spPr>
          <a:xfrm>
            <a:off x="6172200" y="463600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+5.2 pp</a:t>
            </a:r>
            <a:endParaRPr lang="en-US" sz="1000" dirty="0"/>
          </a:p>
        </p:txBody>
      </p:sp>
      <p:sp>
        <p:nvSpPr>
          <p:cNvPr id="92" name="Text 90"/>
          <p:cNvSpPr/>
          <p:nvPr/>
        </p:nvSpPr>
        <p:spPr>
          <a:xfrm>
            <a:off x="7178040" y="463600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0.76</a:t>
            </a:r>
            <a:endParaRPr lang="en-US" sz="1000" dirty="0"/>
          </a:p>
        </p:txBody>
      </p:sp>
      <p:sp>
        <p:nvSpPr>
          <p:cNvPr id="93" name="Text 91"/>
          <p:cNvSpPr/>
          <p:nvPr/>
        </p:nvSpPr>
        <p:spPr>
          <a:xfrm>
            <a:off x="8092440" y="463600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94" name="Text 92"/>
          <p:cNvSpPr/>
          <p:nvPr/>
        </p:nvSpPr>
        <p:spPr>
          <a:xfrm>
            <a:off x="8686800" y="463600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1.27 indistinguishable from 1.0</a:t>
            </a:r>
            <a:endParaRPr lang="en-US" sz="900" dirty="0"/>
          </a:p>
        </p:txBody>
      </p:sp>
      <p:sp>
        <p:nvSpPr>
          <p:cNvPr id="95" name="Shape 93"/>
          <p:cNvSpPr/>
          <p:nvPr/>
        </p:nvSpPr>
        <p:spPr>
          <a:xfrm>
            <a:off x="548640" y="4956048"/>
            <a:ext cx="11064240" cy="320040"/>
          </a:xfrm>
          <a:prstGeom prst="rect">
            <a:avLst/>
          </a:prstGeom>
          <a:solidFill>
            <a:srgbClr val="F5F5F5"/>
          </a:solidFill>
          <a:ln/>
        </p:spPr>
        <p:txBody>
          <a:bodyPr/>
          <a:lstStyle/>
          <a:p>
            <a:endParaRPr lang="en-US"/>
          </a:p>
        </p:txBody>
      </p:sp>
      <p:sp>
        <p:nvSpPr>
          <p:cNvPr id="96" name="Text 94"/>
          <p:cNvSpPr/>
          <p:nvPr/>
        </p:nvSpPr>
        <p:spPr>
          <a:xfrm>
            <a:off x="1783080" y="495604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Asian</a:t>
            </a:r>
            <a:endParaRPr lang="en-US" sz="1000" dirty="0"/>
          </a:p>
        </p:txBody>
      </p:sp>
      <p:sp>
        <p:nvSpPr>
          <p:cNvPr id="97" name="Text 95"/>
          <p:cNvSpPr/>
          <p:nvPr/>
        </p:nvSpPr>
        <p:spPr>
          <a:xfrm>
            <a:off x="3703320" y="495604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−0.08</a:t>
            </a:r>
            <a:endParaRPr lang="en-US" sz="1000" dirty="0"/>
          </a:p>
        </p:txBody>
      </p:sp>
      <p:sp>
        <p:nvSpPr>
          <p:cNvPr id="98" name="Text 96"/>
          <p:cNvSpPr/>
          <p:nvPr/>
        </p:nvSpPr>
        <p:spPr>
          <a:xfrm>
            <a:off x="4526280" y="495604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0.56</a:t>
            </a:r>
            <a:endParaRPr lang="en-US" sz="1000" dirty="0"/>
          </a:p>
        </p:txBody>
      </p:sp>
      <p:sp>
        <p:nvSpPr>
          <p:cNvPr id="99" name="Text 97"/>
          <p:cNvSpPr/>
          <p:nvPr/>
        </p:nvSpPr>
        <p:spPr>
          <a:xfrm>
            <a:off x="5349240" y="495604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0.92</a:t>
            </a:r>
            <a:endParaRPr lang="en-US" sz="1000" dirty="0"/>
          </a:p>
        </p:txBody>
      </p:sp>
      <p:sp>
        <p:nvSpPr>
          <p:cNvPr id="100" name="Text 98"/>
          <p:cNvSpPr/>
          <p:nvPr/>
        </p:nvSpPr>
        <p:spPr>
          <a:xfrm>
            <a:off x="6172200" y="495604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−1.7 pp</a:t>
            </a:r>
            <a:endParaRPr lang="en-US" sz="1000" dirty="0"/>
          </a:p>
        </p:txBody>
      </p:sp>
      <p:sp>
        <p:nvSpPr>
          <p:cNvPr id="101" name="Text 99"/>
          <p:cNvSpPr/>
          <p:nvPr/>
        </p:nvSpPr>
        <p:spPr>
          <a:xfrm>
            <a:off x="7178040" y="495604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0.88</a:t>
            </a:r>
            <a:endParaRPr lang="en-US" sz="1000" dirty="0"/>
          </a:p>
        </p:txBody>
      </p:sp>
      <p:sp>
        <p:nvSpPr>
          <p:cNvPr id="102" name="Text 100"/>
          <p:cNvSpPr/>
          <p:nvPr/>
        </p:nvSpPr>
        <p:spPr>
          <a:xfrm>
            <a:off x="8092440" y="495604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103" name="Text 101"/>
          <p:cNvSpPr/>
          <p:nvPr/>
        </p:nvSpPr>
        <p:spPr>
          <a:xfrm>
            <a:off x="8686800" y="495604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0.92 indistinguishable from 1.0</a:t>
            </a:r>
            <a:endParaRPr lang="en-US" sz="900" dirty="0"/>
          </a:p>
        </p:txBody>
      </p:sp>
      <p:sp>
        <p:nvSpPr>
          <p:cNvPr id="104" name="Shape 102"/>
          <p:cNvSpPr/>
          <p:nvPr/>
        </p:nvSpPr>
        <p:spPr>
          <a:xfrm>
            <a:off x="548640" y="5276088"/>
            <a:ext cx="11064240" cy="320040"/>
          </a:xfrm>
          <a:prstGeom prst="rect">
            <a:avLst/>
          </a:prstGeom>
          <a:solidFill>
            <a:srgbClr val="F5F5F5"/>
          </a:solidFill>
          <a:ln/>
        </p:spPr>
        <p:txBody>
          <a:bodyPr/>
          <a:lstStyle/>
          <a:p>
            <a:endParaRPr lang="en-US"/>
          </a:p>
        </p:txBody>
      </p:sp>
      <p:sp>
        <p:nvSpPr>
          <p:cNvPr id="105" name="Text 103"/>
          <p:cNvSpPr/>
          <p:nvPr/>
        </p:nvSpPr>
        <p:spPr>
          <a:xfrm>
            <a:off x="1783080" y="527608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European/Other dev.</a:t>
            </a:r>
            <a:endParaRPr lang="en-US" sz="1000" dirty="0"/>
          </a:p>
        </p:txBody>
      </p:sp>
      <p:sp>
        <p:nvSpPr>
          <p:cNvPr id="106" name="Text 104"/>
          <p:cNvSpPr/>
          <p:nvPr/>
        </p:nvSpPr>
        <p:spPr>
          <a:xfrm>
            <a:off x="3703320" y="527608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−0.01</a:t>
            </a:r>
            <a:endParaRPr lang="en-US" sz="1000" dirty="0"/>
          </a:p>
        </p:txBody>
      </p:sp>
      <p:sp>
        <p:nvSpPr>
          <p:cNvPr id="107" name="Text 105"/>
          <p:cNvSpPr/>
          <p:nvPr/>
        </p:nvSpPr>
        <p:spPr>
          <a:xfrm>
            <a:off x="4526280" y="527608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0.36</a:t>
            </a:r>
            <a:endParaRPr lang="en-US" sz="1000" dirty="0"/>
          </a:p>
        </p:txBody>
      </p:sp>
      <p:sp>
        <p:nvSpPr>
          <p:cNvPr id="108" name="Text 106"/>
          <p:cNvSpPr/>
          <p:nvPr/>
        </p:nvSpPr>
        <p:spPr>
          <a:xfrm>
            <a:off x="5349240" y="527608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0.99</a:t>
            </a:r>
            <a:endParaRPr lang="en-US" sz="1000" dirty="0"/>
          </a:p>
        </p:txBody>
      </p:sp>
      <p:sp>
        <p:nvSpPr>
          <p:cNvPr id="109" name="Text 107"/>
          <p:cNvSpPr/>
          <p:nvPr/>
        </p:nvSpPr>
        <p:spPr>
          <a:xfrm>
            <a:off x="6172200" y="527608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−0.2 pp</a:t>
            </a:r>
            <a:endParaRPr lang="en-US" sz="1000" dirty="0"/>
          </a:p>
        </p:txBody>
      </p:sp>
      <p:sp>
        <p:nvSpPr>
          <p:cNvPr id="110" name="Text 108"/>
          <p:cNvSpPr/>
          <p:nvPr/>
        </p:nvSpPr>
        <p:spPr>
          <a:xfrm>
            <a:off x="7178040" y="527608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0.97</a:t>
            </a:r>
            <a:endParaRPr lang="en-US" sz="1000" dirty="0"/>
          </a:p>
        </p:txBody>
      </p:sp>
      <p:sp>
        <p:nvSpPr>
          <p:cNvPr id="111" name="Text 109"/>
          <p:cNvSpPr/>
          <p:nvPr/>
        </p:nvSpPr>
        <p:spPr>
          <a:xfrm>
            <a:off x="8092440" y="527608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112" name="Text 110"/>
          <p:cNvSpPr/>
          <p:nvPr/>
        </p:nvSpPr>
        <p:spPr>
          <a:xfrm>
            <a:off x="8686800" y="527608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0.99 indistinguishable from 1.0</a:t>
            </a:r>
            <a:endParaRPr lang="en-US" sz="900" dirty="0"/>
          </a:p>
        </p:txBody>
      </p:sp>
      <p:sp>
        <p:nvSpPr>
          <p:cNvPr id="113" name="Shape 111"/>
          <p:cNvSpPr/>
          <p:nvPr/>
        </p:nvSpPr>
        <p:spPr>
          <a:xfrm>
            <a:off x="548640" y="5596128"/>
            <a:ext cx="11064240" cy="320040"/>
          </a:xfrm>
          <a:prstGeom prst="rect">
            <a:avLst/>
          </a:prstGeom>
          <a:solidFill>
            <a:srgbClr val="F5F5F5"/>
          </a:solidFill>
          <a:ln/>
        </p:spPr>
        <p:txBody>
          <a:bodyPr/>
          <a:lstStyle/>
          <a:p>
            <a:endParaRPr lang="en-US"/>
          </a:p>
        </p:txBody>
      </p:sp>
      <p:sp>
        <p:nvSpPr>
          <p:cNvPr id="114" name="Text 112"/>
          <p:cNvSpPr/>
          <p:nvPr/>
        </p:nvSpPr>
        <p:spPr>
          <a:xfrm>
            <a:off x="1783080" y="5596128"/>
            <a:ext cx="1874520" cy="320040"/>
          </a:xfrm>
          <a:prstGeom prst="rect">
            <a:avLst/>
          </a:prstGeom>
          <a:noFill/>
          <a:ln/>
        </p:spPr>
        <p:txBody>
          <a:bodyPr wrap="square" lIns="0" tIns="0" rIns="0" bIns="0" rtlCol="0" anchor="ctr"/>
          <a:lstStyle/>
          <a:p>
            <a:pPr marL="0" indent="0" algn="l">
              <a:buNone/>
            </a:pPr>
            <a:r>
              <a:rPr lang="en-US" sz="1000" dirty="0">
                <a:solidFill>
                  <a:srgbClr val="36454F"/>
                </a:solidFill>
                <a:latin typeface="Calibri" pitchFamily="34" charset="0"/>
                <a:ea typeface="Calibri" pitchFamily="34" charset="-122"/>
                <a:cs typeface="Calibri" pitchFamily="34" charset="-120"/>
              </a:rPr>
              <a:t>Other</a:t>
            </a:r>
            <a:endParaRPr lang="en-US" sz="1000" dirty="0"/>
          </a:p>
        </p:txBody>
      </p:sp>
      <p:sp>
        <p:nvSpPr>
          <p:cNvPr id="115" name="Text 113"/>
          <p:cNvSpPr/>
          <p:nvPr/>
        </p:nvSpPr>
        <p:spPr>
          <a:xfrm>
            <a:off x="3703320" y="5596128"/>
            <a:ext cx="77724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 0.11</a:t>
            </a:r>
            <a:endParaRPr lang="en-US" sz="1000" dirty="0"/>
          </a:p>
        </p:txBody>
      </p:sp>
      <p:sp>
        <p:nvSpPr>
          <p:cNvPr id="116" name="Text 114"/>
          <p:cNvSpPr/>
          <p:nvPr/>
        </p:nvSpPr>
        <p:spPr>
          <a:xfrm>
            <a:off x="4526280" y="5596128"/>
            <a:ext cx="77724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0.66</a:t>
            </a:r>
            <a:endParaRPr lang="en-US" sz="1000" dirty="0"/>
          </a:p>
        </p:txBody>
      </p:sp>
      <p:sp>
        <p:nvSpPr>
          <p:cNvPr id="117" name="Text 115"/>
          <p:cNvSpPr/>
          <p:nvPr/>
        </p:nvSpPr>
        <p:spPr>
          <a:xfrm>
            <a:off x="5349240" y="5596128"/>
            <a:ext cx="777240" cy="320040"/>
          </a:xfrm>
          <a:prstGeom prst="rect">
            <a:avLst/>
          </a:prstGeom>
          <a:noFill/>
          <a:ln/>
        </p:spPr>
        <p:txBody>
          <a:bodyPr wrap="square" lIns="0" tIns="0" rIns="0" bIns="0" rtlCol="0" anchor="ctr"/>
          <a:lstStyle/>
          <a:p>
            <a:pPr marL="0" indent="0" algn="ctr">
              <a:buNone/>
            </a:pPr>
            <a:r>
              <a:rPr lang="en-US" sz="1000" b="1" dirty="0">
                <a:solidFill>
                  <a:srgbClr val="36454F"/>
                </a:solidFill>
                <a:latin typeface="Calibri" pitchFamily="34" charset="0"/>
                <a:ea typeface="Calibri" pitchFamily="34" charset="-122"/>
                <a:cs typeface="Calibri" pitchFamily="34" charset="-120"/>
              </a:rPr>
              <a:t>1.12</a:t>
            </a:r>
            <a:endParaRPr lang="en-US" sz="1000" dirty="0"/>
          </a:p>
        </p:txBody>
      </p:sp>
      <p:sp>
        <p:nvSpPr>
          <p:cNvPr id="118" name="Text 116"/>
          <p:cNvSpPr/>
          <p:nvPr/>
        </p:nvSpPr>
        <p:spPr>
          <a:xfrm>
            <a:off x="6172200" y="5596128"/>
            <a:ext cx="960120" cy="320040"/>
          </a:xfrm>
          <a:prstGeom prst="rect">
            <a:avLst/>
          </a:prstGeom>
          <a:noFill/>
          <a:ln/>
        </p:spPr>
        <p:txBody>
          <a:bodyPr wrap="square" lIns="0" tIns="0" rIns="0" bIns="0" rtlCol="0" anchor="ctr"/>
          <a:lstStyle/>
          <a:p>
            <a:pPr marL="0" indent="0" algn="ctr">
              <a:buNone/>
            </a:pPr>
            <a:r>
              <a:rPr lang="en-US" sz="1000" dirty="0">
                <a:solidFill>
                  <a:srgbClr val="4A5A66"/>
                </a:solidFill>
                <a:latin typeface="Calibri" pitchFamily="34" charset="0"/>
                <a:ea typeface="Calibri" pitchFamily="34" charset="-122"/>
                <a:cs typeface="Calibri" pitchFamily="34" charset="-120"/>
              </a:rPr>
              <a:t>+2.4 pp</a:t>
            </a:r>
            <a:endParaRPr lang="en-US" sz="1000" dirty="0"/>
          </a:p>
        </p:txBody>
      </p:sp>
      <p:sp>
        <p:nvSpPr>
          <p:cNvPr id="119" name="Text 117"/>
          <p:cNvSpPr/>
          <p:nvPr/>
        </p:nvSpPr>
        <p:spPr>
          <a:xfrm>
            <a:off x="7178040" y="5596128"/>
            <a:ext cx="868680" cy="320040"/>
          </a:xfrm>
          <a:prstGeom prst="rect">
            <a:avLst/>
          </a:prstGeom>
          <a:noFill/>
          <a:ln/>
        </p:spPr>
        <p:txBody>
          <a:bodyPr wrap="square" lIns="0" tIns="0" rIns="0" bIns="0" rtlCol="0" anchor="ctr"/>
          <a:lstStyle/>
          <a:p>
            <a:pPr marL="0" indent="0" algn="ctr">
              <a:buNone/>
            </a:pPr>
            <a:r>
              <a:rPr lang="en-US" sz="1000" dirty="0">
                <a:solidFill>
                  <a:srgbClr val="36454F"/>
                </a:solidFill>
                <a:latin typeface="Calibri" pitchFamily="34" charset="0"/>
                <a:ea typeface="Calibri" pitchFamily="34" charset="-122"/>
                <a:cs typeface="Calibri" pitchFamily="34" charset="-120"/>
              </a:rPr>
              <a:t>0.86</a:t>
            </a:r>
            <a:endParaRPr lang="en-US" sz="1000" dirty="0"/>
          </a:p>
        </p:txBody>
      </p:sp>
      <p:sp>
        <p:nvSpPr>
          <p:cNvPr id="120" name="Text 118"/>
          <p:cNvSpPr/>
          <p:nvPr/>
        </p:nvSpPr>
        <p:spPr>
          <a:xfrm>
            <a:off x="8092440" y="5596128"/>
            <a:ext cx="548640" cy="320040"/>
          </a:xfrm>
          <a:prstGeom prst="rect">
            <a:avLst/>
          </a:prstGeom>
          <a:noFill/>
          <a:ln/>
        </p:spPr>
        <p:txBody>
          <a:bodyPr wrap="square" lIns="0" tIns="0" rIns="0" bIns="0" rtlCol="0" anchor="ctr"/>
          <a:lstStyle/>
          <a:p>
            <a:pPr marL="0" indent="0" algn="ctr">
              <a:buNone/>
            </a:pPr>
            <a:r>
              <a:rPr lang="en-US" sz="1400" b="1" dirty="0">
                <a:solidFill>
                  <a:srgbClr val="8A9499"/>
                </a:solidFill>
                <a:latin typeface="Calibri" pitchFamily="34" charset="0"/>
                <a:ea typeface="Calibri" pitchFamily="34" charset="-122"/>
                <a:cs typeface="Calibri" pitchFamily="34" charset="-120"/>
              </a:rPr>
              <a:t>—</a:t>
            </a:r>
            <a:endParaRPr lang="en-US" sz="1400" dirty="0"/>
          </a:p>
        </p:txBody>
      </p:sp>
      <p:sp>
        <p:nvSpPr>
          <p:cNvPr id="121" name="Text 119"/>
          <p:cNvSpPr/>
          <p:nvPr/>
        </p:nvSpPr>
        <p:spPr>
          <a:xfrm>
            <a:off x="8686800" y="5596128"/>
            <a:ext cx="2926080" cy="320040"/>
          </a:xfrm>
          <a:prstGeom prst="rect">
            <a:avLst/>
          </a:prstGeom>
          <a:noFill/>
          <a:ln/>
        </p:spPr>
        <p:txBody>
          <a:bodyPr wrap="square" lIns="0" tIns="0" rIns="0" bIns="0" rtlCol="0" anchor="ctr"/>
          <a:lstStyle/>
          <a:p>
            <a:pPr marL="0" indent="0" algn="l">
              <a:buNone/>
            </a:pPr>
            <a:r>
              <a:rPr lang="en-US" sz="900" i="1" dirty="0">
                <a:solidFill>
                  <a:srgbClr val="4A5A66"/>
                </a:solidFill>
                <a:latin typeface="Calibri" pitchFamily="34" charset="0"/>
                <a:ea typeface="Calibri" pitchFamily="34" charset="-122"/>
                <a:cs typeface="Calibri" pitchFamily="34" charset="-120"/>
              </a:rPr>
              <a:t>OR ≈ 1.12 indistinguishable from 1.0</a:t>
            </a:r>
            <a:endParaRPr lang="en-US" sz="900" dirty="0"/>
          </a:p>
        </p:txBody>
      </p:sp>
      <p:sp>
        <p:nvSpPr>
          <p:cNvPr id="122" name="Text 120"/>
          <p:cNvSpPr/>
          <p:nvPr/>
        </p:nvSpPr>
        <p:spPr>
          <a:xfrm>
            <a:off x="548640" y="6099048"/>
            <a:ext cx="11064240" cy="548640"/>
          </a:xfrm>
          <a:prstGeom prst="rect">
            <a:avLst/>
          </a:prstGeom>
          <a:noFill/>
          <a:ln/>
        </p:spPr>
        <p:txBody>
          <a:bodyPr wrap="square" lIns="0" tIns="0" rIns="0" bIns="0" rtlCol="0" anchor="t"/>
          <a:lstStyle/>
          <a:p>
            <a:pPr marL="0" indent="0">
              <a:buNone/>
            </a:pPr>
            <a:r>
              <a:rPr lang="en-US" sz="1000" b="1" dirty="0">
                <a:solidFill>
                  <a:srgbClr val="028090"/>
                </a:solidFill>
                <a:latin typeface="Calibri" pitchFamily="34" charset="0"/>
                <a:ea typeface="Calibri" pitchFamily="34" charset="-122"/>
                <a:cs typeface="Calibri" pitchFamily="34" charset="-120"/>
              </a:rPr>
              <a:t>Reading: </a:t>
            </a:r>
            <a:r>
              <a:rPr lang="en-US" sz="1000" dirty="0">
                <a:solidFill>
                  <a:srgbClr val="4A5A66"/>
                </a:solidFill>
                <a:latin typeface="Calibri" pitchFamily="34" charset="0"/>
                <a:ea typeface="Calibri" pitchFamily="34" charset="-122"/>
                <a:cs typeface="Calibri" pitchFamily="34" charset="-120"/>
              </a:rPr>
              <a:t>β = log-odds coefficient. OR = exp(β). Percentage-point change is approximated as </a:t>
            </a:r>
            <a:r>
              <a:rPr lang="en-US" sz="1000" i="1" dirty="0">
                <a:solidFill>
                  <a:srgbClr val="4A5A66"/>
                </a:solidFill>
                <a:latin typeface="Calibri" pitchFamily="34" charset="0"/>
                <a:ea typeface="Calibri" pitchFamily="34" charset="-122"/>
                <a:cs typeface="Calibri" pitchFamily="34" charset="-120"/>
              </a:rPr>
              <a:t>(OR − 1) × base rate</a:t>
            </a:r>
            <a:r>
              <a:rPr lang="en-US" sz="1000" dirty="0">
                <a:solidFill>
                  <a:srgbClr val="4A5A66"/>
                </a:solidFill>
                <a:latin typeface="Calibri" pitchFamily="34" charset="0"/>
                <a:ea typeface="Calibri" pitchFamily="34" charset="-122"/>
                <a:cs typeface="Calibri" pitchFamily="34" charset="-120"/>
              </a:rPr>
              <a:t> for the Latin American reference group; marginal effects at the means produce similar magnitudes. </a:t>
            </a:r>
            <a:r>
              <a:rPr lang="en-US" sz="1000" b="1" dirty="0">
                <a:solidFill>
                  <a:srgbClr val="36454F"/>
                </a:solidFill>
                <a:latin typeface="Calibri" pitchFamily="34" charset="0"/>
                <a:ea typeface="Calibri" pitchFamily="34" charset="-122"/>
                <a:cs typeface="Calibri" pitchFamily="34" charset="-120"/>
              </a:rPr>
              <a:t>All twelve cells fail to reach statistical significance at p &lt; 0.05.</a:t>
            </a:r>
            <a:endParaRPr lang="en-US" sz="1000" dirty="0"/>
          </a:p>
        </p:txBody>
      </p:sp>
      <p:sp>
        <p:nvSpPr>
          <p:cNvPr id="123" name="Text 121"/>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8 / 12</a:t>
            </a:r>
            <a:endParaRPr lang="en-US" sz="1000" dirty="0"/>
          </a:p>
        </p:txBody>
      </p:sp>
      <p:sp>
        <p:nvSpPr>
          <p:cNvPr id="124" name="Text 122"/>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Maybe It's About Time?</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A direct test of the early-stage segmentation counter-argument</a:t>
            </a:r>
            <a:endParaRPr lang="en-US" sz="1400" dirty="0"/>
          </a:p>
        </p:txBody>
      </p:sp>
      <p:sp>
        <p:nvSpPr>
          <p:cNvPr id="5" name="Shape 3"/>
          <p:cNvSpPr/>
          <p:nvPr/>
        </p:nvSpPr>
        <p:spPr>
          <a:xfrm>
            <a:off x="548640" y="1691640"/>
            <a:ext cx="11064240" cy="868680"/>
          </a:xfrm>
          <a:prstGeom prst="rect">
            <a:avLst/>
          </a:prstGeom>
          <a:solidFill>
            <a:srgbClr val="B8DEE2"/>
          </a:solidFill>
          <a:ln/>
        </p:spPr>
        <p:txBody>
          <a:bodyPr/>
          <a:lstStyle/>
          <a:p>
            <a:endParaRPr lang="en-US"/>
          </a:p>
        </p:txBody>
      </p:sp>
      <p:sp>
        <p:nvSpPr>
          <p:cNvPr id="6" name="Text 4"/>
          <p:cNvSpPr/>
          <p:nvPr/>
        </p:nvSpPr>
        <p:spPr>
          <a:xfrm>
            <a:off x="777240" y="1783080"/>
            <a:ext cx="10607040" cy="685800"/>
          </a:xfrm>
          <a:prstGeom prst="rect">
            <a:avLst/>
          </a:prstGeom>
          <a:noFill/>
          <a:ln/>
        </p:spPr>
        <p:txBody>
          <a:bodyPr wrap="square" lIns="0" tIns="0" rIns="0" bIns="0" rtlCol="0" anchor="ctr"/>
          <a:lstStyle/>
          <a:p>
            <a:pPr marL="0" indent="0" algn="l">
              <a:buNone/>
            </a:pPr>
            <a:r>
              <a:rPr lang="en-US" sz="1500" b="1" dirty="0">
                <a:solidFill>
                  <a:srgbClr val="01636F"/>
                </a:solidFill>
                <a:latin typeface="Calibri" pitchFamily="34" charset="0"/>
                <a:ea typeface="Calibri" pitchFamily="34" charset="-122"/>
                <a:cs typeface="Calibri" pitchFamily="34" charset="-120"/>
              </a:rPr>
              <a:t>The critique:  </a:t>
            </a:r>
            <a:r>
              <a:rPr lang="en-US" sz="1500" i="1" dirty="0">
                <a:solidFill>
                  <a:srgbClr val="36454F"/>
                </a:solidFill>
                <a:latin typeface="Calibri" pitchFamily="34" charset="0"/>
                <a:ea typeface="Calibri" pitchFamily="34" charset="-122"/>
                <a:cs typeface="Calibri" pitchFamily="34" charset="-120"/>
              </a:rPr>
              <a:t>"Segmented assimilation operates early. Your average respondent has been here 36.8 years — by then, gaps have already converged."</a:t>
            </a:r>
            <a:endParaRPr lang="en-US" sz="1500" dirty="0"/>
          </a:p>
        </p:txBody>
      </p:sp>
      <p:sp>
        <p:nvSpPr>
          <p:cNvPr id="7" name="Shape 5"/>
          <p:cNvSpPr/>
          <p:nvPr/>
        </p:nvSpPr>
        <p:spPr>
          <a:xfrm>
            <a:off x="548640" y="2834640"/>
            <a:ext cx="5440680" cy="502920"/>
          </a:xfrm>
          <a:prstGeom prst="rect">
            <a:avLst/>
          </a:prstGeom>
          <a:solidFill>
            <a:srgbClr val="028090"/>
          </a:solidFill>
          <a:ln/>
        </p:spPr>
        <p:txBody>
          <a:bodyPr/>
          <a:lstStyle/>
          <a:p>
            <a:endParaRPr lang="en-US"/>
          </a:p>
        </p:txBody>
      </p:sp>
      <p:sp>
        <p:nvSpPr>
          <p:cNvPr id="8" name="Text 6"/>
          <p:cNvSpPr/>
          <p:nvPr/>
        </p:nvSpPr>
        <p:spPr>
          <a:xfrm>
            <a:off x="548640" y="2834640"/>
            <a:ext cx="5440680" cy="502920"/>
          </a:xfrm>
          <a:prstGeom prst="rect">
            <a:avLst/>
          </a:prstGeom>
          <a:noFill/>
          <a:ln/>
        </p:spPr>
        <p:txBody>
          <a:bodyPr wrap="square" lIns="0" tIns="0" rIns="0" bIns="0"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RECENT ARRIVALS</a:t>
            </a:r>
            <a:endParaRPr lang="en-US" sz="1300" dirty="0"/>
          </a:p>
        </p:txBody>
      </p:sp>
      <p:sp>
        <p:nvSpPr>
          <p:cNvPr id="9" name="Shape 7"/>
          <p:cNvSpPr/>
          <p:nvPr/>
        </p:nvSpPr>
        <p:spPr>
          <a:xfrm>
            <a:off x="548640" y="3337560"/>
            <a:ext cx="5440680" cy="2743200"/>
          </a:xfrm>
          <a:prstGeom prst="rect">
            <a:avLst/>
          </a:prstGeom>
          <a:solidFill>
            <a:srgbClr val="F5F5F5"/>
          </a:solidFill>
          <a:ln w="6350">
            <a:solidFill>
              <a:srgbClr val="C9CFD3"/>
            </a:solidFill>
            <a:prstDash val="solid"/>
          </a:ln>
        </p:spPr>
        <p:txBody>
          <a:bodyPr/>
          <a:lstStyle/>
          <a:p>
            <a:endParaRPr lang="en-US"/>
          </a:p>
        </p:txBody>
      </p:sp>
      <p:sp>
        <p:nvSpPr>
          <p:cNvPr id="10" name="Text 8"/>
          <p:cNvSpPr/>
          <p:nvPr/>
        </p:nvSpPr>
        <p:spPr>
          <a:xfrm>
            <a:off x="548640" y="3474720"/>
            <a:ext cx="5440680" cy="640080"/>
          </a:xfrm>
          <a:prstGeom prst="rect">
            <a:avLst/>
          </a:prstGeom>
          <a:noFill/>
          <a:ln/>
        </p:spPr>
        <p:txBody>
          <a:bodyPr wrap="square" lIns="0" tIns="0" rIns="0" bIns="0" rtlCol="0" anchor="ctr"/>
          <a:lstStyle/>
          <a:p>
            <a:pPr marL="0" indent="0" algn="ctr">
              <a:buNone/>
            </a:pPr>
            <a:r>
              <a:rPr lang="en-US" sz="3200" b="1" i="1" dirty="0">
                <a:solidFill>
                  <a:srgbClr val="36454F"/>
                </a:solidFill>
                <a:latin typeface="Georgia" pitchFamily="34" charset="0"/>
                <a:ea typeface="Georgia" pitchFamily="34" charset="-122"/>
                <a:cs typeface="Georgia" pitchFamily="34" charset="-120"/>
              </a:rPr>
              <a:t>≤ 15 years</a:t>
            </a:r>
            <a:endParaRPr lang="en-US" sz="3200" dirty="0"/>
          </a:p>
        </p:txBody>
      </p:sp>
      <p:sp>
        <p:nvSpPr>
          <p:cNvPr id="11" name="Text 9"/>
          <p:cNvSpPr/>
          <p:nvPr/>
        </p:nvSpPr>
        <p:spPr>
          <a:xfrm>
            <a:off x="548640" y="4206240"/>
            <a:ext cx="5440680" cy="365760"/>
          </a:xfrm>
          <a:prstGeom prst="rect">
            <a:avLst/>
          </a:prstGeom>
          <a:noFill/>
          <a:ln/>
        </p:spPr>
        <p:txBody>
          <a:bodyPr wrap="square" lIns="0" tIns="0" rIns="0" bIns="0" rtlCol="0" anchor="ctr"/>
          <a:lstStyle/>
          <a:p>
            <a:pPr marL="0" indent="0" algn="ctr">
              <a:buNone/>
            </a:pPr>
            <a:r>
              <a:rPr lang="en-US" sz="1400" i="1" dirty="0">
                <a:solidFill>
                  <a:srgbClr val="8A9499"/>
                </a:solidFill>
                <a:latin typeface="Calibri" pitchFamily="34" charset="0"/>
                <a:ea typeface="Calibri" pitchFamily="34" charset="-122"/>
                <a:cs typeface="Calibri" pitchFamily="34" charset="-120"/>
              </a:rPr>
              <a:t>n = 158</a:t>
            </a:r>
            <a:endParaRPr lang="en-US" sz="1400" dirty="0"/>
          </a:p>
        </p:txBody>
      </p:sp>
      <p:sp>
        <p:nvSpPr>
          <p:cNvPr id="12" name="Text 10"/>
          <p:cNvSpPr/>
          <p:nvPr/>
        </p:nvSpPr>
        <p:spPr>
          <a:xfrm>
            <a:off x="731520" y="4663440"/>
            <a:ext cx="5074920" cy="457200"/>
          </a:xfrm>
          <a:prstGeom prst="rect">
            <a:avLst/>
          </a:prstGeom>
          <a:noFill/>
          <a:ln/>
        </p:spPr>
        <p:txBody>
          <a:bodyPr wrap="square" lIns="0" tIns="0" rIns="0" bIns="0" rtlCol="0" anchor="t"/>
          <a:lstStyle/>
          <a:p>
            <a:pPr marL="0" indent="0" algn="ctr">
              <a:buNone/>
            </a:pPr>
            <a:r>
              <a:rPr lang="en-US" sz="1300" dirty="0">
                <a:solidFill>
                  <a:srgbClr val="4A5A66"/>
                </a:solidFill>
                <a:latin typeface="Calibri" pitchFamily="34" charset="0"/>
                <a:ea typeface="Calibri" pitchFamily="34" charset="-122"/>
                <a:cs typeface="Calibri" pitchFamily="34" charset="-120"/>
              </a:rPr>
              <a:t>Where segmentation effects should be largest</a:t>
            </a:r>
            <a:endParaRPr lang="en-US" sz="1300" dirty="0"/>
          </a:p>
        </p:txBody>
      </p:sp>
      <p:sp>
        <p:nvSpPr>
          <p:cNvPr id="13" name="Shape 11"/>
          <p:cNvSpPr/>
          <p:nvPr/>
        </p:nvSpPr>
        <p:spPr>
          <a:xfrm>
            <a:off x="548640" y="5532120"/>
            <a:ext cx="5440680" cy="548640"/>
          </a:xfrm>
          <a:prstGeom prst="rect">
            <a:avLst/>
          </a:prstGeom>
          <a:solidFill>
            <a:srgbClr val="36454F"/>
          </a:solidFill>
          <a:ln/>
        </p:spPr>
        <p:txBody>
          <a:bodyPr/>
          <a:lstStyle/>
          <a:p>
            <a:endParaRPr lang="en-US"/>
          </a:p>
        </p:txBody>
      </p:sp>
      <p:sp>
        <p:nvSpPr>
          <p:cNvPr id="14" name="Text 12"/>
          <p:cNvSpPr/>
          <p:nvPr/>
        </p:nvSpPr>
        <p:spPr>
          <a:xfrm>
            <a:off x="548640" y="5532120"/>
            <a:ext cx="5440680" cy="548640"/>
          </a:xfrm>
          <a:prstGeom prst="rect">
            <a:avLst/>
          </a:prstGeom>
          <a:noFill/>
          <a:ln/>
        </p:spPr>
        <p:txBody>
          <a:bodyPr wrap="square" lIns="0" tIns="0" rIns="0" bIns="0" rtlCol="0" anchor="ctr"/>
          <a:lstStyle/>
          <a:p>
            <a:pPr marL="0" indent="0" algn="ctr">
              <a:buNone/>
            </a:pPr>
            <a:r>
              <a:rPr lang="en-US" sz="1300" b="1" dirty="0">
                <a:solidFill>
                  <a:srgbClr val="B8DEE2"/>
                </a:solidFill>
                <a:latin typeface="Calibri" pitchFamily="34" charset="0"/>
                <a:ea typeface="Calibri" pitchFamily="34" charset="-122"/>
                <a:cs typeface="Calibri" pitchFamily="34" charset="-120"/>
              </a:rPr>
              <a:t>No origin × outcome cells significant</a:t>
            </a:r>
            <a:endParaRPr lang="en-US" sz="1300" dirty="0"/>
          </a:p>
        </p:txBody>
      </p:sp>
      <p:sp>
        <p:nvSpPr>
          <p:cNvPr id="15" name="Shape 13"/>
          <p:cNvSpPr/>
          <p:nvPr/>
        </p:nvSpPr>
        <p:spPr>
          <a:xfrm>
            <a:off x="6172200" y="2834640"/>
            <a:ext cx="5440680" cy="502920"/>
          </a:xfrm>
          <a:prstGeom prst="rect">
            <a:avLst/>
          </a:prstGeom>
          <a:solidFill>
            <a:srgbClr val="4A5A66"/>
          </a:solidFill>
          <a:ln/>
        </p:spPr>
        <p:txBody>
          <a:bodyPr/>
          <a:lstStyle/>
          <a:p>
            <a:endParaRPr lang="en-US"/>
          </a:p>
        </p:txBody>
      </p:sp>
      <p:sp>
        <p:nvSpPr>
          <p:cNvPr id="16" name="Text 14"/>
          <p:cNvSpPr/>
          <p:nvPr/>
        </p:nvSpPr>
        <p:spPr>
          <a:xfrm>
            <a:off x="6172200" y="2834640"/>
            <a:ext cx="5440680" cy="502920"/>
          </a:xfrm>
          <a:prstGeom prst="rect">
            <a:avLst/>
          </a:prstGeom>
          <a:noFill/>
          <a:ln/>
        </p:spPr>
        <p:txBody>
          <a:bodyPr wrap="square" lIns="0" tIns="0" rIns="0" bIns="0"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LONG-TENURED</a:t>
            </a:r>
            <a:endParaRPr lang="en-US" sz="1300" dirty="0"/>
          </a:p>
        </p:txBody>
      </p:sp>
      <p:sp>
        <p:nvSpPr>
          <p:cNvPr id="17" name="Shape 15"/>
          <p:cNvSpPr/>
          <p:nvPr/>
        </p:nvSpPr>
        <p:spPr>
          <a:xfrm>
            <a:off x="6172200" y="3337560"/>
            <a:ext cx="5440680" cy="2743200"/>
          </a:xfrm>
          <a:prstGeom prst="rect">
            <a:avLst/>
          </a:prstGeom>
          <a:solidFill>
            <a:srgbClr val="F5F5F5"/>
          </a:solidFill>
          <a:ln w="6350">
            <a:solidFill>
              <a:srgbClr val="C9CFD3"/>
            </a:solidFill>
            <a:prstDash val="solid"/>
          </a:ln>
        </p:spPr>
        <p:txBody>
          <a:bodyPr/>
          <a:lstStyle/>
          <a:p>
            <a:endParaRPr lang="en-US"/>
          </a:p>
        </p:txBody>
      </p:sp>
      <p:sp>
        <p:nvSpPr>
          <p:cNvPr id="18" name="Text 16"/>
          <p:cNvSpPr/>
          <p:nvPr/>
        </p:nvSpPr>
        <p:spPr>
          <a:xfrm>
            <a:off x="6172200" y="3474720"/>
            <a:ext cx="5440680" cy="640080"/>
          </a:xfrm>
          <a:prstGeom prst="rect">
            <a:avLst/>
          </a:prstGeom>
          <a:noFill/>
          <a:ln/>
        </p:spPr>
        <p:txBody>
          <a:bodyPr wrap="square" lIns="0" tIns="0" rIns="0" bIns="0" rtlCol="0" anchor="ctr"/>
          <a:lstStyle/>
          <a:p>
            <a:pPr marL="0" indent="0" algn="ctr">
              <a:buNone/>
            </a:pPr>
            <a:r>
              <a:rPr lang="en-US" sz="3200" b="1" i="1" dirty="0">
                <a:solidFill>
                  <a:srgbClr val="36454F"/>
                </a:solidFill>
                <a:latin typeface="Georgia" pitchFamily="34" charset="0"/>
                <a:ea typeface="Georgia" pitchFamily="34" charset="-122"/>
                <a:cs typeface="Georgia" pitchFamily="34" charset="-120"/>
              </a:rPr>
              <a:t>&gt; 15 years</a:t>
            </a:r>
            <a:endParaRPr lang="en-US" sz="3200" dirty="0"/>
          </a:p>
        </p:txBody>
      </p:sp>
      <p:sp>
        <p:nvSpPr>
          <p:cNvPr id="19" name="Text 17"/>
          <p:cNvSpPr/>
          <p:nvPr/>
        </p:nvSpPr>
        <p:spPr>
          <a:xfrm>
            <a:off x="6172200" y="4206240"/>
            <a:ext cx="5440680" cy="365760"/>
          </a:xfrm>
          <a:prstGeom prst="rect">
            <a:avLst/>
          </a:prstGeom>
          <a:noFill/>
          <a:ln/>
        </p:spPr>
        <p:txBody>
          <a:bodyPr wrap="square" lIns="0" tIns="0" rIns="0" bIns="0" rtlCol="0" anchor="ctr"/>
          <a:lstStyle/>
          <a:p>
            <a:pPr marL="0" indent="0" algn="ctr">
              <a:buNone/>
            </a:pPr>
            <a:r>
              <a:rPr lang="en-US" sz="1400" i="1" dirty="0">
                <a:solidFill>
                  <a:srgbClr val="8A9499"/>
                </a:solidFill>
                <a:latin typeface="Calibri" pitchFamily="34" charset="0"/>
                <a:ea typeface="Calibri" pitchFamily="34" charset="-122"/>
                <a:cs typeface="Calibri" pitchFamily="34" charset="-120"/>
              </a:rPr>
              <a:t>n = 945</a:t>
            </a:r>
            <a:endParaRPr lang="en-US" sz="1400" dirty="0"/>
          </a:p>
        </p:txBody>
      </p:sp>
      <p:sp>
        <p:nvSpPr>
          <p:cNvPr id="20" name="Text 18"/>
          <p:cNvSpPr/>
          <p:nvPr/>
        </p:nvSpPr>
        <p:spPr>
          <a:xfrm>
            <a:off x="6355080" y="4663440"/>
            <a:ext cx="5074920" cy="457200"/>
          </a:xfrm>
          <a:prstGeom prst="rect">
            <a:avLst/>
          </a:prstGeom>
          <a:noFill/>
          <a:ln/>
        </p:spPr>
        <p:txBody>
          <a:bodyPr wrap="square" lIns="0" tIns="0" rIns="0" bIns="0" rtlCol="0" anchor="t"/>
          <a:lstStyle/>
          <a:p>
            <a:pPr marL="0" indent="0" algn="ctr">
              <a:buNone/>
            </a:pPr>
            <a:r>
              <a:rPr lang="en-US" sz="1300" dirty="0">
                <a:solidFill>
                  <a:srgbClr val="4A5A66"/>
                </a:solidFill>
                <a:latin typeface="Calibri" pitchFamily="34" charset="0"/>
                <a:ea typeface="Calibri" pitchFamily="34" charset="-122"/>
                <a:cs typeface="Calibri" pitchFamily="34" charset="-120"/>
              </a:rPr>
              <a:t>Where convergence should already be complete</a:t>
            </a:r>
            <a:endParaRPr lang="en-US" sz="1300" dirty="0"/>
          </a:p>
        </p:txBody>
      </p:sp>
      <p:sp>
        <p:nvSpPr>
          <p:cNvPr id="21" name="Shape 19"/>
          <p:cNvSpPr/>
          <p:nvPr/>
        </p:nvSpPr>
        <p:spPr>
          <a:xfrm>
            <a:off x="6172200" y="5532120"/>
            <a:ext cx="5440680" cy="548640"/>
          </a:xfrm>
          <a:prstGeom prst="rect">
            <a:avLst/>
          </a:prstGeom>
          <a:solidFill>
            <a:srgbClr val="36454F"/>
          </a:solidFill>
          <a:ln/>
        </p:spPr>
        <p:txBody>
          <a:bodyPr/>
          <a:lstStyle/>
          <a:p>
            <a:endParaRPr lang="en-US"/>
          </a:p>
        </p:txBody>
      </p:sp>
      <p:sp>
        <p:nvSpPr>
          <p:cNvPr id="22" name="Text 20"/>
          <p:cNvSpPr/>
          <p:nvPr/>
        </p:nvSpPr>
        <p:spPr>
          <a:xfrm>
            <a:off x="6172200" y="5532120"/>
            <a:ext cx="5440680" cy="548640"/>
          </a:xfrm>
          <a:prstGeom prst="rect">
            <a:avLst/>
          </a:prstGeom>
          <a:noFill/>
          <a:ln/>
        </p:spPr>
        <p:txBody>
          <a:bodyPr wrap="square" lIns="0" tIns="0" rIns="0" bIns="0" rtlCol="0" anchor="ctr"/>
          <a:lstStyle/>
          <a:p>
            <a:pPr marL="0" indent="0" algn="ctr">
              <a:buNone/>
            </a:pPr>
            <a:r>
              <a:rPr lang="en-US" sz="1300" b="1" dirty="0">
                <a:solidFill>
                  <a:srgbClr val="B8DEE2"/>
                </a:solidFill>
                <a:latin typeface="Calibri" pitchFamily="34" charset="0"/>
                <a:ea typeface="Calibri" pitchFamily="34" charset="-122"/>
                <a:cs typeface="Calibri" pitchFamily="34" charset="-120"/>
              </a:rPr>
              <a:t>No origin × outcome cells significant</a:t>
            </a:r>
            <a:endParaRPr lang="en-US" sz="1300" dirty="0"/>
          </a:p>
        </p:txBody>
      </p:sp>
      <p:sp>
        <p:nvSpPr>
          <p:cNvPr id="23" name="Text 21"/>
          <p:cNvSpPr/>
          <p:nvPr/>
        </p:nvSpPr>
        <p:spPr>
          <a:xfrm>
            <a:off x="548640" y="6263640"/>
            <a:ext cx="11064240" cy="365760"/>
          </a:xfrm>
          <a:prstGeom prst="rect">
            <a:avLst/>
          </a:prstGeom>
          <a:noFill/>
          <a:ln/>
        </p:spPr>
        <p:txBody>
          <a:bodyPr wrap="square" lIns="0" tIns="0" rIns="0" bIns="0" rtlCol="0" anchor="ctr"/>
          <a:lstStyle/>
          <a:p>
            <a:pPr marL="0" indent="0" algn="ctr">
              <a:buNone/>
            </a:pPr>
            <a:r>
              <a:rPr lang="en-US" sz="1400" i="1" dirty="0">
                <a:solidFill>
                  <a:srgbClr val="4A5A66"/>
                </a:solidFill>
                <a:latin typeface="Calibri" pitchFamily="34" charset="0"/>
                <a:ea typeface="Calibri" pitchFamily="34" charset="-122"/>
                <a:cs typeface="Calibri" pitchFamily="34" charset="-120"/>
              </a:rPr>
              <a:t>The human-capital model holds firm at both durations. Convergence is not just a long-run finding.</a:t>
            </a:r>
            <a:endParaRPr lang="en-US" sz="1400" dirty="0"/>
          </a:p>
        </p:txBody>
      </p:sp>
      <p:sp>
        <p:nvSpPr>
          <p:cNvPr id="24" name="Text 22"/>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9 / 12</a:t>
            </a:r>
            <a:endParaRPr lang="en-US" sz="1000" dirty="0"/>
          </a:p>
        </p:txBody>
      </p:sp>
      <p:sp>
        <p:nvSpPr>
          <p:cNvPr id="25" name="Text 23"/>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A Limitation Worth Naming</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The cross-sectional sample sees only those who stayed</a:t>
            </a:r>
            <a:endParaRPr lang="en-US" sz="1400" dirty="0"/>
          </a:p>
        </p:txBody>
      </p:sp>
      <p:sp>
        <p:nvSpPr>
          <p:cNvPr id="5" name="Shape 3"/>
          <p:cNvSpPr/>
          <p:nvPr/>
        </p:nvSpPr>
        <p:spPr>
          <a:xfrm>
            <a:off x="548640" y="1828800"/>
            <a:ext cx="5029200" cy="4297680"/>
          </a:xfrm>
          <a:prstGeom prst="rect">
            <a:avLst/>
          </a:prstGeom>
          <a:solidFill>
            <a:srgbClr val="F5F5F5"/>
          </a:solidFill>
          <a:ln w="6350">
            <a:solidFill>
              <a:srgbClr val="C9CFD3"/>
            </a:solidFill>
            <a:prstDash val="solid"/>
          </a:ln>
        </p:spPr>
        <p:txBody>
          <a:bodyPr/>
          <a:lstStyle/>
          <a:p>
            <a:endParaRPr lang="en-US"/>
          </a:p>
        </p:txBody>
      </p:sp>
      <p:sp>
        <p:nvSpPr>
          <p:cNvPr id="6" name="Text 4"/>
          <p:cNvSpPr/>
          <p:nvPr/>
        </p:nvSpPr>
        <p:spPr>
          <a:xfrm>
            <a:off x="822960" y="2011680"/>
            <a:ext cx="4480560" cy="457200"/>
          </a:xfrm>
          <a:prstGeom prst="rect">
            <a:avLst/>
          </a:prstGeom>
          <a:noFill/>
          <a:ln/>
        </p:spPr>
        <p:txBody>
          <a:bodyPr wrap="square" lIns="0" tIns="0" rIns="0" bIns="0" rtlCol="0" anchor="ctr"/>
          <a:lstStyle/>
          <a:p>
            <a:pPr marL="0" indent="0" algn="l">
              <a:buNone/>
            </a:pPr>
            <a:r>
              <a:rPr lang="en-US" sz="1300" b="1" kern="0" spc="300" dirty="0">
                <a:solidFill>
                  <a:srgbClr val="028090"/>
                </a:solidFill>
                <a:latin typeface="Calibri" pitchFamily="34" charset="0"/>
                <a:ea typeface="Calibri" pitchFamily="34" charset="-122"/>
                <a:cs typeface="Calibri" pitchFamily="34" charset="-120"/>
              </a:rPr>
              <a:t>Selective return migration</a:t>
            </a:r>
            <a:endParaRPr lang="en-US" sz="1300" dirty="0"/>
          </a:p>
        </p:txBody>
      </p:sp>
      <p:sp>
        <p:nvSpPr>
          <p:cNvPr id="7" name="Shape 5"/>
          <p:cNvSpPr/>
          <p:nvPr/>
        </p:nvSpPr>
        <p:spPr>
          <a:xfrm>
            <a:off x="822960" y="2606040"/>
            <a:ext cx="4480560" cy="640080"/>
          </a:xfrm>
          <a:prstGeom prst="rect">
            <a:avLst/>
          </a:prstGeom>
          <a:solidFill>
            <a:srgbClr val="01636F"/>
          </a:solidFill>
          <a:ln/>
        </p:spPr>
        <p:txBody>
          <a:bodyPr/>
          <a:lstStyle/>
          <a:p>
            <a:endParaRPr lang="en-US"/>
          </a:p>
        </p:txBody>
      </p:sp>
      <p:sp>
        <p:nvSpPr>
          <p:cNvPr id="8" name="Text 6"/>
          <p:cNvSpPr/>
          <p:nvPr/>
        </p:nvSpPr>
        <p:spPr>
          <a:xfrm>
            <a:off x="822960" y="2606040"/>
            <a:ext cx="448056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All immigrants who arrived 1980–2000</a:t>
            </a:r>
            <a:endParaRPr lang="en-US" sz="1300" dirty="0"/>
          </a:p>
        </p:txBody>
      </p:sp>
      <p:sp>
        <p:nvSpPr>
          <p:cNvPr id="9" name="Shape 7"/>
          <p:cNvSpPr/>
          <p:nvPr/>
        </p:nvSpPr>
        <p:spPr>
          <a:xfrm>
            <a:off x="2743200" y="3337560"/>
            <a:ext cx="640080" cy="457200"/>
          </a:xfrm>
          <a:prstGeom prst="downArrow">
            <a:avLst/>
          </a:prstGeom>
          <a:solidFill>
            <a:srgbClr val="8A9499"/>
          </a:solidFill>
          <a:ln/>
        </p:spPr>
        <p:txBody>
          <a:bodyPr/>
          <a:lstStyle/>
          <a:p>
            <a:endParaRPr lang="en-US"/>
          </a:p>
        </p:txBody>
      </p:sp>
      <p:sp>
        <p:nvSpPr>
          <p:cNvPr id="10" name="Shape 8"/>
          <p:cNvSpPr/>
          <p:nvPr/>
        </p:nvSpPr>
        <p:spPr>
          <a:xfrm>
            <a:off x="1463040" y="3886200"/>
            <a:ext cx="3200400" cy="640080"/>
          </a:xfrm>
          <a:prstGeom prst="rect">
            <a:avLst/>
          </a:prstGeom>
          <a:solidFill>
            <a:srgbClr val="8A9499"/>
          </a:solidFill>
          <a:ln/>
        </p:spPr>
        <p:txBody>
          <a:bodyPr/>
          <a:lstStyle/>
          <a:p>
            <a:endParaRPr lang="en-US"/>
          </a:p>
        </p:txBody>
      </p:sp>
      <p:sp>
        <p:nvSpPr>
          <p:cNvPr id="11" name="Text 9"/>
          <p:cNvSpPr/>
          <p:nvPr/>
        </p:nvSpPr>
        <p:spPr>
          <a:xfrm>
            <a:off x="1463040" y="3886200"/>
            <a:ext cx="3200400" cy="640080"/>
          </a:xfrm>
          <a:prstGeom prst="rect">
            <a:avLst/>
          </a:prstGeom>
          <a:noFill/>
          <a:ln/>
        </p:spPr>
        <p:txBody>
          <a:bodyPr wrap="square" lIns="0" tIns="0" rIns="0" bIns="0"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Some return-migrate</a:t>
            </a:r>
            <a:endParaRPr lang="en-US" sz="1300" dirty="0"/>
          </a:p>
        </p:txBody>
      </p:sp>
      <p:sp>
        <p:nvSpPr>
          <p:cNvPr id="12" name="Shape 10"/>
          <p:cNvSpPr/>
          <p:nvPr/>
        </p:nvSpPr>
        <p:spPr>
          <a:xfrm>
            <a:off x="2743200" y="4617720"/>
            <a:ext cx="640080" cy="457200"/>
          </a:xfrm>
          <a:prstGeom prst="downArrow">
            <a:avLst/>
          </a:prstGeom>
          <a:solidFill>
            <a:srgbClr val="8A9499"/>
          </a:solidFill>
          <a:ln/>
        </p:spPr>
        <p:txBody>
          <a:bodyPr/>
          <a:lstStyle/>
          <a:p>
            <a:endParaRPr lang="en-US"/>
          </a:p>
        </p:txBody>
      </p:sp>
      <p:sp>
        <p:nvSpPr>
          <p:cNvPr id="13" name="Shape 11"/>
          <p:cNvSpPr/>
          <p:nvPr/>
        </p:nvSpPr>
        <p:spPr>
          <a:xfrm>
            <a:off x="1920240" y="5166360"/>
            <a:ext cx="2286000" cy="731520"/>
          </a:xfrm>
          <a:prstGeom prst="rect">
            <a:avLst/>
          </a:prstGeom>
          <a:solidFill>
            <a:srgbClr val="028090"/>
          </a:solidFill>
          <a:ln/>
        </p:spPr>
        <p:txBody>
          <a:bodyPr/>
          <a:lstStyle/>
          <a:p>
            <a:endParaRPr lang="en-US"/>
          </a:p>
        </p:txBody>
      </p:sp>
      <p:sp>
        <p:nvSpPr>
          <p:cNvPr id="14" name="Text 12"/>
          <p:cNvSpPr/>
          <p:nvPr/>
        </p:nvSpPr>
        <p:spPr>
          <a:xfrm>
            <a:off x="1920240" y="5166360"/>
            <a:ext cx="2286000" cy="7315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Observed in 2022 SCF</a:t>
            </a:r>
            <a:endParaRPr lang="en-US" sz="1300" dirty="0"/>
          </a:p>
        </p:txBody>
      </p:sp>
      <p:sp>
        <p:nvSpPr>
          <p:cNvPr id="15" name="Text 13"/>
          <p:cNvSpPr/>
          <p:nvPr/>
        </p:nvSpPr>
        <p:spPr>
          <a:xfrm>
            <a:off x="5852160" y="1828800"/>
            <a:ext cx="5760720" cy="457200"/>
          </a:xfrm>
          <a:prstGeom prst="rect">
            <a:avLst/>
          </a:prstGeom>
          <a:noFill/>
          <a:ln/>
        </p:spPr>
        <p:txBody>
          <a:bodyPr wrap="square" lIns="0" tIns="0" rIns="0" bIns="0" rtlCol="0" anchor="ctr"/>
          <a:lstStyle/>
          <a:p>
            <a:pPr marL="0" indent="0" algn="l">
              <a:buNone/>
            </a:pPr>
            <a:r>
              <a:rPr lang="en-US" sz="1300" b="1" kern="0" spc="400" dirty="0">
                <a:solidFill>
                  <a:srgbClr val="8A9499"/>
                </a:solidFill>
                <a:latin typeface="Calibri" pitchFamily="34" charset="0"/>
                <a:ea typeface="Calibri" pitchFamily="34" charset="-122"/>
                <a:cs typeface="Calibri" pitchFamily="34" charset="-120"/>
              </a:rPr>
              <a:t>What this means for the finding</a:t>
            </a:r>
            <a:endParaRPr lang="en-US" sz="1300" dirty="0"/>
          </a:p>
        </p:txBody>
      </p:sp>
      <p:sp>
        <p:nvSpPr>
          <p:cNvPr id="16" name="Text 14"/>
          <p:cNvSpPr/>
          <p:nvPr/>
        </p:nvSpPr>
        <p:spPr>
          <a:xfrm>
            <a:off x="5852160" y="2377440"/>
            <a:ext cx="5760720" cy="3840480"/>
          </a:xfrm>
          <a:prstGeom prst="rect">
            <a:avLst/>
          </a:prstGeom>
          <a:noFill/>
          <a:ln/>
        </p:spPr>
        <p:txBody>
          <a:bodyPr wrap="square" lIns="0" tIns="0" rIns="0" bIns="0" rtlCol="0" anchor="t"/>
          <a:lstStyle/>
          <a:p>
            <a:pPr marL="0" indent="0">
              <a:buNone/>
            </a:pPr>
            <a:r>
              <a:rPr lang="en-US" sz="1800" b="1" dirty="0">
                <a:solidFill>
                  <a:srgbClr val="36454F"/>
                </a:solidFill>
                <a:latin typeface="Calibri" pitchFamily="34" charset="0"/>
                <a:ea typeface="Calibri" pitchFamily="34" charset="-122"/>
                <a:cs typeface="Calibri" pitchFamily="34" charset="-120"/>
              </a:rPr>
              <a:t>The cross-section may over-represent successful integrators.</a:t>
            </a:r>
            <a:endParaRPr lang="en-US" sz="18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marL="0" indent="0">
              <a:buNone/>
            </a:pPr>
            <a:r>
              <a:rPr lang="en-US" sz="1400" dirty="0">
                <a:solidFill>
                  <a:srgbClr val="4A5A66"/>
                </a:solidFill>
                <a:latin typeface="Calibri" pitchFamily="34" charset="0"/>
                <a:ea typeface="Calibri" pitchFamily="34" charset="-122"/>
                <a:cs typeface="Calibri" pitchFamily="34" charset="-120"/>
              </a:rPr>
              <a:t>Immigrants who faced structural barriers may have return-migrated. The 2022 sample is enriched in those who stayed and integrated.</a:t>
            </a:r>
            <a:endParaRPr lang="en-US" sz="18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marL="0" indent="0">
              <a:buNone/>
            </a:pPr>
            <a:r>
              <a:rPr lang="en-US" sz="800" dirty="0">
                <a:solidFill>
                  <a:srgbClr val="000000"/>
                </a:solidFill>
                <a:latin typeface="Calibri" pitchFamily="34" charset="0"/>
                <a:ea typeface="Calibri" pitchFamily="34" charset="-122"/>
                <a:cs typeface="Calibri" pitchFamily="34" charset="-120"/>
              </a:rPr>
              <a:t> </a:t>
            </a:r>
            <a:endParaRPr lang="en-US" sz="1800" dirty="0"/>
          </a:p>
          <a:p>
            <a:pPr marL="0" indent="0">
              <a:buNone/>
            </a:pPr>
            <a:r>
              <a:rPr lang="en-US" sz="1600" b="1" i="1" dirty="0">
                <a:solidFill>
                  <a:srgbClr val="028090"/>
                </a:solidFill>
                <a:latin typeface="Calibri" pitchFamily="34" charset="0"/>
                <a:ea typeface="Calibri" pitchFamily="34" charset="-122"/>
                <a:cs typeface="Calibri" pitchFamily="34" charset="-120"/>
              </a:rPr>
              <a:t>But:</a:t>
            </a:r>
            <a:endParaRPr lang="en-US" sz="18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800" dirty="0"/>
          </a:p>
          <a:p>
            <a:pPr marL="0" indent="0">
              <a:buNone/>
            </a:pPr>
            <a:r>
              <a:rPr lang="en-US" sz="1400" dirty="0">
                <a:solidFill>
                  <a:srgbClr val="4A5A66"/>
                </a:solidFill>
                <a:latin typeface="Calibri" pitchFamily="34" charset="0"/>
                <a:ea typeface="Calibri" pitchFamily="34" charset="-122"/>
                <a:cs typeface="Calibri" pitchFamily="34" charset="-120"/>
              </a:rPr>
              <a:t>Even within the recent-arrival stratum (n=158), no origin-region effects emerge. The duration check directly addresses this concern, and the result is consistent.</a:t>
            </a:r>
            <a:endParaRPr lang="en-US" sz="1800" dirty="0"/>
          </a:p>
        </p:txBody>
      </p:sp>
      <p:sp>
        <p:nvSpPr>
          <p:cNvPr id="17" name="Text 15"/>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10 / 12</a:t>
            </a:r>
            <a:endParaRPr lang="en-US" sz="1000" dirty="0"/>
          </a:p>
        </p:txBody>
      </p:sp>
      <p:sp>
        <p:nvSpPr>
          <p:cNvPr id="18" name="Text 16"/>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28090"/>
          </a:solidFill>
          <a:ln/>
        </p:spPr>
        <p:txBody>
          <a:bodyPr/>
          <a:lstStyle/>
          <a:p>
            <a:endParaRPr lang="en-US"/>
          </a:p>
        </p:txBody>
      </p:sp>
      <p:sp>
        <p:nvSpPr>
          <p:cNvPr id="3" name="Text 1"/>
          <p:cNvSpPr/>
          <p:nvPr/>
        </p:nvSpPr>
        <p:spPr>
          <a:xfrm>
            <a:off x="548640" y="411480"/>
            <a:ext cx="10515600" cy="777240"/>
          </a:xfrm>
          <a:prstGeom prst="rect">
            <a:avLst/>
          </a:prstGeom>
          <a:noFill/>
          <a:ln/>
        </p:spPr>
        <p:txBody>
          <a:bodyPr wrap="square" lIns="0" tIns="0" rIns="0" bIns="0" rtlCol="0" anchor="ctr"/>
          <a:lstStyle/>
          <a:p>
            <a:pPr marL="0" indent="0" algn="l">
              <a:buNone/>
            </a:pPr>
            <a:r>
              <a:rPr lang="en-US" sz="3200" b="1" dirty="0">
                <a:solidFill>
                  <a:srgbClr val="36454F"/>
                </a:solidFill>
                <a:latin typeface="Georgia" pitchFamily="34" charset="0"/>
                <a:ea typeface="Georgia" pitchFamily="34" charset="-122"/>
                <a:cs typeface="Georgia" pitchFamily="34" charset="-120"/>
              </a:rPr>
              <a:t>Conclusion</a:t>
            </a:r>
            <a:endParaRPr lang="en-US" sz="3200" dirty="0"/>
          </a:p>
        </p:txBody>
      </p:sp>
      <p:sp>
        <p:nvSpPr>
          <p:cNvPr id="4" name="Text 2"/>
          <p:cNvSpPr/>
          <p:nvPr/>
        </p:nvSpPr>
        <p:spPr>
          <a:xfrm>
            <a:off x="548640" y="1143000"/>
            <a:ext cx="10515600" cy="365760"/>
          </a:xfrm>
          <a:prstGeom prst="rect">
            <a:avLst/>
          </a:prstGeom>
          <a:noFill/>
          <a:ln/>
        </p:spPr>
        <p:txBody>
          <a:bodyPr wrap="square" lIns="0" tIns="0" rIns="0" bIns="0" rtlCol="0" anchor="t"/>
          <a:lstStyle/>
          <a:p>
            <a:pPr marL="0" indent="0" algn="l">
              <a:buNone/>
            </a:pPr>
            <a:r>
              <a:rPr lang="en-US" sz="1400" i="1" dirty="0">
                <a:solidFill>
                  <a:srgbClr val="028090"/>
                </a:solidFill>
                <a:latin typeface="Calibri" pitchFamily="34" charset="0"/>
                <a:ea typeface="Calibri" pitchFamily="34" charset="-122"/>
                <a:cs typeface="Calibri" pitchFamily="34" charset="-120"/>
              </a:rPr>
              <a:t>What the data show — for scholars and for policymakers</a:t>
            </a:r>
            <a:endParaRPr lang="en-US" sz="1400" dirty="0"/>
          </a:p>
        </p:txBody>
      </p:sp>
      <p:sp>
        <p:nvSpPr>
          <p:cNvPr id="5" name="Shape 3"/>
          <p:cNvSpPr/>
          <p:nvPr/>
        </p:nvSpPr>
        <p:spPr>
          <a:xfrm>
            <a:off x="548640" y="1828800"/>
            <a:ext cx="11064240" cy="1371600"/>
          </a:xfrm>
          <a:prstGeom prst="rect">
            <a:avLst/>
          </a:prstGeom>
          <a:solidFill>
            <a:srgbClr val="F5F5F5"/>
          </a:solidFill>
          <a:ln/>
        </p:spPr>
        <p:txBody>
          <a:bodyPr/>
          <a:lstStyle/>
          <a:p>
            <a:endParaRPr lang="en-US"/>
          </a:p>
        </p:txBody>
      </p:sp>
      <p:sp>
        <p:nvSpPr>
          <p:cNvPr id="6" name="Text 4"/>
          <p:cNvSpPr/>
          <p:nvPr/>
        </p:nvSpPr>
        <p:spPr>
          <a:xfrm>
            <a:off x="548640" y="1828800"/>
            <a:ext cx="1280160" cy="1371600"/>
          </a:xfrm>
          <a:prstGeom prst="rect">
            <a:avLst/>
          </a:prstGeom>
          <a:noFill/>
          <a:ln/>
        </p:spPr>
        <p:txBody>
          <a:bodyPr wrap="square" lIns="0" tIns="0" rIns="0" bIns="0" rtlCol="0" anchor="ctr"/>
          <a:lstStyle/>
          <a:p>
            <a:pPr marL="0" indent="0" algn="ctr">
              <a:buNone/>
            </a:pPr>
            <a:r>
              <a:rPr lang="en-US" sz="4400" b="1" i="1" dirty="0">
                <a:solidFill>
                  <a:srgbClr val="028090"/>
                </a:solidFill>
                <a:latin typeface="Georgia" pitchFamily="34" charset="0"/>
                <a:ea typeface="Georgia" pitchFamily="34" charset="-122"/>
                <a:cs typeface="Georgia" pitchFamily="34" charset="-120"/>
              </a:rPr>
              <a:t>01</a:t>
            </a:r>
            <a:endParaRPr lang="en-US" sz="4400" dirty="0"/>
          </a:p>
        </p:txBody>
      </p:sp>
      <p:sp>
        <p:nvSpPr>
          <p:cNvPr id="7" name="Text 5"/>
          <p:cNvSpPr/>
          <p:nvPr/>
        </p:nvSpPr>
        <p:spPr>
          <a:xfrm>
            <a:off x="1828800" y="1993392"/>
            <a:ext cx="9601200" cy="502920"/>
          </a:xfrm>
          <a:prstGeom prst="rect">
            <a:avLst/>
          </a:prstGeom>
          <a:noFill/>
          <a:ln/>
        </p:spPr>
        <p:txBody>
          <a:bodyPr wrap="square" lIns="0" tIns="0" rIns="0" bIns="0" rtlCol="0" anchor="ctr"/>
          <a:lstStyle/>
          <a:p>
            <a:pPr marL="0" indent="0" algn="l">
              <a:buNone/>
            </a:pPr>
            <a:r>
              <a:rPr lang="en-US" sz="1900" b="1" dirty="0">
                <a:solidFill>
                  <a:srgbClr val="36454F"/>
                </a:solidFill>
                <a:latin typeface="Georgia" pitchFamily="34" charset="0"/>
                <a:ea typeface="Georgia" pitchFamily="34" charset="-122"/>
                <a:cs typeface="Georgia" pitchFamily="34" charset="-120"/>
              </a:rPr>
              <a:t>The data favor human-capital convergence.</a:t>
            </a:r>
            <a:endParaRPr lang="en-US" sz="1900" dirty="0"/>
          </a:p>
        </p:txBody>
      </p:sp>
      <p:sp>
        <p:nvSpPr>
          <p:cNvPr id="8" name="Text 6"/>
          <p:cNvSpPr/>
          <p:nvPr/>
        </p:nvSpPr>
        <p:spPr>
          <a:xfrm>
            <a:off x="1828800" y="2514600"/>
            <a:ext cx="9601200" cy="594360"/>
          </a:xfrm>
          <a:prstGeom prst="rect">
            <a:avLst/>
          </a:prstGeom>
          <a:noFill/>
          <a:ln/>
        </p:spPr>
        <p:txBody>
          <a:bodyPr wrap="square" lIns="0" tIns="0" rIns="0" bIns="0" rtlCol="0" anchor="t"/>
          <a:lstStyle/>
          <a:p>
            <a:pPr marL="0" indent="0" algn="l">
              <a:buNone/>
            </a:pPr>
            <a:r>
              <a:rPr lang="en-US" sz="1300" dirty="0">
                <a:solidFill>
                  <a:srgbClr val="4A5A66"/>
                </a:solidFill>
                <a:latin typeface="Calibri" pitchFamily="34" charset="0"/>
                <a:ea typeface="Calibri" pitchFamily="34" charset="-122"/>
                <a:cs typeface="Calibri" pitchFamily="34" charset="-120"/>
              </a:rPr>
              <a:t>In the 2022 SCF, origin-region effects on wealth, credit access, and asset ownership are statistically indistinguishable from zero once human capital is controlled.</a:t>
            </a:r>
            <a:endParaRPr lang="en-US" sz="1300" dirty="0"/>
          </a:p>
        </p:txBody>
      </p:sp>
      <p:sp>
        <p:nvSpPr>
          <p:cNvPr id="9" name="Shape 7"/>
          <p:cNvSpPr/>
          <p:nvPr/>
        </p:nvSpPr>
        <p:spPr>
          <a:xfrm>
            <a:off x="548640" y="3364992"/>
            <a:ext cx="11064240" cy="1371600"/>
          </a:xfrm>
          <a:prstGeom prst="rect">
            <a:avLst/>
          </a:prstGeom>
          <a:solidFill>
            <a:srgbClr val="F5F5F5"/>
          </a:solidFill>
          <a:ln/>
        </p:spPr>
        <p:txBody>
          <a:bodyPr/>
          <a:lstStyle/>
          <a:p>
            <a:endParaRPr lang="en-US"/>
          </a:p>
        </p:txBody>
      </p:sp>
      <p:sp>
        <p:nvSpPr>
          <p:cNvPr id="10" name="Text 8"/>
          <p:cNvSpPr/>
          <p:nvPr/>
        </p:nvSpPr>
        <p:spPr>
          <a:xfrm>
            <a:off x="548640" y="3364992"/>
            <a:ext cx="1280160" cy="1371600"/>
          </a:xfrm>
          <a:prstGeom prst="rect">
            <a:avLst/>
          </a:prstGeom>
          <a:noFill/>
          <a:ln/>
        </p:spPr>
        <p:txBody>
          <a:bodyPr wrap="square" lIns="0" tIns="0" rIns="0" bIns="0" rtlCol="0" anchor="ctr"/>
          <a:lstStyle/>
          <a:p>
            <a:pPr marL="0" indent="0" algn="ctr">
              <a:buNone/>
            </a:pPr>
            <a:r>
              <a:rPr lang="en-US" sz="4400" b="1" i="1" dirty="0">
                <a:solidFill>
                  <a:srgbClr val="028090"/>
                </a:solidFill>
                <a:latin typeface="Georgia" pitchFamily="34" charset="0"/>
                <a:ea typeface="Georgia" pitchFamily="34" charset="-122"/>
                <a:cs typeface="Georgia" pitchFamily="34" charset="-120"/>
              </a:rPr>
              <a:t>02</a:t>
            </a:r>
            <a:endParaRPr lang="en-US" sz="4400" dirty="0"/>
          </a:p>
        </p:txBody>
      </p:sp>
      <p:sp>
        <p:nvSpPr>
          <p:cNvPr id="11" name="Text 9"/>
          <p:cNvSpPr/>
          <p:nvPr/>
        </p:nvSpPr>
        <p:spPr>
          <a:xfrm>
            <a:off x="1828800" y="3529584"/>
            <a:ext cx="9601200" cy="502920"/>
          </a:xfrm>
          <a:prstGeom prst="rect">
            <a:avLst/>
          </a:prstGeom>
          <a:noFill/>
          <a:ln/>
        </p:spPr>
        <p:txBody>
          <a:bodyPr wrap="square" lIns="0" tIns="0" rIns="0" bIns="0" rtlCol="0" anchor="ctr"/>
          <a:lstStyle/>
          <a:p>
            <a:pPr marL="0" indent="0" algn="l">
              <a:buNone/>
            </a:pPr>
            <a:r>
              <a:rPr lang="en-US" sz="1900" b="1" dirty="0">
                <a:solidFill>
                  <a:srgbClr val="36454F"/>
                </a:solidFill>
                <a:latin typeface="Georgia" pitchFamily="34" charset="0"/>
                <a:ea typeface="Georgia" pitchFamily="34" charset="-122"/>
                <a:cs typeface="Georgia" pitchFamily="34" charset="-120"/>
              </a:rPr>
              <a:t>Time, education, and income are the equalizers.</a:t>
            </a:r>
            <a:endParaRPr lang="en-US" sz="1900" dirty="0"/>
          </a:p>
        </p:txBody>
      </p:sp>
      <p:sp>
        <p:nvSpPr>
          <p:cNvPr id="12" name="Text 10"/>
          <p:cNvSpPr/>
          <p:nvPr/>
        </p:nvSpPr>
        <p:spPr>
          <a:xfrm>
            <a:off x="1828800" y="4050792"/>
            <a:ext cx="9601200" cy="594360"/>
          </a:xfrm>
          <a:prstGeom prst="rect">
            <a:avLst/>
          </a:prstGeom>
          <a:noFill/>
          <a:ln/>
        </p:spPr>
        <p:txBody>
          <a:bodyPr wrap="square" lIns="0" tIns="0" rIns="0" bIns="0" rtlCol="0" anchor="t"/>
          <a:lstStyle/>
          <a:p>
            <a:pPr marL="0" indent="0" algn="l">
              <a:buNone/>
            </a:pPr>
            <a:r>
              <a:rPr lang="en-US" sz="1300" dirty="0">
                <a:solidFill>
                  <a:srgbClr val="4A5A66"/>
                </a:solidFill>
                <a:latin typeface="Calibri" pitchFamily="34" charset="0"/>
                <a:ea typeface="Calibri" pitchFamily="34" charset="-122"/>
                <a:cs typeface="Calibri" pitchFamily="34" charset="-120"/>
              </a:rPr>
              <a:t>The variables that drive financial outcomes for foreign-born households are the standard human-capital factors — not country of origin.</a:t>
            </a:r>
            <a:endParaRPr lang="en-US" sz="1300" dirty="0"/>
          </a:p>
        </p:txBody>
      </p:sp>
      <p:sp>
        <p:nvSpPr>
          <p:cNvPr id="13" name="Shape 11"/>
          <p:cNvSpPr/>
          <p:nvPr/>
        </p:nvSpPr>
        <p:spPr>
          <a:xfrm>
            <a:off x="548640" y="4901184"/>
            <a:ext cx="11064240" cy="1371600"/>
          </a:xfrm>
          <a:prstGeom prst="rect">
            <a:avLst/>
          </a:prstGeom>
          <a:solidFill>
            <a:srgbClr val="F5F5F5"/>
          </a:solidFill>
          <a:ln/>
        </p:spPr>
        <p:txBody>
          <a:bodyPr/>
          <a:lstStyle/>
          <a:p>
            <a:endParaRPr lang="en-US"/>
          </a:p>
        </p:txBody>
      </p:sp>
      <p:sp>
        <p:nvSpPr>
          <p:cNvPr id="14" name="Text 12"/>
          <p:cNvSpPr/>
          <p:nvPr/>
        </p:nvSpPr>
        <p:spPr>
          <a:xfrm>
            <a:off x="548640" y="4901184"/>
            <a:ext cx="1280160" cy="1371600"/>
          </a:xfrm>
          <a:prstGeom prst="rect">
            <a:avLst/>
          </a:prstGeom>
          <a:noFill/>
          <a:ln/>
        </p:spPr>
        <p:txBody>
          <a:bodyPr wrap="square" lIns="0" tIns="0" rIns="0" bIns="0" rtlCol="0" anchor="ctr"/>
          <a:lstStyle/>
          <a:p>
            <a:pPr marL="0" indent="0" algn="ctr">
              <a:buNone/>
            </a:pPr>
            <a:r>
              <a:rPr lang="en-US" sz="4400" b="1" i="1" dirty="0">
                <a:solidFill>
                  <a:srgbClr val="028090"/>
                </a:solidFill>
                <a:latin typeface="Georgia" pitchFamily="34" charset="0"/>
                <a:ea typeface="Georgia" pitchFamily="34" charset="-122"/>
                <a:cs typeface="Georgia" pitchFamily="34" charset="-120"/>
              </a:rPr>
              <a:t>03</a:t>
            </a:r>
            <a:endParaRPr lang="en-US" sz="4400" dirty="0"/>
          </a:p>
        </p:txBody>
      </p:sp>
      <p:sp>
        <p:nvSpPr>
          <p:cNvPr id="15" name="Text 13"/>
          <p:cNvSpPr/>
          <p:nvPr/>
        </p:nvSpPr>
        <p:spPr>
          <a:xfrm>
            <a:off x="1828800" y="5065776"/>
            <a:ext cx="9601200" cy="502920"/>
          </a:xfrm>
          <a:prstGeom prst="rect">
            <a:avLst/>
          </a:prstGeom>
          <a:noFill/>
          <a:ln/>
        </p:spPr>
        <p:txBody>
          <a:bodyPr wrap="square" lIns="0" tIns="0" rIns="0" bIns="0" rtlCol="0" anchor="ctr"/>
          <a:lstStyle/>
          <a:p>
            <a:pPr marL="0" indent="0" algn="l">
              <a:buNone/>
            </a:pPr>
            <a:r>
              <a:rPr lang="en-US" sz="1900" b="1" dirty="0">
                <a:solidFill>
                  <a:srgbClr val="36454F"/>
                </a:solidFill>
                <a:latin typeface="Georgia" pitchFamily="34" charset="0"/>
                <a:ea typeface="Georgia" pitchFamily="34" charset="-122"/>
                <a:cs typeface="Georgia" pitchFamily="34" charset="-120"/>
              </a:rPr>
              <a:t>Race-based frameworks remain reliable.</a:t>
            </a:r>
            <a:endParaRPr lang="en-US" sz="1900" dirty="0"/>
          </a:p>
        </p:txBody>
      </p:sp>
      <p:sp>
        <p:nvSpPr>
          <p:cNvPr id="16" name="Text 14"/>
          <p:cNvSpPr/>
          <p:nvPr/>
        </p:nvSpPr>
        <p:spPr>
          <a:xfrm>
            <a:off x="1828800" y="5586984"/>
            <a:ext cx="9601200" cy="594360"/>
          </a:xfrm>
          <a:prstGeom prst="rect">
            <a:avLst/>
          </a:prstGeom>
          <a:noFill/>
          <a:ln/>
        </p:spPr>
        <p:txBody>
          <a:bodyPr wrap="square" lIns="0" tIns="0" rIns="0" bIns="0" rtlCol="0" anchor="t"/>
          <a:lstStyle/>
          <a:p>
            <a:pPr marL="0" indent="0" algn="l">
              <a:buNone/>
            </a:pPr>
            <a:r>
              <a:rPr lang="en-US" sz="1300" dirty="0">
                <a:solidFill>
                  <a:srgbClr val="4A5A66"/>
                </a:solidFill>
                <a:latin typeface="Calibri" pitchFamily="34" charset="0"/>
                <a:ea typeface="Calibri" pitchFamily="34" charset="-122"/>
                <a:cs typeface="Calibri" pitchFamily="34" charset="-120"/>
              </a:rPr>
              <a:t>Policymakers do not need to redesign wealth-disparity policy around within-race origin groups. Existing frameworks remain the appropriate analytical lens.</a:t>
            </a:r>
            <a:endParaRPr lang="en-US" sz="1300" dirty="0"/>
          </a:p>
        </p:txBody>
      </p:sp>
      <p:sp>
        <p:nvSpPr>
          <p:cNvPr id="17" name="Text 15"/>
          <p:cNvSpPr/>
          <p:nvPr/>
        </p:nvSpPr>
        <p:spPr>
          <a:xfrm>
            <a:off x="548640" y="6126480"/>
            <a:ext cx="11064240" cy="457200"/>
          </a:xfrm>
          <a:prstGeom prst="rect">
            <a:avLst/>
          </a:prstGeom>
          <a:noFill/>
          <a:ln/>
        </p:spPr>
        <p:txBody>
          <a:bodyPr wrap="square" lIns="0" tIns="0" rIns="0" bIns="0" rtlCol="0" anchor="ctr"/>
          <a:lstStyle/>
          <a:p>
            <a:pPr marL="0" indent="0" algn="ctr">
              <a:buNone/>
            </a:pPr>
            <a:r>
              <a:rPr lang="en-US" sz="1600" i="1" dirty="0">
                <a:solidFill>
                  <a:srgbClr val="028090"/>
                </a:solidFill>
                <a:latin typeface="Georgia" pitchFamily="34" charset="0"/>
                <a:ea typeface="Georgia" pitchFamily="34" charset="-122"/>
                <a:cs typeface="Georgia" pitchFamily="34" charset="-120"/>
              </a:rPr>
              <a:t>Origin shapes culture and experience — but not the balance sheet.</a:t>
            </a:r>
            <a:endParaRPr lang="en-US" sz="1600" dirty="0"/>
          </a:p>
        </p:txBody>
      </p:sp>
      <p:sp>
        <p:nvSpPr>
          <p:cNvPr id="18" name="Text 16"/>
          <p:cNvSpPr/>
          <p:nvPr/>
        </p:nvSpPr>
        <p:spPr>
          <a:xfrm>
            <a:off x="11064240" y="6446520"/>
            <a:ext cx="731520" cy="274320"/>
          </a:xfrm>
          <a:prstGeom prst="rect">
            <a:avLst/>
          </a:prstGeom>
          <a:noFill/>
          <a:ln/>
        </p:spPr>
        <p:txBody>
          <a:bodyPr wrap="square" lIns="0" tIns="0" rIns="0" bIns="0" rtlCol="0" anchor="ctr"/>
          <a:lstStyle/>
          <a:p>
            <a:pPr marL="0" indent="0" algn="r">
              <a:buNone/>
            </a:pPr>
            <a:r>
              <a:rPr lang="en-US" sz="1000" dirty="0">
                <a:solidFill>
                  <a:srgbClr val="8A9499"/>
                </a:solidFill>
                <a:latin typeface="Calibri" pitchFamily="34" charset="0"/>
                <a:ea typeface="Calibri" pitchFamily="34" charset="-122"/>
                <a:cs typeface="Calibri" pitchFamily="34" charset="-120"/>
              </a:rPr>
              <a:t>11 / 12</a:t>
            </a:r>
            <a:endParaRPr lang="en-US" sz="1000" dirty="0"/>
          </a:p>
        </p:txBody>
      </p:sp>
      <p:sp>
        <p:nvSpPr>
          <p:cNvPr id="19" name="Text 17"/>
          <p:cNvSpPr/>
          <p:nvPr/>
        </p:nvSpPr>
        <p:spPr>
          <a:xfrm>
            <a:off x="457200" y="6446520"/>
            <a:ext cx="4572000" cy="274320"/>
          </a:xfrm>
          <a:prstGeom prst="rect">
            <a:avLst/>
          </a:prstGeom>
          <a:noFill/>
          <a:ln/>
        </p:spPr>
        <p:txBody>
          <a:bodyPr wrap="square" lIns="0" tIns="0" rIns="0" bIns="0" rtlCol="0" anchor="ctr"/>
          <a:lstStyle/>
          <a:p>
            <a:pPr marL="0" indent="0" algn="l">
              <a:buNone/>
            </a:pPr>
            <a:r>
              <a:rPr lang="en-US" sz="1000" i="1" dirty="0">
                <a:solidFill>
                  <a:srgbClr val="8A9499"/>
                </a:solidFill>
                <a:latin typeface="Calibri" pitchFamily="34" charset="0"/>
                <a:ea typeface="Calibri" pitchFamily="34" charset="-122"/>
                <a:cs typeface="Calibri" pitchFamily="34" charset="-120"/>
              </a:rPr>
              <a:t>D. Nichols  ·  SCF 2022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36454F"/>
        </a:solidFill>
        <a:effectLst/>
      </p:bgPr>
    </p:bg>
    <p:spTree>
      <p:nvGrpSpPr>
        <p:cNvPr id="1" name=""/>
        <p:cNvGrpSpPr/>
        <p:nvPr/>
      </p:nvGrpSpPr>
      <p:grpSpPr>
        <a:xfrm>
          <a:off x="0" y="0"/>
          <a:ext cx="0" cy="0"/>
          <a:chOff x="0" y="0"/>
          <a:chExt cx="0" cy="0"/>
        </a:xfrm>
      </p:grpSpPr>
      <p:sp>
        <p:nvSpPr>
          <p:cNvPr id="2" name="Text 0"/>
          <p:cNvSpPr/>
          <p:nvPr/>
        </p:nvSpPr>
        <p:spPr>
          <a:xfrm>
            <a:off x="548640" y="2286000"/>
            <a:ext cx="11064240" cy="1371600"/>
          </a:xfrm>
          <a:prstGeom prst="rect">
            <a:avLst/>
          </a:prstGeom>
          <a:noFill/>
          <a:ln/>
        </p:spPr>
        <p:txBody>
          <a:bodyPr wrap="square" lIns="0" tIns="0" rIns="0" bIns="0" rtlCol="0" anchor="ctr"/>
          <a:lstStyle/>
          <a:p>
            <a:pPr marL="0" indent="0" algn="ctr">
              <a:buNone/>
            </a:pPr>
            <a:r>
              <a:rPr lang="en-US" sz="9600" b="1" i="1" dirty="0">
                <a:solidFill>
                  <a:srgbClr val="FFFFFF"/>
                </a:solidFill>
                <a:latin typeface="Georgia" pitchFamily="34" charset="0"/>
                <a:ea typeface="Georgia" pitchFamily="34" charset="-122"/>
                <a:cs typeface="Georgia" pitchFamily="34" charset="-120"/>
              </a:rPr>
              <a:t>Questions?</a:t>
            </a:r>
            <a:endParaRPr lang="en-US" sz="9600" dirty="0"/>
          </a:p>
        </p:txBody>
      </p:sp>
      <p:sp>
        <p:nvSpPr>
          <p:cNvPr id="3" name="Shape 1"/>
          <p:cNvSpPr/>
          <p:nvPr/>
        </p:nvSpPr>
        <p:spPr>
          <a:xfrm>
            <a:off x="5532120" y="3931920"/>
            <a:ext cx="1097280" cy="45720"/>
          </a:xfrm>
          <a:prstGeom prst="rect">
            <a:avLst/>
          </a:prstGeom>
          <a:solidFill>
            <a:srgbClr val="028090"/>
          </a:solidFill>
          <a:ln/>
        </p:spPr>
        <p:txBody>
          <a:bodyPr/>
          <a:lstStyle/>
          <a:p>
            <a:endParaRPr lang="en-US"/>
          </a:p>
        </p:txBody>
      </p:sp>
      <p:sp>
        <p:nvSpPr>
          <p:cNvPr id="4" name="Text 2"/>
          <p:cNvSpPr/>
          <p:nvPr/>
        </p:nvSpPr>
        <p:spPr>
          <a:xfrm>
            <a:off x="548640" y="4297680"/>
            <a:ext cx="1106424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Delroy Nichols</a:t>
            </a:r>
            <a:endParaRPr lang="en-US" sz="1800" dirty="0"/>
          </a:p>
        </p:txBody>
      </p:sp>
      <p:sp>
        <p:nvSpPr>
          <p:cNvPr id="5" name="Text 3"/>
          <p:cNvSpPr/>
          <p:nvPr/>
        </p:nvSpPr>
        <p:spPr>
          <a:xfrm>
            <a:off x="548640" y="4754880"/>
            <a:ext cx="11064240" cy="365760"/>
          </a:xfrm>
          <a:prstGeom prst="rect">
            <a:avLst/>
          </a:prstGeom>
          <a:noFill/>
          <a:ln/>
        </p:spPr>
        <p:txBody>
          <a:bodyPr wrap="square" lIns="0" tIns="0" rIns="0" bIns="0" rtlCol="0" anchor="ctr"/>
          <a:lstStyle/>
          <a:p>
            <a:pPr marL="0" indent="0" algn="ctr">
              <a:buNone/>
            </a:pPr>
            <a:r>
              <a:rPr lang="en-US" sz="1300" i="1" dirty="0">
                <a:solidFill>
                  <a:srgbClr val="B8DEE2"/>
                </a:solidFill>
                <a:latin typeface="Calibri" pitchFamily="34" charset="0"/>
                <a:ea typeface="Calibri" pitchFamily="34" charset="-122"/>
                <a:cs typeface="Calibri" pitchFamily="34" charset="-120"/>
              </a:rPr>
              <a:t>Doctoral Thesis  ·  Paper 5  ·  SCF 2022</a:t>
            </a:r>
            <a:endParaRPr lang="en-US" sz="1300" dirty="0"/>
          </a:p>
        </p:txBody>
      </p:sp>
      <p:sp>
        <p:nvSpPr>
          <p:cNvPr id="6" name="Text 4"/>
          <p:cNvSpPr/>
          <p:nvPr/>
        </p:nvSpPr>
        <p:spPr>
          <a:xfrm>
            <a:off x="548640" y="5943600"/>
            <a:ext cx="11064240" cy="365760"/>
          </a:xfrm>
          <a:prstGeom prst="rect">
            <a:avLst/>
          </a:prstGeom>
          <a:noFill/>
          <a:ln/>
        </p:spPr>
        <p:txBody>
          <a:bodyPr wrap="square" lIns="0" tIns="0" rIns="0" bIns="0" rtlCol="0" anchor="ctr"/>
          <a:lstStyle/>
          <a:p>
            <a:pPr marL="0" indent="0" algn="ctr">
              <a:buNone/>
            </a:pPr>
            <a:r>
              <a:rPr lang="en-US" sz="1200" i="1" kern="0" spc="600" dirty="0">
                <a:solidFill>
                  <a:srgbClr val="C9CFD3"/>
                </a:solidFill>
                <a:latin typeface="Calibri" pitchFamily="34" charset="0"/>
                <a:ea typeface="Calibri" pitchFamily="34" charset="-122"/>
                <a:cs typeface="Calibri" pitchFamily="34" charset="-120"/>
              </a:rPr>
              <a:t>Thank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5032</TotalTime>
  <Words>1761</Words>
  <Application>Microsoft Office PowerPoint</Application>
  <PresentationFormat>Widescreen</PresentationFormat>
  <Paragraphs>332</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Great Equalizer: Human Capital vs. Origin in Immigrant Wealth</dc:title>
  <dc:subject>PptxGenJS Presentation</dc:subject>
  <dc:creator>Delroy Nichols</dc:creator>
  <cp:lastModifiedBy>Delroy Nichols</cp:lastModifiedBy>
  <cp:revision>2</cp:revision>
  <dcterms:created xsi:type="dcterms:W3CDTF">2026-05-06T19:37:30Z</dcterms:created>
  <dcterms:modified xsi:type="dcterms:W3CDTF">2026-05-11T16:13:48Z</dcterms:modified>
</cp:coreProperties>
</file>
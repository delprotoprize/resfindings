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Childlessness Rate (%)</c:v>
                </c:pt>
              </c:strCache>
            </c:strRef>
          </c:tx>
          <c:spPr>
            <a:solidFill>
              <a:srgbClr val="1E4D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A84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55A4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A84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No HS Diploma</c:v>
                  </c:pt>
                  <c:pt idx="1">
                    <c:v>HS Diploma</c:v>
                  </c:pt>
                  <c:pt idx="2">
                    <c:v>Some College</c:v>
                  </c:pt>
                  <c:pt idx="3">
                    <c:v>Bachelor's</c:v>
                  </c:pt>
                  <c:pt idx="4">
                    <c:v>Graduate Degree</c:v>
                  </c:pt>
                  <c:pt idx="5">
                    <c:v>Foreign-Born
Hispanic</c:v>
                  </c:pt>
                  <c:pt idx="6">
                    <c:v>Native-Born
Hispanic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5.5</c:v>
                </c:pt>
                <c:pt idx="1">
                  <c:v>20.1</c:v>
                </c:pt>
                <c:pt idx="2">
                  <c:v>18</c:v>
                </c:pt>
                <c:pt idx="3">
                  <c:v>24.4</c:v>
                </c:pt>
                <c:pt idx="4">
                  <c:v>27.4</c:v>
                </c:pt>
                <c:pt idx="5">
                  <c:v>12</c:v>
                </c:pt>
                <c:pt idx="6">
                  <c:v>22.6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A556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Hispanic OR vs. White</c:v>
                </c:pt>
              </c:strCache>
            </c:strRef>
          </c:tx>
          <c:spPr>
            <a:solidFill>
              <a:srgbClr val="E55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5A4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72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Model 1
(Race Only)</c:v>
                  </c:pt>
                  <c:pt idx="1">
                    <c:v>Model 2
(+ Nativity)</c:v>
                  </c:pt>
                  <c:pt idx="2">
                    <c:v>Model 3
(Full Controls)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0.648</c:v>
                </c:pt>
                <c:pt idx="1">
                  <c:v>0.854</c:v>
                </c:pt>
                <c:pt idx="2">
                  <c:v>1.137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6350" cap="flat">
              <a:solidFill>
                <a:srgbClr val="2A3A7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05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P(Childless)</c:v>
                </c:pt>
              </c:strCache>
            </c:strRef>
          </c:tx>
          <c:spPr>
            <a:solidFill>
              <a:srgbClr val="E55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5A4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3538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A84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Hispanic · Foreign-Born · Married · No College</c:v>
                  </c:pt>
                  <c:pt idx="1">
                    <c:v>NH White · Native-Born · Married · College</c:v>
                  </c:pt>
                  <c:pt idx="2">
                    <c:v>Hispanic · Native-Born · Married · College</c:v>
                  </c:pt>
                  <c:pt idx="3">
                    <c:v>Hispanic · Native-Born · Unmarried · No College</c:v>
                  </c:pt>
                  <c:pt idx="4">
                    <c:v>NH White · Native-Born · Unmarried · College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5.3</c:v>
                </c:pt>
                <c:pt idx="1">
                  <c:v>8.4</c:v>
                </c:pt>
                <c:pt idx="2">
                  <c:v>9.4</c:v>
                </c:pt>
                <c:pt idx="3">
                  <c:v>29.9</c:v>
                </c:pt>
                <c:pt idx="4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4A556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Lasso Coefficient</c:v>
                </c:pt>
              </c:strCache>
            </c:strRef>
          </c:tx>
          <c:spPr>
            <a:solidFill>
              <a:srgbClr val="1E4D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55A4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55A4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55A4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55A4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Installment Debt</c:v>
                  </c:pt>
                  <c:pt idx="1">
                    <c:v>DTI Ratio</c:v>
                  </c:pt>
                  <c:pt idx="2">
                    <c:v>Wage Income</c:v>
                  </c:pt>
                  <c:pt idx="3">
                    <c:v>Non-CC Debt</c:v>
                  </c:pt>
                  <c:pt idx="4">
                    <c:v>Stock Holdings</c:v>
                  </c:pt>
                  <c:pt idx="5">
                    <c:v>Bond Holdings</c:v>
                  </c:pt>
                  <c:pt idx="6">
                    <c:v>Liquid Savings</c:v>
                  </c:pt>
                  <c:pt idx="7">
                    <c:v>Mutual Funds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0.744</c:v>
                </c:pt>
                <c:pt idx="1">
                  <c:v>0.525</c:v>
                </c:pt>
                <c:pt idx="2">
                  <c:v>0.233</c:v>
                </c:pt>
                <c:pt idx="3">
                  <c:v>0.222</c:v>
                </c:pt>
                <c:pt idx="4">
                  <c:v>-0.167</c:v>
                </c:pt>
                <c:pt idx="5">
                  <c:v>-0.131</c:v>
                </c:pt>
                <c:pt idx="6">
                  <c:v>-0.301</c:v>
                </c:pt>
                <c:pt idx="7">
                  <c:v>-0.528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A556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25880"/>
            <a:ext cx="82296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Nativity Gradient in American Fertility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Immigration, Assimilation, and the Unequal Distribution of Childlessness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82296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Delroy Nichols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 Defense  ·  Department of Sociology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898AA"/>
                </a:solidFill>
              </a:rPr>
              <a:t>Committee: </a:t>
            </a:r>
            <a:pPr algn="l" indent="0" marL="0">
              <a:buNone/>
            </a:pPr>
            <a:r>
              <a:rPr lang="en-US" sz="1100" dirty="0">
                <a:solidFill>
                  <a:srgbClr val="8898AA"/>
                </a:solidFill>
              </a:rPr>
              <a:t>[Chair Name] (Chair)  ·  [Member 2]  ·  [Member 3]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FD4"/>
                </a:solidFill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</a:rPr>
              <a:t>THE PUZZLE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Childlessness in America is not one story — it is many.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8412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8AA"/>
                </a:solidFill>
              </a:rPr>
              <a:t>The nativity gap within the Hispanic population is as large 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898AA"/>
                </a:solidFill>
              </a:rPr>
              <a:t>the gap across educational groups.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</a:rPr>
              <a:t>THE ARGUMENT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structural forces shape who has children in America.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749040" cy="3200400"/>
          </a:xfrm>
          <a:prstGeom prst="rect">
            <a:avLst/>
          </a:prstGeom>
          <a:solidFill>
            <a:srgbClr val="162054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749040" cy="7315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Structure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What a household owns, owes, and can borrow shapes fertility decisions.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 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Retirement assets → Opportunity cost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Credit denial → Material barrier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First child → Largest debt shock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280160"/>
            <a:ext cx="3749040" cy="3200400"/>
          </a:xfrm>
          <a:prstGeom prst="rect">
            <a:avLst/>
          </a:prstGeom>
          <a:solidFill>
            <a:srgbClr val="162054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280160"/>
            <a:ext cx="3749040" cy="73152"/>
          </a:xfrm>
          <a:prstGeom prst="rect">
            <a:avLst/>
          </a:prstGeom>
          <a:solidFill>
            <a:srgbClr val="E55A4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17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5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Immigrant Assimilation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74920" y="19659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Racial fertility gaps are partly compositional artifacts of immigration.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 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59% of the Hispanic-White gap = nativity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Native-born Hispanic ≈ Native-born White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Effect mediated through marriage &amp; religion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2651760"/>
            <a:ext cx="640080" cy="54864"/>
          </a:xfrm>
          <a:prstGeom prst="rect">
            <a:avLst/>
          </a:prstGeom>
          <a:solidFill>
            <a:srgbClr val="8898AA"/>
          </a:solidFill>
          <a:ln/>
        </p:spPr>
      </p:sp>
      <p:sp>
        <p:nvSpPr>
          <p:cNvPr id="14" name="Text 12"/>
          <p:cNvSpPr/>
          <p:nvPr/>
        </p:nvSpPr>
        <p:spPr>
          <a:xfrm>
            <a:off x="4224528" y="242316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898AA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114800" y="3017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98AA"/>
                </a:solidFill>
              </a:rPr>
              <a:t>Unequal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8898AA"/>
                </a:solidFill>
              </a:rPr>
              <a:t>Childlessness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8AA"/>
                </a:solidFill>
              </a:rPr>
              <a:t>Methodological payoff: No single dataset can capture both forces. This dissertation triangulates SCF and NSFG.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FD4"/>
                </a:solidFill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</a:rPr>
              <a:t>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Papers. One Argument.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53312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A84B"/>
                </a:solidFill>
              </a:rPr>
              <a:t>01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508760" y="1389888"/>
            <a:ext cx="36576" cy="69494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8" name="Text 6"/>
          <p:cNvSpPr/>
          <p:nvPr/>
        </p:nvSpPr>
        <p:spPr>
          <a:xfrm>
            <a:off x="1664208" y="135331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Cost of Parenthood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64208" y="175564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SCF Analysis — Who enters credit card debt and why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solidFill>
            <a:srgbClr val="235389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50592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A84B"/>
                </a:solidFill>
              </a:rPr>
              <a:t>02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1508760" y="2487168"/>
            <a:ext cx="36576" cy="69494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3" name="Text 11"/>
          <p:cNvSpPr/>
          <p:nvPr/>
        </p:nvSpPr>
        <p:spPr>
          <a:xfrm>
            <a:off x="1664208" y="245059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Balance Sheet of Childlessness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64208" y="28529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SCF Analysis — Financial predictors of not having children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E55A4E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547872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A84B"/>
                </a:solidFill>
              </a:rPr>
              <a:t>03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1508760" y="3584448"/>
            <a:ext cx="36576" cy="69494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8" name="Text 16"/>
          <p:cNvSpPr/>
          <p:nvPr/>
        </p:nvSpPr>
        <p:spPr>
          <a:xfrm>
            <a:off x="1664208" y="354787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Nativity Hypothesis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64208" y="395020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NSFG Analysis — Does immigration explain the racial fertility gap?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→  Synthesis &amp; Conclusion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</a:rPr>
              <a:t>PAPER 1 · SCF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arrival of the first child is the strongest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 predictor of credit card debt.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2651760" cy="17373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A84B"/>
                </a:solidFill>
              </a:rPr>
              <a:t>1.54×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More likely to carry debt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First child vs. childless household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2651760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645920"/>
            <a:ext cx="2651760" cy="17373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A84B"/>
                </a:solidFill>
              </a:rPr>
              <a:t>0×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24612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Additional children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Effect does not compound beyond 1st child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645920"/>
            <a:ext cx="2651760" cy="54864"/>
          </a:xfrm>
          <a:prstGeom prst="rect">
            <a:avLst/>
          </a:prstGeom>
          <a:solidFill>
            <a:srgbClr val="8898A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645920"/>
            <a:ext cx="2651760" cy="17373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A84B"/>
                </a:solidFill>
              </a:rPr>
              <a:t>↓ Wages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12648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Reduce debt among debtors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Higher earners pay down faster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645920"/>
            <a:ext cx="26517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520440"/>
            <a:ext cx="8412480" cy="36576"/>
          </a:xfrm>
          <a:prstGeom prst="rect">
            <a:avLst/>
          </a:prstGeom>
          <a:solidFill>
            <a:srgbClr val="2A3A7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611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</a:rPr>
              <a:t>Method: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Two-part model (logistic for prevalence + OLS on log-balance for debtors) · Lasso variable selection across 5 implicates · Survey-weighted SCF 2022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8A84B"/>
                </a:solidFill>
              </a:rPr>
              <a:t>Implication: Credit card debt is a structural tool for managing the financial shock of modern parenthood — not a sign of irresponsibility.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FD4"/>
                </a:solidFill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</a:rPr>
              <a:t>PAPER 2 · SCF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Childlessness is predicted by balance sheet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composition — not aggregate income.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931920" cy="25603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3931920" cy="7315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276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Opportunity Cost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Retirement Assets → Childlessness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703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OR = 1.05 per unit · p &lt; 0.05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Households investing in retirement are trading future financial security for present-day family formation.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3931920" cy="25603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508760"/>
            <a:ext cx="3931920" cy="73152"/>
          </a:xfrm>
          <a:prstGeom prst="rect">
            <a:avLst/>
          </a:prstGeom>
          <a:solidFill>
            <a:srgbClr val="E55A4E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6276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 Constraint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Credit Denial → Childlessness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331720"/>
            <a:ext cx="3703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OR = 2.01 · p &lt; 0.01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Financially excluded households face material barriers to the costs of parenthood — housing, childcare, medical expenses.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297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Crucial Pivot: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When financial and demographic controls are included, the predictive power of race disappears. What unobserved variable is race proxying for?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</a:rPr>
              <a:t>PAPER 3 · NSFG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Nativity explains 59% of the Hispanic-White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childlessness gap.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50876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8A84B"/>
                </a:solidFill>
              </a:rPr>
              <a:t>← 59% attenuation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8AA"/>
                </a:solidFill>
              </a:rPr>
              <a:t>OR = 1.0 (no gap)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0" y="1508760"/>
            <a:ext cx="3246120" cy="3200400"/>
          </a:xfrm>
          <a:prstGeom prst="rect">
            <a:avLst/>
          </a:prstGeom>
          <a:solidFill>
            <a:srgbClr val="162054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77840" y="16459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84B"/>
                </a:solidFill>
              </a:rPr>
              <a:t>22.6%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577840" y="21031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Native-Born Hispanic childlessness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60720" y="2560320"/>
            <a:ext cx="2697480" cy="18288"/>
          </a:xfrm>
          <a:prstGeom prst="rect">
            <a:avLst/>
          </a:prstGeom>
          <a:solidFill>
            <a:srgbClr val="2A3A7F"/>
          </a:solidFill>
          <a:ln/>
        </p:spPr>
      </p:sp>
      <p:sp>
        <p:nvSpPr>
          <p:cNvPr id="12" name="Text 9"/>
          <p:cNvSpPr/>
          <p:nvPr/>
        </p:nvSpPr>
        <p:spPr>
          <a:xfrm>
            <a:off x="5577840" y="2651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84B"/>
                </a:solidFill>
              </a:rPr>
              <a:t>23.5%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57784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NH White childlessness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60720" y="3566160"/>
            <a:ext cx="2697480" cy="18288"/>
          </a:xfrm>
          <a:prstGeom prst="rect">
            <a:avLst/>
          </a:prstGeom>
          <a:solidFill>
            <a:srgbClr val="2A3A7F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3657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5A4E"/>
                </a:solidFill>
              </a:rPr>
              <a:t>12.0%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577840" y="41148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Foreign-Born Hispanic childlessness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A84B"/>
                </a:solidFill>
              </a:rPr>
              <a:t>Native-born Hispanic women ≈ Native-born White women.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8A84B"/>
                </a:solidFill>
              </a:rPr>
              <a:t>The entire gap is in the foreign-born segment.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FD4"/>
                </a:solidFill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</a:rPr>
              <a:t>PAPER 3 · MECHANISM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nativity effect operates through marriage and religion —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 unmeasured cultural residual.</a:t>
            </a:r>
            <a:endParaRPr lang="en-US" sz="2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173736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1463040"/>
                <a:gridCol w="1554480"/>
                <a:gridCol w="1280160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Foreign-Born 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 (Race + Nativity)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Total 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[0.329, 0.941]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0.029 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M3a (No marriage)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 + Religion + Education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[0.299, 0.966]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 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 (Full Model)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controls — Direct 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[0.376, 1.340]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EEF2FB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3493008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E2761"/>
                </a:solidFill>
              </a:rPr>
              <a:t>Total Effect (M2):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OR = 0.556 — the foreign-born fertility advantage is large and significant.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E2761"/>
                </a:solidFill>
              </a:rPr>
              <a:t>Direct Effect (M3):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OR = 0.710 — attenuates when marriage and religion are added.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E55A4E"/>
                </a:solidFill>
              </a:rPr>
              <a:t>Conclusion: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The indirect effect (0.556 → 0.710) is mediated through marriage and religious affiliation — the institutional pathways of assimilation.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</a:rPr>
              <a:t>SYNTHESIS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and immigration are intersecting,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complementary structural forces.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657600" cy="2743200"/>
          </a:xfrm>
          <a:prstGeom prst="rect">
            <a:avLst/>
          </a:prstGeom>
          <a:solidFill>
            <a:srgbClr val="162054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3657600" cy="64008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276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84B"/>
                </a:solidFill>
              </a:rPr>
              <a:t>SCF Story: Financial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Explains material conditions &amp; constraints within groups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 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</a:rPr>
              <a:t>Parenthood → debt (Paper 1)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</a:rPr>
              <a:t>Retirement assets → childlessness (Paper 2)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</a:rPr>
              <a:t>Credit denial links both outcomes (Papers 1 &amp; 2)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20640" y="1508760"/>
            <a:ext cx="3657600" cy="2743200"/>
          </a:xfrm>
          <a:prstGeom prst="rect">
            <a:avLst/>
          </a:prstGeom>
          <a:solidFill>
            <a:srgbClr val="162054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1508760"/>
            <a:ext cx="3657600" cy="64008"/>
          </a:xfrm>
          <a:prstGeom prst="rect">
            <a:avLst/>
          </a:prstGeom>
          <a:solidFill>
            <a:srgbClr val="E55A4E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16276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5A4E"/>
                </a:solidFill>
              </a:rPr>
              <a:t>NSFG Story: Assimilation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210312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Explains large-scale group differentials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 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</a:rPr>
              <a:t>59% of Hispanic-White gap = nativity (Paper 3)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</a:rPr>
              <a:t>Effect mediated through marriage &amp; religion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</a:rPr>
              <a:t>Black-White gap unaffected by nativity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69080" y="25603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898AA"/>
                </a:solidFill>
              </a:rPr>
              <a:t>↔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069080" y="32461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8AA"/>
                </a:solidFill>
              </a:rPr>
              <a:t>Unequal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898AA"/>
                </a:solidFill>
              </a:rPr>
              <a:t>Childlessness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434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8AA"/>
                </a:solidFill>
              </a:rPr>
              <a:t>Neither dataset alone reveals the full picture. Multi-dataset triangulation is the methodological contribution.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FD4"/>
                </a:solidFill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</a:rPr>
              <a:t>CONTRIBUTIONS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Contributions and 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868680"/>
          </a:xfrm>
          <a:prstGeom prst="rect">
            <a:avLst/>
          </a:prstGeom>
          <a:solidFill>
            <a:srgbClr val="EEF2F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91440" cy="86868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🔬  Theoretical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130759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Bridges assimilation theory and sociology of family finance. Race in fertility models is partly a nativity proxy.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868680"/>
          </a:xfrm>
          <a:prstGeom prst="rect">
            <a:avLst/>
          </a:prstGeom>
          <a:solidFill>
            <a:srgbClr val="EEF2FB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286000"/>
            <a:ext cx="914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⚙️  Methodological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35915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Demonstrates the power of multi-dataset triangulation. Offers a measurement critique of aggregate racial statistics.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8412480" cy="868680"/>
          </a:xfrm>
          <a:prstGeom prst="rect">
            <a:avLst/>
          </a:prstGeom>
          <a:solidFill>
            <a:srgbClr val="EEF2FB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337560"/>
            <a:ext cx="91440" cy="868680"/>
          </a:xfrm>
          <a:prstGeom prst="rect">
            <a:avLst/>
          </a:prstGeom>
          <a:solidFill>
            <a:srgbClr val="E55A4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383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📋  Policy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341071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Wage growth &gt; credit expansion for debt reduction. Financial preparation must target the first-child transition.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0740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Childlessness in America is not a monolith. It is a deeply stratified outcome shaped by who we are, where we come from, and the material realities of the economy we inhabit.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0"/>
            <a:ext cx="841248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8A84B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AA"/>
                </a:solidFill>
              </a:rPr>
              <a:t>[Your Name]  ·  [your.email@university.edu]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FD4"/>
                </a:solidFill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84B"/>
                </a:solidFill>
              </a:rPr>
              <a:t>APPENDIX A  ·  Paper 1 · Full Model Key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Who Carries Credit Card Debt? (Logistic) · How Much? (OLS on log-balance)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6576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1463040"/>
                <a:gridCol w="146304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1 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1 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2 Est.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2 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Children (any)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 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Children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 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Denied Credit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 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Married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0.089 .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College Degree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 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Wage 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 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 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 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84B"/>
                </a:solidFill>
              </a:rPr>
              <a:t>APPENDIX B  ·  Paper 2 · Balance Sheet of Childlessness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Logistic Regression: P(Co-Resident Childless, Ages 31–44) · SCF 2022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38328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2011680"/>
                <a:gridCol w="1371600"/>
              </a:tblGrid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Retirement Assets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[1.01, 1.10]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 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Denied 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[1.24, 3.24]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 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Married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[0.05, 0.17]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 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College Degree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[1.35, 3.17]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 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Wage Income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[0.90, 0.99]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 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[0.89, 1.40]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Worth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[0.98, 1.04]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Race coefficients (Black, Hispanic, Other) all non-significant after financial and demographic controls. This null result motivates Paper 3.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84B"/>
                </a:solidFill>
              </a:rPr>
              <a:t>APPENDIX C  ·  Paper 3 · Full NSFG Model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Sequential Logistic Regression · Women 40–49 · NSFG 2022–2023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554480"/>
              </a:tblGrid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Hispanic (ref: White)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 Black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 Other/Multiple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Foreign-Born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 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Married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0.186 ***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Protestant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0.425 ***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Poverty 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1.004 ***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(40–49 window)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 ***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6908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Hispanic coefficient: 58.6% attenuation M1→M2. Black coefficient: 1.7% attenuation. H1 confirmed; H2 confirmed.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84B"/>
                </a:solidFill>
              </a:rPr>
              <a:t>APPENDIX D  ·  Predicted Probabilities of Completed Childlessness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From Model 3 · Holding constant: employed, Protestant, age 45, median poverty level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8412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84B"/>
                </a:solidFill>
              </a:rPr>
              <a:t>APPENDIX E  ·  Lasso Variable Selection · Paper 1 Technical Details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Method: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Lasso (L1) via glmnet · 10-fold cross-validation · lambda.1se · Run on each of 5 implicates separately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8412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A"/>
                </a:solidFill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Nativity Gradient in American Fertility</dc:title>
  <dc:subject>PptxGenJS Presentation</dc:subject>
  <dc:creator>PptxGenJS</dc:creator>
  <cp:lastModifiedBy>PptxGenJS</cp:lastModifiedBy>
  <cp:revision>1</cp:revision>
  <dcterms:created xsi:type="dcterms:W3CDTF">2026-04-18T16:13:01Z</dcterms:created>
  <dcterms:modified xsi:type="dcterms:W3CDTF">2026-04-18T16:13:01Z</dcterms:modified>
</cp:coreProperties>
</file>